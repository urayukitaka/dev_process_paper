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63" r:id="rId3"/>
    <p:sldId id="257" r:id="rId4"/>
    <p:sldId id="262" r:id="rId5"/>
    <p:sldId id="258" r:id="rId6"/>
    <p:sldId id="259" r:id="rId7"/>
    <p:sldId id="260" r:id="rId8"/>
    <p:sldId id="261" r:id="rId9"/>
    <p:sldId id="264" r:id="rId10"/>
    <p:sldId id="266" r:id="rId11"/>
    <p:sldId id="269" r:id="rId12"/>
    <p:sldId id="267" r:id="rId13"/>
    <p:sldId id="268" r:id="rId14"/>
    <p:sldId id="265" r:id="rId15"/>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F0066"/>
    <a:srgbClr val="FF33CC"/>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7" d="100"/>
          <a:sy n="107" d="100"/>
        </p:scale>
        <p:origin x="714"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7" name="正方形/長方形 6">
            <a:extLst>
              <a:ext uri="{FF2B5EF4-FFF2-40B4-BE49-F238E27FC236}">
                <a16:creationId xmlns:a16="http://schemas.microsoft.com/office/drawing/2014/main" id="{FEBCC527-D46A-6B9F-560D-AE4979DF7724}"/>
              </a:ext>
            </a:extLst>
          </p:cNvPr>
          <p:cNvSpPr/>
          <p:nvPr userDrawn="1"/>
        </p:nvSpPr>
        <p:spPr>
          <a:xfrm>
            <a:off x="0" y="6356350"/>
            <a:ext cx="12188825" cy="501650"/>
          </a:xfrm>
          <a:prstGeom prst="rect">
            <a:avLst/>
          </a:prstGeom>
          <a:gradFill flip="none" rotWithShape="1">
            <a:gsLst>
              <a:gs pos="0">
                <a:schemeClr val="tx2"/>
              </a:gs>
              <a:gs pos="100000">
                <a:schemeClr val="accent1">
                  <a:tint val="50000"/>
                  <a:shade val="100000"/>
                  <a:satMod val="350000"/>
                </a:schemeClr>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cxnSp>
        <p:nvCxnSpPr>
          <p:cNvPr id="9" name="直線コネクタ 8">
            <a:extLst>
              <a:ext uri="{FF2B5EF4-FFF2-40B4-BE49-F238E27FC236}">
                <a16:creationId xmlns:a16="http://schemas.microsoft.com/office/drawing/2014/main" id="{21F172F4-B45F-1B93-4CB3-6217A4753E3C}"/>
              </a:ext>
            </a:extLst>
          </p:cNvPr>
          <p:cNvCxnSpPr>
            <a:cxnSpLocks/>
          </p:cNvCxnSpPr>
          <p:nvPr userDrawn="1"/>
        </p:nvCxnSpPr>
        <p:spPr>
          <a:xfrm>
            <a:off x="0" y="830510"/>
            <a:ext cx="12188825"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11/15/2025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11/15/2025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11/15/2025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hai.stanford.edu/ai-index/2025-ai-index-report/economy?utm_source=chatgpt.com" TargetMode="External"/><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hyperlink" Target="https://iot-analytics.com/industrial-ai-market-insights-how-ai-is-transforming-manufacturing/?utm_source=chatgpt.com"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hyperlink" Target="https://www.tomshardware.com/tech-industry/samsung-plans-to-eliminate-humans-from-its-chip-fabs-by-2030-push-for-full-automation-continues-at-full-steam?utm_source=chatgpt.com" TargetMode="External"/><Relationship Id="rId3" Type="http://schemas.openxmlformats.org/officeDocument/2006/relationships/hyperlink" Target="https://www.privacyshield.gov/ps/article?id=Korea-Manufacturing-Technology-Smart-Factory&amp;utm_source=chatgpt.com" TargetMode="External"/><Relationship Id="rId7" Type="http://schemas.openxmlformats.org/officeDocument/2006/relationships/hyperlink" Target="https://ifr.org/ifr-press-releases/news/global-robot-density-in-factories-doubled-in-seven-years?utm_source=chatgpt.com" TargetMode="External"/><Relationship Id="rId12" Type="http://schemas.openxmlformats.org/officeDocument/2006/relationships/hyperlink" Target="https://investor.nvidia.com/news/press-release-details/2025/NVIDIA-and-Samsung-Build-AI-Factory-to-Transform-Global-Intelligent-Manufacturing/default.aspx?utm_source=chatgpt.com" TargetMode="External"/><Relationship Id="rId2" Type="http://schemas.openxmlformats.org/officeDocument/2006/relationships/hyperlink" Target="https://english.cw.com.tw/article/article.action?id=2272&amp;utm_source=chatgpt.com" TargetMode="External"/><Relationship Id="rId1" Type="http://schemas.openxmlformats.org/officeDocument/2006/relationships/slideLayout" Target="../slideLayouts/slideLayout2.xml"/><Relationship Id="rId6" Type="http://schemas.openxmlformats.org/officeDocument/2006/relationships/hyperlink" Target="https://www.intel.com/content/dam/www/central-libraries/us/en/documents/2023-07/intel-sony-advance-digital-twin-technology-for-manufacturing-case-study.pdf?utm_source=chatgpt.com" TargetMode="External"/><Relationship Id="rId11" Type="http://schemas.openxmlformats.org/officeDocument/2006/relationships/hyperlink" Target="https://itbusinesstoday.com/industrial-tech/semiconductorandelectronics/icrystal-secures-%C2%A5450m-to-advance-manufacturing-solutions/?utm_source=chatgpt.com" TargetMode="External"/><Relationship Id="rId5" Type="http://schemas.openxmlformats.org/officeDocument/2006/relationships/hyperlink" Target="https://www.sony-semicon.com/en/feature/2021052401.html?utm_source=chatgpt.com" TargetMode="External"/><Relationship Id="rId10" Type="http://schemas.openxmlformats.org/officeDocument/2006/relationships/hyperlink" Target="https://www.aitrios.sony-semicon.com/manufacturing?utm_source=chatgpt.com" TargetMode="External"/><Relationship Id="rId4" Type="http://schemas.openxmlformats.org/officeDocument/2006/relationships/hyperlink" Target="https://www.trade.gov/country-commercial-guides/south-korea-manufacturing-technology-smart-factory?utm_source=chatgpt.com" TargetMode="External"/><Relationship Id="rId9" Type="http://schemas.openxmlformats.org/officeDocument/2006/relationships/hyperlink" Target="https://www.pwc.com/gx/en/industries/technology/pwc-semiconductor-and-beyond-2026-full-report.pdf?utm_source=chatgpt.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18247" y="2959777"/>
            <a:ext cx="8552329" cy="938446"/>
          </a:xfrm>
        </p:spPr>
        <p:txBody>
          <a:bodyPr>
            <a:noAutofit/>
          </a:bodyPr>
          <a:lstStyle/>
          <a:p>
            <a:r>
              <a:rPr sz="3200" dirty="0" err="1"/>
              <a:t>AIエージェント導入</a:t>
            </a:r>
            <a:r>
              <a:rPr lang="ja-JP" altLang="en-US" sz="3200" dirty="0"/>
              <a:t>を</a:t>
            </a:r>
            <a:r>
              <a:rPr sz="3200" dirty="0" err="1"/>
              <a:t>失敗する企業</a:t>
            </a:r>
            <a:r>
              <a:rPr lang="ja-JP" altLang="en-US" sz="3200" dirty="0"/>
              <a:t>に必要な</a:t>
            </a:r>
            <a:br>
              <a:rPr lang="en-US" altLang="ja-JP" sz="3200" dirty="0"/>
            </a:br>
            <a:r>
              <a:rPr sz="3200" b="1" dirty="0" err="1">
                <a:solidFill>
                  <a:srgbClr val="FF0066"/>
                </a:solidFill>
              </a:rPr>
              <a:t>主な対策パターン</a:t>
            </a:r>
            <a:endParaRPr sz="3200" b="1" dirty="0">
              <a:solidFill>
                <a:srgbClr val="FF0066"/>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6C62A0-9119-6678-9142-27DE06E8B8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8E3D10-1993-B337-2CA4-C327DDAF7C0D}"/>
              </a:ext>
            </a:extLst>
          </p:cNvPr>
          <p:cNvSpPr>
            <a:spLocks noGrp="1"/>
          </p:cNvSpPr>
          <p:nvPr>
            <p:ph type="title"/>
          </p:nvPr>
        </p:nvSpPr>
        <p:spPr>
          <a:xfrm>
            <a:off x="457201" y="274638"/>
            <a:ext cx="11474824" cy="541150"/>
          </a:xfrm>
        </p:spPr>
        <p:txBody>
          <a:bodyPr>
            <a:noAutofit/>
          </a:bodyPr>
          <a:lstStyle/>
          <a:p>
            <a:r>
              <a:rPr lang="en-US" altLang="ja-JP" sz="2400" dirty="0"/>
              <a:t>【Summary】 </a:t>
            </a:r>
            <a:r>
              <a:rPr sz="2400" dirty="0" err="1"/>
              <a:t>AIエージェント導入</a:t>
            </a:r>
            <a:r>
              <a:rPr lang="ja-JP" altLang="en-US" sz="2400" dirty="0"/>
              <a:t>を</a:t>
            </a:r>
            <a:r>
              <a:rPr sz="2400" dirty="0" err="1"/>
              <a:t>失敗する企業</a:t>
            </a:r>
            <a:r>
              <a:rPr lang="ja-JP" altLang="en-US" sz="2400" dirty="0"/>
              <a:t>に必要な</a:t>
            </a:r>
            <a:r>
              <a:rPr sz="2400" b="1" dirty="0" err="1">
                <a:solidFill>
                  <a:srgbClr val="FF0066"/>
                </a:solidFill>
              </a:rPr>
              <a:t>主な対策パターン</a:t>
            </a:r>
            <a:endParaRPr sz="2400" b="1" dirty="0">
              <a:solidFill>
                <a:srgbClr val="FF0066"/>
              </a:solidFill>
            </a:endParaRPr>
          </a:p>
        </p:txBody>
      </p:sp>
      <p:sp>
        <p:nvSpPr>
          <p:cNvPr id="3" name="Content Placeholder 2">
            <a:extLst>
              <a:ext uri="{FF2B5EF4-FFF2-40B4-BE49-F238E27FC236}">
                <a16:creationId xmlns:a16="http://schemas.microsoft.com/office/drawing/2014/main" id="{62A4A314-292E-2D2B-F627-5DBAACFFD310}"/>
              </a:ext>
            </a:extLst>
          </p:cNvPr>
          <p:cNvSpPr>
            <a:spLocks noGrp="1"/>
          </p:cNvSpPr>
          <p:nvPr>
            <p:ph idx="1"/>
          </p:nvPr>
        </p:nvSpPr>
        <p:spPr>
          <a:xfrm>
            <a:off x="515472" y="1094300"/>
            <a:ext cx="11358281" cy="5073417"/>
          </a:xfrm>
        </p:spPr>
        <p:txBody>
          <a:bodyPr>
            <a:noAutofit/>
          </a:bodyPr>
          <a:lstStyle/>
          <a:p>
            <a:pPr marL="0" indent="0">
              <a:buNone/>
              <a:defRPr sz="1600">
                <a:latin typeface="Meiryo"/>
              </a:defRPr>
            </a:pPr>
            <a:r>
              <a:rPr sz="1600" b="1" dirty="0"/>
              <a:t>1. </a:t>
            </a:r>
            <a:r>
              <a:rPr sz="1600" b="1" dirty="0" err="1"/>
              <a:t>ワークフロ</a:t>
            </a:r>
            <a:r>
              <a:rPr sz="1600" b="1" dirty="0"/>
              <a:t>ー／</a:t>
            </a:r>
            <a:r>
              <a:rPr sz="1600" b="1" dirty="0" err="1"/>
              <a:t>業務プロセスの再設計</a:t>
            </a:r>
            <a:endParaRPr lang="en-US" sz="1600" b="1" dirty="0"/>
          </a:p>
          <a:p>
            <a:pPr marL="0" indent="0">
              <a:buNone/>
              <a:defRPr sz="1600">
                <a:latin typeface="Meiryo"/>
              </a:defRPr>
            </a:pPr>
            <a:r>
              <a:rPr lang="ja-JP" altLang="en-US" sz="1600" dirty="0"/>
              <a:t>　</a:t>
            </a:r>
            <a:r>
              <a:rPr sz="1600" dirty="0"/>
              <a:t>AIを既存業務に後付けすると実務に結びつかない。</a:t>
            </a:r>
            <a:r>
              <a:rPr sz="1600" b="1" dirty="0">
                <a:solidFill>
                  <a:srgbClr val="FF0066"/>
                </a:solidFill>
              </a:rPr>
              <a:t>成功企業は業務プロセス自体をAI中心に再構築し</a:t>
            </a:r>
            <a:r>
              <a:rPr sz="1600" dirty="0"/>
              <a:t>、判断プロセス、例外処理、人とAIの役割分担を再定義することで成果につなげている。</a:t>
            </a:r>
            <a:r>
              <a:rPr lang="en-US" altLang="ja-JP" sz="1600" dirty="0">
                <a:latin typeface="メイリオ" panose="020B0604030504040204" pitchFamily="50" charset="-128"/>
                <a:ea typeface="メイリオ" panose="020B0604030504040204" pitchFamily="50" charset="-128"/>
              </a:rPr>
              <a:t>(</a:t>
            </a:r>
            <a:r>
              <a:rPr lang="en-US" altLang="ja-JP" sz="1600" dirty="0" err="1">
                <a:latin typeface="メイリオ" panose="020B0604030504040204" pitchFamily="50" charset="-128"/>
                <a:ea typeface="メイリオ" panose="020B0604030504040204" pitchFamily="50" charset="-128"/>
              </a:rPr>
              <a:t>Mckinsey</a:t>
            </a:r>
            <a:r>
              <a:rPr lang="en-US" altLang="ja-JP" sz="1600" dirty="0">
                <a:latin typeface="メイリオ" panose="020B0604030504040204" pitchFamily="50" charset="-128"/>
                <a:ea typeface="メイリオ" panose="020B0604030504040204" pitchFamily="50" charset="-128"/>
              </a:rPr>
              <a:t> &amp; Co.)</a:t>
            </a:r>
            <a:r>
              <a:rPr lang="ja-JP" altLang="en-US" sz="1600" dirty="0">
                <a:solidFill>
                  <a:srgbClr val="FF0066"/>
                </a:solidFill>
                <a:latin typeface="メイリオ" panose="020B0604030504040204" pitchFamily="50" charset="-128"/>
                <a:ea typeface="メイリオ" panose="020B0604030504040204" pitchFamily="50" charset="-128"/>
              </a:rPr>
              <a:t>　</a:t>
            </a:r>
            <a:br>
              <a:rPr lang="en-US" altLang="ja-JP" sz="1600" dirty="0">
                <a:solidFill>
                  <a:srgbClr val="FF0066"/>
                </a:solidFill>
                <a:latin typeface="メイリオ" panose="020B0604030504040204" pitchFamily="50" charset="-128"/>
                <a:ea typeface="メイリオ" panose="020B0604030504040204" pitchFamily="50" charset="-128"/>
              </a:rPr>
            </a:br>
            <a:br>
              <a:rPr sz="1600" dirty="0"/>
            </a:br>
            <a:r>
              <a:rPr sz="1600" b="1" dirty="0"/>
              <a:t>2. </a:t>
            </a:r>
            <a:r>
              <a:rPr sz="1600" b="1" dirty="0" err="1"/>
              <a:t>経営／現場の強いリーダーシップとガバナンス</a:t>
            </a:r>
            <a:endParaRPr lang="en-US" sz="1600" b="1" dirty="0"/>
          </a:p>
          <a:p>
            <a:pPr marL="0" indent="0">
              <a:buNone/>
              <a:defRPr sz="1600">
                <a:latin typeface="Meiryo"/>
              </a:defRPr>
            </a:pPr>
            <a:r>
              <a:rPr lang="ja-JP" altLang="en-US" sz="1600" dirty="0"/>
              <a:t>　</a:t>
            </a:r>
            <a:r>
              <a:rPr sz="1600" dirty="0"/>
              <a:t>失敗企業ではAI導入がIT部門任せ。成功企業は事業部がAI導入を所有し、経営層が支援し、</a:t>
            </a:r>
            <a:r>
              <a:rPr sz="1600" b="1" dirty="0">
                <a:solidFill>
                  <a:srgbClr val="FF0066"/>
                </a:solidFill>
              </a:rPr>
              <a:t>現場が主体的に運用できる体制を構築</a:t>
            </a:r>
            <a:r>
              <a:rPr sz="1600" dirty="0"/>
              <a:t>。ガイドラインやリスク管理も整備され、継続性が高まる。</a:t>
            </a:r>
            <a:r>
              <a:rPr lang="en-US" altLang="ja-JP" sz="1600" dirty="0">
                <a:latin typeface="メイリオ" panose="020B0604030504040204" pitchFamily="50" charset="-128"/>
                <a:ea typeface="メイリオ" panose="020B0604030504040204" pitchFamily="50" charset="-128"/>
              </a:rPr>
              <a:t>(</a:t>
            </a:r>
            <a:r>
              <a:rPr lang="ja-JP" altLang="en-US" sz="1600" dirty="0">
                <a:latin typeface="メイリオ" panose="020B0604030504040204" pitchFamily="50" charset="-128"/>
                <a:ea typeface="メイリオ" panose="020B0604030504040204" pitchFamily="50" charset="-128"/>
              </a:rPr>
              <a:t>ハーバードビジネスレビュー</a:t>
            </a:r>
            <a:r>
              <a:rPr lang="en-US" altLang="ja-JP" sz="1600" dirty="0">
                <a:latin typeface="メイリオ" panose="020B0604030504040204" pitchFamily="50" charset="-128"/>
                <a:ea typeface="メイリオ" panose="020B0604030504040204" pitchFamily="50" charset="-128"/>
              </a:rPr>
              <a:t>)</a:t>
            </a:r>
            <a:br>
              <a:rPr sz="1600" dirty="0"/>
            </a:br>
            <a:br>
              <a:rPr sz="1600" dirty="0"/>
            </a:br>
            <a:r>
              <a:rPr sz="1600" b="1" dirty="0"/>
              <a:t>3. </a:t>
            </a:r>
            <a:r>
              <a:rPr sz="1600" b="1" dirty="0" err="1"/>
              <a:t>スモールスケールからのスケーラブル実装</a:t>
            </a:r>
            <a:endParaRPr lang="en-US" sz="1600" b="1" dirty="0"/>
          </a:p>
          <a:p>
            <a:pPr marL="0" indent="0">
              <a:buNone/>
              <a:defRPr sz="1600">
                <a:latin typeface="Meiryo"/>
              </a:defRPr>
            </a:pPr>
            <a:r>
              <a:rPr lang="ja-JP" altLang="en-US" sz="1600" dirty="0"/>
              <a:t>　</a:t>
            </a:r>
            <a:r>
              <a:rPr sz="1600" dirty="0"/>
              <a:t>PoC止まりの理由は大規模展開を急ぎ現場が適応しないため。成功企業は1業務・1KPIで小さく始め、</a:t>
            </a:r>
            <a:r>
              <a:rPr sz="1600" b="1" dirty="0">
                <a:solidFill>
                  <a:srgbClr val="FF0066"/>
                </a:solidFill>
              </a:rPr>
              <a:t>成果確認後に水平展開し、自然に組織全体へスケール</a:t>
            </a:r>
            <a:r>
              <a:rPr sz="1600" dirty="0"/>
              <a:t>させている。</a:t>
            </a:r>
            <a:r>
              <a:rPr lang="en-US" altLang="ja-JP" sz="1600" dirty="0"/>
              <a:t> (MIT)</a:t>
            </a:r>
            <a:br>
              <a:rPr sz="1600" dirty="0"/>
            </a:br>
            <a:br>
              <a:rPr sz="1600" dirty="0"/>
            </a:br>
            <a:r>
              <a:rPr sz="1600" b="1" dirty="0"/>
              <a:t>4. </a:t>
            </a:r>
            <a:r>
              <a:rPr sz="1600" b="1" dirty="0" err="1"/>
              <a:t>データ・モデル運用と改善ループ構築</a:t>
            </a:r>
            <a:endParaRPr lang="en-US" sz="1600" b="1" dirty="0"/>
          </a:p>
          <a:p>
            <a:pPr marL="0" indent="0">
              <a:buNone/>
              <a:defRPr sz="1600">
                <a:latin typeface="Meiryo"/>
              </a:defRPr>
            </a:pPr>
            <a:r>
              <a:rPr lang="ja-JP" altLang="en-US" sz="1600" dirty="0"/>
              <a:t>　</a:t>
            </a:r>
            <a:r>
              <a:rPr sz="1600" dirty="0"/>
              <a:t>AIは導入後の改善が重要だが、</a:t>
            </a:r>
            <a:r>
              <a:rPr sz="1600" b="1" dirty="0">
                <a:solidFill>
                  <a:srgbClr val="FF0066"/>
                </a:solidFill>
              </a:rPr>
              <a:t>多くの企業で運用ループが無い</a:t>
            </a:r>
            <a:r>
              <a:rPr sz="1600" dirty="0"/>
              <a:t>。成功企業はAI出力と業務結果を記録し、</a:t>
            </a:r>
            <a:r>
              <a:rPr sz="1600" b="1" dirty="0">
                <a:solidFill>
                  <a:srgbClr val="FF0066"/>
                </a:solidFill>
              </a:rPr>
              <a:t>改善サイクルを回す“継続学習”体制</a:t>
            </a:r>
            <a:r>
              <a:rPr sz="1600" dirty="0"/>
              <a:t>を作り、精度と信頼性を高めている。</a:t>
            </a:r>
            <a:r>
              <a:rPr lang="en-US" altLang="ja-JP" sz="1600" dirty="0"/>
              <a:t> (MIT)</a:t>
            </a:r>
            <a:br>
              <a:rPr sz="1600" dirty="0"/>
            </a:br>
            <a:br>
              <a:rPr sz="1600" dirty="0"/>
            </a:br>
            <a:r>
              <a:rPr sz="1600" b="1" dirty="0"/>
              <a:t>5. </a:t>
            </a:r>
            <a:r>
              <a:rPr sz="1600" b="1" dirty="0" err="1"/>
              <a:t>適用領域・目的の明確化とKPI設計</a:t>
            </a:r>
            <a:endParaRPr lang="en-US" sz="1600" b="1" dirty="0"/>
          </a:p>
          <a:p>
            <a:pPr marL="0" indent="0">
              <a:buNone/>
              <a:defRPr sz="1600">
                <a:latin typeface="Meiryo"/>
              </a:defRPr>
            </a:pPr>
            <a:r>
              <a:rPr lang="ja-JP" altLang="en-US" sz="1600" dirty="0"/>
              <a:t>　</a:t>
            </a:r>
            <a:r>
              <a:rPr sz="1600" dirty="0" err="1"/>
              <a:t>AI導入の目的が曖昧だと成果が出ない。</a:t>
            </a:r>
            <a:r>
              <a:rPr sz="1600" b="1" dirty="0" err="1">
                <a:solidFill>
                  <a:srgbClr val="FF0066"/>
                </a:solidFill>
              </a:rPr>
              <a:t>成功企業は改善KPIを定義し、Before</a:t>
            </a:r>
            <a:r>
              <a:rPr sz="1600" b="1" dirty="0">
                <a:solidFill>
                  <a:srgbClr val="FF0066"/>
                </a:solidFill>
              </a:rPr>
              <a:t>/</a:t>
            </a:r>
            <a:r>
              <a:rPr sz="1600" b="1" dirty="0" err="1">
                <a:solidFill>
                  <a:srgbClr val="FF0066"/>
                </a:solidFill>
              </a:rPr>
              <a:t>Afterの数値を追跡</a:t>
            </a:r>
            <a:r>
              <a:rPr sz="1600" dirty="0" err="1"/>
              <a:t>。ROIと成果を経営判断と結びつけている</a:t>
            </a:r>
            <a:r>
              <a:rPr sz="1600" dirty="0"/>
              <a:t>。</a:t>
            </a:r>
            <a:r>
              <a:rPr lang="en-US" altLang="ja-JP" sz="1600" dirty="0">
                <a:latin typeface="メイリオ" panose="020B0604030504040204" pitchFamily="50" charset="-128"/>
                <a:ea typeface="メイリオ" panose="020B0604030504040204" pitchFamily="50" charset="-128"/>
              </a:rPr>
              <a:t> (</a:t>
            </a:r>
            <a:r>
              <a:rPr lang="ja-JP" altLang="en-US" sz="1600" dirty="0">
                <a:latin typeface="メイリオ" panose="020B0604030504040204" pitchFamily="50" charset="-128"/>
                <a:ea typeface="メイリオ" panose="020B0604030504040204" pitchFamily="50" charset="-128"/>
              </a:rPr>
              <a:t>フォーブス</a:t>
            </a:r>
            <a:r>
              <a:rPr lang="en-US" altLang="ja-JP" sz="1600" dirty="0">
                <a:latin typeface="メイリオ" panose="020B0604030504040204" pitchFamily="50" charset="-128"/>
                <a:ea typeface="メイリオ" panose="020B0604030504040204" pitchFamily="50" charset="-128"/>
              </a:rPr>
              <a:t>)</a:t>
            </a:r>
            <a:endParaRPr sz="1600" dirty="0"/>
          </a:p>
        </p:txBody>
      </p:sp>
      <p:sp>
        <p:nvSpPr>
          <p:cNvPr id="4" name="テキスト ボックス 3">
            <a:extLst>
              <a:ext uri="{FF2B5EF4-FFF2-40B4-BE49-F238E27FC236}">
                <a16:creationId xmlns:a16="http://schemas.microsoft.com/office/drawing/2014/main" id="{8E938EB1-048E-1858-D85E-BD55551D0817}"/>
              </a:ext>
            </a:extLst>
          </p:cNvPr>
          <p:cNvSpPr txBox="1"/>
          <p:nvPr/>
        </p:nvSpPr>
        <p:spPr>
          <a:xfrm>
            <a:off x="7702925" y="951471"/>
            <a:ext cx="4170828" cy="261610"/>
          </a:xfrm>
          <a:prstGeom prst="rect">
            <a:avLst/>
          </a:prstGeom>
          <a:noFill/>
        </p:spPr>
        <p:txBody>
          <a:bodyPr wrap="square">
            <a:spAutoFit/>
          </a:bodyPr>
          <a:lstStyle/>
          <a:p>
            <a:pPr algn="r"/>
            <a:r>
              <a:rPr lang="en-US" altLang="ja-JP" sz="1100" b="1" dirty="0">
                <a:solidFill>
                  <a:srgbClr val="0070C0"/>
                </a:solidFill>
              </a:rPr>
              <a:t>GPT-5</a:t>
            </a:r>
            <a:r>
              <a:rPr lang="ja-JP" altLang="en-US" sz="1100" b="1" dirty="0">
                <a:solidFill>
                  <a:srgbClr val="0070C0"/>
                </a:solidFill>
              </a:rPr>
              <a:t>使って情報調査した結果をまとめたもの</a:t>
            </a:r>
          </a:p>
        </p:txBody>
      </p:sp>
    </p:spTree>
    <p:extLst>
      <p:ext uri="{BB962C8B-B14F-4D97-AF65-F5344CB8AC3E}">
        <p14:creationId xmlns:p14="http://schemas.microsoft.com/office/powerpoint/2010/main" val="35600256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564379-F23B-3E58-45A4-AF989C0977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447F10-868E-DD19-CDCE-813A070B01C3}"/>
              </a:ext>
            </a:extLst>
          </p:cNvPr>
          <p:cNvSpPr>
            <a:spLocks noGrp="1"/>
          </p:cNvSpPr>
          <p:nvPr>
            <p:ph type="title"/>
          </p:nvPr>
        </p:nvSpPr>
        <p:spPr>
          <a:xfrm>
            <a:off x="457201" y="274638"/>
            <a:ext cx="11474824" cy="541150"/>
          </a:xfrm>
        </p:spPr>
        <p:txBody>
          <a:bodyPr>
            <a:noAutofit/>
          </a:bodyPr>
          <a:lstStyle/>
          <a:p>
            <a:r>
              <a:rPr sz="2400" dirty="0"/>
              <a:t>AI</a:t>
            </a:r>
            <a:r>
              <a:rPr lang="ja-JP" altLang="en-US" sz="2400" dirty="0"/>
              <a:t>ワークフロー／業務プロセスの再設計</a:t>
            </a:r>
            <a:endParaRPr sz="2400" dirty="0"/>
          </a:p>
        </p:txBody>
      </p:sp>
      <p:sp>
        <p:nvSpPr>
          <p:cNvPr id="3" name="Content Placeholder 2">
            <a:extLst>
              <a:ext uri="{FF2B5EF4-FFF2-40B4-BE49-F238E27FC236}">
                <a16:creationId xmlns:a16="http://schemas.microsoft.com/office/drawing/2014/main" id="{7318FA11-D834-7807-7359-1B31947AAA93}"/>
              </a:ext>
            </a:extLst>
          </p:cNvPr>
          <p:cNvSpPr>
            <a:spLocks noGrp="1"/>
          </p:cNvSpPr>
          <p:nvPr>
            <p:ph idx="1"/>
          </p:nvPr>
        </p:nvSpPr>
        <p:spPr>
          <a:xfrm>
            <a:off x="515473" y="1094301"/>
            <a:ext cx="11093822" cy="541150"/>
          </a:xfrm>
        </p:spPr>
        <p:txBody>
          <a:bodyPr>
            <a:noAutofit/>
          </a:bodyPr>
          <a:lstStyle/>
          <a:p>
            <a:pPr marL="0" indent="0">
              <a:buNone/>
              <a:defRPr sz="1600">
                <a:latin typeface="Meiryo"/>
              </a:defRPr>
            </a:pPr>
            <a:r>
              <a:rPr lang="ja-JP" altLang="en-US" sz="1600" dirty="0">
                <a:latin typeface="メイリオ" panose="020B0604030504040204" pitchFamily="50" charset="-128"/>
                <a:ea typeface="メイリオ" panose="020B0604030504040204" pitchFamily="50" charset="-128"/>
              </a:rPr>
              <a:t>　</a:t>
            </a:r>
            <a:r>
              <a:rPr sz="1600" dirty="0">
                <a:latin typeface="メイリオ" panose="020B0604030504040204" pitchFamily="50" charset="-128"/>
                <a:ea typeface="メイリオ" panose="020B0604030504040204" pitchFamily="50" charset="-128"/>
              </a:rPr>
              <a:t>AIを既存業務に後付けすると実務に結びつかない。成功企業は業務プロセス自体をAI中心に再構築し、判断プロセス、例外処理、人とAIの役割分担を再定義することで成果につなげている。</a:t>
            </a:r>
            <a:r>
              <a:rPr lang="en-US" sz="1600" dirty="0">
                <a:latin typeface="メイリオ" panose="020B0604030504040204" pitchFamily="50" charset="-128"/>
                <a:ea typeface="メイリオ" panose="020B0604030504040204" pitchFamily="50" charset="-128"/>
              </a:rPr>
              <a:t>(</a:t>
            </a:r>
            <a:r>
              <a:rPr lang="en-US" sz="1600" dirty="0" err="1">
                <a:latin typeface="メイリオ" panose="020B0604030504040204" pitchFamily="50" charset="-128"/>
                <a:ea typeface="メイリオ" panose="020B0604030504040204" pitchFamily="50" charset="-128"/>
              </a:rPr>
              <a:t>Mckinsey</a:t>
            </a:r>
            <a:r>
              <a:rPr lang="ja-JP" altLang="en-US" sz="1600" dirty="0">
                <a:latin typeface="メイリオ" panose="020B0604030504040204" pitchFamily="50" charset="-128"/>
                <a:ea typeface="メイリオ" panose="020B0604030504040204" pitchFamily="50" charset="-128"/>
              </a:rPr>
              <a:t> </a:t>
            </a:r>
            <a:r>
              <a:rPr lang="en-US" altLang="ja-JP" sz="1600" dirty="0">
                <a:latin typeface="メイリオ" panose="020B0604030504040204" pitchFamily="50" charset="-128"/>
                <a:ea typeface="メイリオ" panose="020B0604030504040204" pitchFamily="50" charset="-128"/>
              </a:rPr>
              <a:t>&amp;</a:t>
            </a:r>
            <a:r>
              <a:rPr lang="ja-JP" altLang="en-US" sz="1600" dirty="0">
                <a:latin typeface="メイリオ" panose="020B0604030504040204" pitchFamily="50" charset="-128"/>
                <a:ea typeface="メイリオ" panose="020B0604030504040204" pitchFamily="50" charset="-128"/>
              </a:rPr>
              <a:t> </a:t>
            </a:r>
            <a:r>
              <a:rPr lang="en-US" altLang="ja-JP" sz="1600" dirty="0">
                <a:latin typeface="メイリオ" panose="020B0604030504040204" pitchFamily="50" charset="-128"/>
                <a:ea typeface="メイリオ" panose="020B0604030504040204" pitchFamily="50" charset="-128"/>
              </a:rPr>
              <a:t>Co.</a:t>
            </a:r>
            <a:r>
              <a:rPr lang="en-US" sz="1600" dirty="0">
                <a:latin typeface="メイリオ" panose="020B0604030504040204" pitchFamily="50" charset="-128"/>
                <a:ea typeface="メイリオ" panose="020B0604030504040204" pitchFamily="50" charset="-128"/>
              </a:rPr>
              <a:t>)</a:t>
            </a:r>
            <a:r>
              <a:rPr lang="ja-JP" altLang="en-US" sz="1600" dirty="0">
                <a:solidFill>
                  <a:srgbClr val="FF0066"/>
                </a:solidFill>
                <a:latin typeface="メイリオ" panose="020B0604030504040204" pitchFamily="50" charset="-128"/>
                <a:ea typeface="メイリオ" panose="020B0604030504040204" pitchFamily="50" charset="-128"/>
              </a:rPr>
              <a:t>　</a:t>
            </a:r>
            <a:br>
              <a:rPr sz="1600" dirty="0">
                <a:solidFill>
                  <a:srgbClr val="FF0066"/>
                </a:solidFill>
                <a:latin typeface="メイリオ" panose="020B0604030504040204" pitchFamily="50" charset="-128"/>
                <a:ea typeface="メイリオ" panose="020B0604030504040204" pitchFamily="50" charset="-128"/>
              </a:rPr>
            </a:br>
            <a:endParaRPr sz="1600" dirty="0">
              <a:solidFill>
                <a:srgbClr val="FF0066"/>
              </a:solidFill>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8056E7BC-4C50-A19E-DB01-107C0BF67F9E}"/>
              </a:ext>
            </a:extLst>
          </p:cNvPr>
          <p:cNvSpPr txBox="1"/>
          <p:nvPr/>
        </p:nvSpPr>
        <p:spPr>
          <a:xfrm>
            <a:off x="515472" y="1644133"/>
            <a:ext cx="11358281" cy="307777"/>
          </a:xfrm>
          <a:prstGeom prst="rect">
            <a:avLst/>
          </a:prstGeom>
          <a:noFill/>
        </p:spPr>
        <p:txBody>
          <a:bodyPr wrap="square">
            <a:spAutoFit/>
          </a:bodyPr>
          <a:lstStyle/>
          <a:p>
            <a:r>
              <a:rPr lang="ja-JP" altLang="en-US" sz="1400" dirty="0"/>
              <a:t>https://www.mckinsey.com/capabilities/quantumblack/our-insights/the-state-of-ai?utm_source=chatgpt.com</a:t>
            </a:r>
          </a:p>
        </p:txBody>
      </p:sp>
      <p:sp>
        <p:nvSpPr>
          <p:cNvPr id="7" name="テキスト ボックス 6">
            <a:extLst>
              <a:ext uri="{FF2B5EF4-FFF2-40B4-BE49-F238E27FC236}">
                <a16:creationId xmlns:a16="http://schemas.microsoft.com/office/drawing/2014/main" id="{81941586-AB60-4ED8-E143-335A8F37A757}"/>
              </a:ext>
            </a:extLst>
          </p:cNvPr>
          <p:cNvSpPr txBox="1"/>
          <p:nvPr/>
        </p:nvSpPr>
        <p:spPr>
          <a:xfrm>
            <a:off x="515472" y="2116874"/>
            <a:ext cx="5168153" cy="1015663"/>
          </a:xfrm>
          <a:prstGeom prst="rect">
            <a:avLst/>
          </a:prstGeom>
          <a:noFill/>
        </p:spPr>
        <p:txBody>
          <a:bodyPr wrap="square">
            <a:spAutoFit/>
          </a:bodyPr>
          <a:lstStyle/>
          <a:p>
            <a:r>
              <a:rPr lang="en-US" altLang="ja-JP" sz="1200" dirty="0">
                <a:latin typeface="メイリオ" panose="020B0604030504040204" pitchFamily="50" charset="-128"/>
                <a:ea typeface="メイリオ" panose="020B0604030504040204" pitchFamily="50" charset="-128"/>
              </a:rPr>
              <a:t>AI</a:t>
            </a:r>
            <a:r>
              <a:rPr lang="ja-JP" altLang="en-US" sz="1200" dirty="0">
                <a:latin typeface="メイリオ" panose="020B0604030504040204" pitchFamily="50" charset="-128"/>
                <a:ea typeface="メイリオ" panose="020B0604030504040204" pitchFamily="50" charset="-128"/>
              </a:rPr>
              <a:t>による効果を最も実感している組織は、多くの場合、これらのテクノロジーによって</a:t>
            </a:r>
            <a:r>
              <a:rPr lang="ja-JP" altLang="en-US" sz="1200" b="1" dirty="0">
                <a:solidFill>
                  <a:srgbClr val="FF0066"/>
                </a:solidFill>
                <a:latin typeface="メイリオ" panose="020B0604030504040204" pitchFamily="50" charset="-128"/>
                <a:ea typeface="メイリオ" panose="020B0604030504040204" pitchFamily="50" charset="-128"/>
              </a:rPr>
              <a:t>コスト削減以上の成果を目指しています</a:t>
            </a:r>
            <a:r>
              <a:rPr lang="ja-JP" altLang="en-US" sz="1200" dirty="0">
                <a:latin typeface="メイリオ" panose="020B0604030504040204" pitchFamily="50" charset="-128"/>
                <a:ea typeface="メイリオ" panose="020B0604030504040204" pitchFamily="50" charset="-128"/>
              </a:rPr>
              <a:t>。回答者の大半は、効率性の向上が組織の</a:t>
            </a:r>
            <a:r>
              <a:rPr lang="en-US" altLang="ja-JP" sz="1200" dirty="0">
                <a:latin typeface="メイリオ" panose="020B0604030504040204" pitchFamily="50" charset="-128"/>
                <a:ea typeface="メイリオ" panose="020B0604030504040204" pitchFamily="50" charset="-128"/>
              </a:rPr>
              <a:t>AI</a:t>
            </a:r>
            <a:r>
              <a:rPr lang="ja-JP" altLang="en-US" sz="1200" dirty="0">
                <a:latin typeface="メイリオ" panose="020B0604030504040204" pitchFamily="50" charset="-128"/>
                <a:ea typeface="メイリオ" panose="020B0604030504040204" pitchFamily="50" charset="-128"/>
              </a:rPr>
              <a:t>活用の目的であると回答していますが、</a:t>
            </a:r>
            <a:r>
              <a:rPr lang="ja-JP" altLang="en-US" sz="1200" b="1" dirty="0">
                <a:solidFill>
                  <a:srgbClr val="FF0066"/>
                </a:solidFill>
                <a:latin typeface="メイリオ" panose="020B0604030504040204" pitchFamily="50" charset="-128"/>
                <a:ea typeface="メイリオ" panose="020B0604030504040204" pitchFamily="50" charset="-128"/>
              </a:rPr>
              <a:t>高業績組織は他の組織よりも、成長やイノベーションも</a:t>
            </a:r>
            <a:r>
              <a:rPr lang="en-US" altLang="ja-JP" sz="1200" b="1" dirty="0">
                <a:solidFill>
                  <a:srgbClr val="FF0066"/>
                </a:solidFill>
                <a:latin typeface="メイリオ" panose="020B0604030504040204" pitchFamily="50" charset="-128"/>
                <a:ea typeface="メイリオ" panose="020B0604030504040204" pitchFamily="50" charset="-128"/>
              </a:rPr>
              <a:t>AI</a:t>
            </a:r>
            <a:r>
              <a:rPr lang="ja-JP" altLang="en-US" sz="1200" b="1" dirty="0">
                <a:solidFill>
                  <a:srgbClr val="FF0066"/>
                </a:solidFill>
                <a:latin typeface="メイリオ" panose="020B0604030504040204" pitchFamily="50" charset="-128"/>
                <a:ea typeface="メイリオ" panose="020B0604030504040204" pitchFamily="50" charset="-128"/>
              </a:rPr>
              <a:t>活用の目的</a:t>
            </a:r>
            <a:r>
              <a:rPr lang="ja-JP" altLang="en-US" sz="1200" dirty="0">
                <a:latin typeface="メイリオ" panose="020B0604030504040204" pitchFamily="50" charset="-128"/>
                <a:ea typeface="メイリオ" panose="020B0604030504040204" pitchFamily="50" charset="-128"/>
              </a:rPr>
              <a:t>としている割合が高い傾向にあります。</a:t>
            </a:r>
          </a:p>
        </p:txBody>
      </p:sp>
      <p:pic>
        <p:nvPicPr>
          <p:cNvPr id="8" name="図 7">
            <a:extLst>
              <a:ext uri="{FF2B5EF4-FFF2-40B4-BE49-F238E27FC236}">
                <a16:creationId xmlns:a16="http://schemas.microsoft.com/office/drawing/2014/main" id="{324B80B3-2C22-C3F7-6416-1EC52A4A9A0E}"/>
              </a:ext>
            </a:extLst>
          </p:cNvPr>
          <p:cNvPicPr>
            <a:picLocks noChangeAspect="1"/>
          </p:cNvPicPr>
          <p:nvPr/>
        </p:nvPicPr>
        <p:blipFill>
          <a:blip r:embed="rId2"/>
          <a:stretch>
            <a:fillRect/>
          </a:stretch>
        </p:blipFill>
        <p:spPr>
          <a:xfrm>
            <a:off x="515472" y="3132537"/>
            <a:ext cx="5168153" cy="2507512"/>
          </a:xfrm>
          <a:prstGeom prst="rect">
            <a:avLst/>
          </a:prstGeom>
        </p:spPr>
      </p:pic>
      <p:sp>
        <p:nvSpPr>
          <p:cNvPr id="9" name="テキスト ボックス 8">
            <a:extLst>
              <a:ext uri="{FF2B5EF4-FFF2-40B4-BE49-F238E27FC236}">
                <a16:creationId xmlns:a16="http://schemas.microsoft.com/office/drawing/2014/main" id="{F72A401D-89E1-7B5B-A48C-451C74E5A143}"/>
              </a:ext>
            </a:extLst>
          </p:cNvPr>
          <p:cNvSpPr txBox="1"/>
          <p:nvPr/>
        </p:nvSpPr>
        <p:spPr>
          <a:xfrm>
            <a:off x="6234954" y="2118080"/>
            <a:ext cx="5168153" cy="2123658"/>
          </a:xfrm>
          <a:prstGeom prst="rect">
            <a:avLst/>
          </a:prstGeom>
          <a:noFill/>
        </p:spPr>
        <p:txBody>
          <a:bodyPr wrap="square">
            <a:spAutoFit/>
          </a:bodyPr>
          <a:lstStyle/>
          <a:p>
            <a:r>
              <a:rPr lang="ja-JP" altLang="en-US" sz="1200" dirty="0">
                <a:latin typeface="メイリオ" panose="020B0604030504040204" pitchFamily="50" charset="-128"/>
                <a:ea typeface="メイリオ" panose="020B0604030504040204" pitchFamily="50" charset="-128"/>
              </a:rPr>
              <a:t>ハイ パフォーマーとしての資格の有無にかかわらず、組織が成長やイノベーションを促進するために </a:t>
            </a:r>
            <a:r>
              <a:rPr lang="en-US" altLang="ja-JP" sz="1200" dirty="0">
                <a:latin typeface="メイリオ" panose="020B0604030504040204" pitchFamily="50" charset="-128"/>
                <a:ea typeface="メイリオ" panose="020B0604030504040204" pitchFamily="50" charset="-128"/>
              </a:rPr>
              <a:t>AI </a:t>
            </a:r>
            <a:r>
              <a:rPr lang="ja-JP" altLang="en-US" sz="1200" dirty="0">
                <a:latin typeface="メイリオ" panose="020B0604030504040204" pitchFamily="50" charset="-128"/>
                <a:ea typeface="メイリオ" panose="020B0604030504040204" pitchFamily="50" charset="-128"/>
              </a:rPr>
              <a:t>を使用していると回答した回答者は、他の回答者よりも、顧客満足度の向上、競争上の差別化、収益性、売上増加、市場シェアの変化など、</a:t>
            </a:r>
            <a:r>
              <a:rPr lang="en-US" altLang="ja-JP" sz="1200" dirty="0">
                <a:latin typeface="メイリオ" panose="020B0604030504040204" pitchFamily="50" charset="-128"/>
                <a:ea typeface="メイリオ" panose="020B0604030504040204" pitchFamily="50" charset="-128"/>
              </a:rPr>
              <a:t>AI </a:t>
            </a:r>
            <a:r>
              <a:rPr lang="ja-JP" altLang="en-US" sz="1200" dirty="0">
                <a:latin typeface="メイリオ" panose="020B0604030504040204" pitchFamily="50" charset="-128"/>
                <a:ea typeface="メイリオ" panose="020B0604030504040204" pitchFamily="50" charset="-128"/>
              </a:rPr>
              <a:t>の使用によってさまざまな質的な企業レベルのメリットを達成していると報告する傾向があります。</a:t>
            </a:r>
          </a:p>
          <a:p>
            <a:endParaRPr lang="ja-JP" altLang="en-US" sz="1200" dirty="0">
              <a:latin typeface="メイリオ" panose="020B0604030504040204" pitchFamily="50" charset="-128"/>
              <a:ea typeface="メイリオ" panose="020B0604030504040204" pitchFamily="50" charset="-128"/>
            </a:endParaRPr>
          </a:p>
          <a:p>
            <a:r>
              <a:rPr lang="ja-JP" altLang="en-US" sz="1200" dirty="0">
                <a:latin typeface="メイリオ" panose="020B0604030504040204" pitchFamily="50" charset="-128"/>
                <a:ea typeface="メイリオ" panose="020B0604030504040204" pitchFamily="50" charset="-128"/>
              </a:rPr>
              <a:t>企業レベルの高い目標に加え、ハイパフォーマーは、</a:t>
            </a:r>
            <a:r>
              <a:rPr lang="ja-JP" altLang="en-US" sz="1200" b="1" dirty="0">
                <a:solidFill>
                  <a:srgbClr val="FF0066"/>
                </a:solidFill>
                <a:latin typeface="メイリオ" panose="020B0604030504040204" pitchFamily="50" charset="-128"/>
                <a:ea typeface="メイリオ" panose="020B0604030504040204" pitchFamily="50" charset="-128"/>
              </a:rPr>
              <a:t>組織が個々のワークフローを根本的に再設計したと回答する割合が、他の企業に比べて約</a:t>
            </a:r>
            <a:r>
              <a:rPr lang="en-US" altLang="ja-JP" sz="1200" b="1" dirty="0">
                <a:solidFill>
                  <a:srgbClr val="FF0066"/>
                </a:solidFill>
                <a:latin typeface="メイリオ" panose="020B0604030504040204" pitchFamily="50" charset="-128"/>
                <a:ea typeface="メイリオ" panose="020B0604030504040204" pitchFamily="50" charset="-128"/>
              </a:rPr>
              <a:t>3</a:t>
            </a:r>
            <a:r>
              <a:rPr lang="ja-JP" altLang="en-US" sz="1200" b="1" dirty="0">
                <a:solidFill>
                  <a:srgbClr val="FF0066"/>
                </a:solidFill>
                <a:latin typeface="メイリオ" panose="020B0604030504040204" pitchFamily="50" charset="-128"/>
                <a:ea typeface="メイリオ" panose="020B0604030504040204" pitchFamily="50" charset="-128"/>
              </a:rPr>
              <a:t>倍高い</a:t>
            </a:r>
            <a:r>
              <a:rPr lang="ja-JP" altLang="en-US" sz="1200" dirty="0">
                <a:latin typeface="メイリオ" panose="020B0604030504040204" pitchFamily="50" charset="-128"/>
                <a:ea typeface="メイリオ" panose="020B0604030504040204" pitchFamily="50" charset="-128"/>
              </a:rPr>
              <a:t>ことが示されています（図表</a:t>
            </a:r>
            <a:r>
              <a:rPr lang="en-US" altLang="ja-JP" sz="1200" dirty="0">
                <a:latin typeface="メイリオ" panose="020B0604030504040204" pitchFamily="50" charset="-128"/>
                <a:ea typeface="メイリオ" panose="020B0604030504040204" pitchFamily="50" charset="-128"/>
              </a:rPr>
              <a:t>11</a:t>
            </a:r>
            <a:r>
              <a:rPr lang="ja-JP" altLang="en-US" sz="1200" dirty="0">
                <a:latin typeface="メイリオ" panose="020B0604030504040204" pitchFamily="50" charset="-128"/>
                <a:ea typeface="メイリオ" panose="020B0604030504040204" pitchFamily="50" charset="-128"/>
              </a:rPr>
              <a:t>）。実際、この意図的なワークフローの再設計は、テスト対象となったすべての要因の中で、有意義なビジネスインパクトの達成に最も大きく貢献する要因の一つです。</a:t>
            </a:r>
          </a:p>
        </p:txBody>
      </p:sp>
      <p:pic>
        <p:nvPicPr>
          <p:cNvPr id="11" name="図 10">
            <a:extLst>
              <a:ext uri="{FF2B5EF4-FFF2-40B4-BE49-F238E27FC236}">
                <a16:creationId xmlns:a16="http://schemas.microsoft.com/office/drawing/2014/main" id="{B3F3AC8B-3CDC-2307-78D8-68634F5C209B}"/>
              </a:ext>
            </a:extLst>
          </p:cNvPr>
          <p:cNvPicPr>
            <a:picLocks noChangeAspect="1"/>
          </p:cNvPicPr>
          <p:nvPr/>
        </p:nvPicPr>
        <p:blipFill>
          <a:blip r:embed="rId3"/>
          <a:stretch>
            <a:fillRect/>
          </a:stretch>
        </p:blipFill>
        <p:spPr>
          <a:xfrm>
            <a:off x="6234954" y="4241738"/>
            <a:ext cx="5168153" cy="1958793"/>
          </a:xfrm>
          <a:prstGeom prst="rect">
            <a:avLst/>
          </a:prstGeom>
        </p:spPr>
      </p:pic>
      <p:sp>
        <p:nvSpPr>
          <p:cNvPr id="12" name="正方形/長方形 11">
            <a:extLst>
              <a:ext uri="{FF2B5EF4-FFF2-40B4-BE49-F238E27FC236}">
                <a16:creationId xmlns:a16="http://schemas.microsoft.com/office/drawing/2014/main" id="{CC268394-AFD2-7CF0-6E77-D2B30918BDD6}"/>
              </a:ext>
            </a:extLst>
          </p:cNvPr>
          <p:cNvSpPr/>
          <p:nvPr/>
        </p:nvSpPr>
        <p:spPr>
          <a:xfrm>
            <a:off x="315072" y="2070847"/>
            <a:ext cx="11474824" cy="4210369"/>
          </a:xfrm>
          <a:prstGeom prst="rect">
            <a:avLst/>
          </a:prstGeom>
          <a:no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sp>
        <p:nvSpPr>
          <p:cNvPr id="14" name="テキスト ボックス 13">
            <a:extLst>
              <a:ext uri="{FF2B5EF4-FFF2-40B4-BE49-F238E27FC236}">
                <a16:creationId xmlns:a16="http://schemas.microsoft.com/office/drawing/2014/main" id="{303AA608-CA32-79F5-74D8-07155B556CA8}"/>
              </a:ext>
            </a:extLst>
          </p:cNvPr>
          <p:cNvSpPr txBox="1"/>
          <p:nvPr/>
        </p:nvSpPr>
        <p:spPr>
          <a:xfrm>
            <a:off x="315072" y="6423897"/>
            <a:ext cx="5915025" cy="261610"/>
          </a:xfrm>
          <a:prstGeom prst="rect">
            <a:avLst/>
          </a:prstGeom>
          <a:noFill/>
        </p:spPr>
        <p:txBody>
          <a:bodyPr wrap="square">
            <a:spAutoFit/>
          </a:bodyPr>
          <a:lstStyle/>
          <a:p>
            <a:r>
              <a:rPr lang="ja-JP" altLang="en-US" sz="1100" b="1" dirty="0">
                <a:solidFill>
                  <a:schemeClr val="bg1"/>
                </a:solidFill>
                <a:latin typeface="メイリオ" panose="020B0604030504040204" pitchFamily="50" charset="-128"/>
                <a:ea typeface="メイリオ" panose="020B0604030504040204" pitchFamily="50" charset="-128"/>
              </a:rPr>
              <a:t>このレポート</a:t>
            </a:r>
            <a:r>
              <a:rPr lang="en-US" altLang="ja-JP" sz="1100" b="1" dirty="0">
                <a:solidFill>
                  <a:schemeClr val="bg1"/>
                </a:solidFill>
                <a:latin typeface="メイリオ" panose="020B0604030504040204" pitchFamily="50" charset="-128"/>
                <a:ea typeface="メイリオ" panose="020B0604030504040204" pitchFamily="50" charset="-128"/>
              </a:rPr>
              <a:t>2025/11/5</a:t>
            </a:r>
            <a:r>
              <a:rPr lang="ja-JP" altLang="en-US" sz="1100" b="1" dirty="0">
                <a:solidFill>
                  <a:schemeClr val="bg1"/>
                </a:solidFill>
                <a:latin typeface="メイリオ" panose="020B0604030504040204" pitchFamily="50" charset="-128"/>
                <a:ea typeface="メイリオ" panose="020B0604030504040204" pitchFamily="50" charset="-128"/>
              </a:rPr>
              <a:t>と新しいですが、他にも多数の導入調査がされていて面白いです。</a:t>
            </a:r>
            <a:endParaRPr lang="ja-JP" altLang="en-US" sz="1100" b="1" dirty="0">
              <a:solidFill>
                <a:schemeClr val="bg1"/>
              </a:solidFill>
            </a:endParaRPr>
          </a:p>
        </p:txBody>
      </p:sp>
      <p:sp>
        <p:nvSpPr>
          <p:cNvPr id="15" name="テキスト ボックス 14">
            <a:extLst>
              <a:ext uri="{FF2B5EF4-FFF2-40B4-BE49-F238E27FC236}">
                <a16:creationId xmlns:a16="http://schemas.microsoft.com/office/drawing/2014/main" id="{B5BE2968-FEA3-3C6C-13D4-2796A5C3FB56}"/>
              </a:ext>
            </a:extLst>
          </p:cNvPr>
          <p:cNvSpPr txBox="1"/>
          <p:nvPr/>
        </p:nvSpPr>
        <p:spPr>
          <a:xfrm>
            <a:off x="1771649" y="4063778"/>
            <a:ext cx="602595" cy="246221"/>
          </a:xfrm>
          <a:prstGeom prst="rect">
            <a:avLst/>
          </a:prstGeom>
          <a:noFill/>
        </p:spPr>
        <p:txBody>
          <a:bodyPr wrap="square">
            <a:spAutoFit/>
          </a:bodyPr>
          <a:lstStyle/>
          <a:p>
            <a:r>
              <a:rPr lang="ja-JP" altLang="en-US" sz="1000" dirty="0">
                <a:solidFill>
                  <a:srgbClr val="FF0066"/>
                </a:solidFill>
                <a:latin typeface="メイリオ" panose="020B0604030504040204" pitchFamily="50" charset="-128"/>
                <a:ea typeface="メイリオ" panose="020B0604030504040204" pitchFamily="50" charset="-128"/>
              </a:rPr>
              <a:t>効率</a:t>
            </a:r>
          </a:p>
        </p:txBody>
      </p:sp>
      <p:sp>
        <p:nvSpPr>
          <p:cNvPr id="16" name="テキスト ボックス 15">
            <a:extLst>
              <a:ext uri="{FF2B5EF4-FFF2-40B4-BE49-F238E27FC236}">
                <a16:creationId xmlns:a16="http://schemas.microsoft.com/office/drawing/2014/main" id="{FAA4F01B-80B6-F990-0D8C-5490C07800C5}"/>
              </a:ext>
            </a:extLst>
          </p:cNvPr>
          <p:cNvSpPr txBox="1"/>
          <p:nvPr/>
        </p:nvSpPr>
        <p:spPr>
          <a:xfrm>
            <a:off x="3158489" y="3681552"/>
            <a:ext cx="602595" cy="246221"/>
          </a:xfrm>
          <a:prstGeom prst="rect">
            <a:avLst/>
          </a:prstGeom>
          <a:noFill/>
        </p:spPr>
        <p:txBody>
          <a:bodyPr wrap="square">
            <a:spAutoFit/>
          </a:bodyPr>
          <a:lstStyle/>
          <a:p>
            <a:r>
              <a:rPr lang="ja-JP" altLang="en-US" sz="1000" dirty="0">
                <a:solidFill>
                  <a:srgbClr val="FF0066"/>
                </a:solidFill>
                <a:latin typeface="メイリオ" panose="020B0604030504040204" pitchFamily="50" charset="-128"/>
                <a:ea typeface="メイリオ" panose="020B0604030504040204" pitchFamily="50" charset="-128"/>
              </a:rPr>
              <a:t>成長</a:t>
            </a:r>
          </a:p>
        </p:txBody>
      </p:sp>
      <p:sp>
        <p:nvSpPr>
          <p:cNvPr id="17" name="テキスト ボックス 16">
            <a:extLst>
              <a:ext uri="{FF2B5EF4-FFF2-40B4-BE49-F238E27FC236}">
                <a16:creationId xmlns:a16="http://schemas.microsoft.com/office/drawing/2014/main" id="{6249E16E-7764-A85B-136B-5C5DECFE6DDB}"/>
              </a:ext>
            </a:extLst>
          </p:cNvPr>
          <p:cNvSpPr txBox="1"/>
          <p:nvPr/>
        </p:nvSpPr>
        <p:spPr>
          <a:xfrm>
            <a:off x="4421057" y="3679509"/>
            <a:ext cx="1172023" cy="246221"/>
          </a:xfrm>
          <a:prstGeom prst="rect">
            <a:avLst/>
          </a:prstGeom>
          <a:noFill/>
        </p:spPr>
        <p:txBody>
          <a:bodyPr wrap="square">
            <a:spAutoFit/>
          </a:bodyPr>
          <a:lstStyle/>
          <a:p>
            <a:r>
              <a:rPr lang="ja-JP" altLang="en-US" sz="1000" dirty="0">
                <a:solidFill>
                  <a:srgbClr val="FF0066"/>
                </a:solidFill>
                <a:latin typeface="メイリオ" panose="020B0604030504040204" pitchFamily="50" charset="-128"/>
                <a:ea typeface="メイリオ" panose="020B0604030504040204" pitchFamily="50" charset="-128"/>
              </a:rPr>
              <a:t>イノベーション</a:t>
            </a:r>
          </a:p>
        </p:txBody>
      </p:sp>
      <p:sp>
        <p:nvSpPr>
          <p:cNvPr id="18" name="テキスト ボックス 17">
            <a:extLst>
              <a:ext uri="{FF2B5EF4-FFF2-40B4-BE49-F238E27FC236}">
                <a16:creationId xmlns:a16="http://schemas.microsoft.com/office/drawing/2014/main" id="{5F9107D8-EAED-3146-610E-B6D474D8E9AE}"/>
              </a:ext>
            </a:extLst>
          </p:cNvPr>
          <p:cNvSpPr txBox="1"/>
          <p:nvPr/>
        </p:nvSpPr>
        <p:spPr>
          <a:xfrm>
            <a:off x="3542797" y="3419942"/>
            <a:ext cx="602595" cy="246221"/>
          </a:xfrm>
          <a:prstGeom prst="rect">
            <a:avLst/>
          </a:prstGeom>
          <a:noFill/>
        </p:spPr>
        <p:txBody>
          <a:bodyPr wrap="square">
            <a:spAutoFit/>
          </a:bodyPr>
          <a:lstStyle/>
          <a:p>
            <a:r>
              <a:rPr lang="ja-JP" altLang="en-US" sz="1000" dirty="0">
                <a:solidFill>
                  <a:srgbClr val="FF0066"/>
                </a:solidFill>
                <a:latin typeface="メイリオ" panose="020B0604030504040204" pitchFamily="50" charset="-128"/>
                <a:ea typeface="メイリオ" panose="020B0604030504040204" pitchFamily="50" charset="-128"/>
              </a:rPr>
              <a:t>回答率</a:t>
            </a:r>
          </a:p>
        </p:txBody>
      </p:sp>
      <p:sp>
        <p:nvSpPr>
          <p:cNvPr id="19" name="テキスト ボックス 18">
            <a:extLst>
              <a:ext uri="{FF2B5EF4-FFF2-40B4-BE49-F238E27FC236}">
                <a16:creationId xmlns:a16="http://schemas.microsoft.com/office/drawing/2014/main" id="{0B06E552-F3EF-F5A8-C9A5-4B47E68620F1}"/>
              </a:ext>
            </a:extLst>
          </p:cNvPr>
          <p:cNvSpPr txBox="1"/>
          <p:nvPr/>
        </p:nvSpPr>
        <p:spPr>
          <a:xfrm>
            <a:off x="540965" y="4140071"/>
            <a:ext cx="1230684" cy="246221"/>
          </a:xfrm>
          <a:prstGeom prst="rect">
            <a:avLst/>
          </a:prstGeom>
          <a:noFill/>
        </p:spPr>
        <p:txBody>
          <a:bodyPr wrap="square">
            <a:spAutoFit/>
          </a:bodyPr>
          <a:lstStyle/>
          <a:p>
            <a:r>
              <a:rPr lang="ja-JP" altLang="en-US" sz="1000" dirty="0">
                <a:solidFill>
                  <a:srgbClr val="FF0066"/>
                </a:solidFill>
                <a:latin typeface="メイリオ" panose="020B0604030504040204" pitchFamily="50" charset="-128"/>
                <a:ea typeface="メイリオ" panose="020B0604030504040204" pitchFamily="50" charset="-128"/>
              </a:rPr>
              <a:t>ハイパフォーマー</a:t>
            </a:r>
          </a:p>
        </p:txBody>
      </p:sp>
      <p:sp>
        <p:nvSpPr>
          <p:cNvPr id="20" name="テキスト ボックス 19">
            <a:extLst>
              <a:ext uri="{FF2B5EF4-FFF2-40B4-BE49-F238E27FC236}">
                <a16:creationId xmlns:a16="http://schemas.microsoft.com/office/drawing/2014/main" id="{C8D64FCB-8C52-5BE6-1F50-E305D3CEB6CE}"/>
              </a:ext>
            </a:extLst>
          </p:cNvPr>
          <p:cNvSpPr txBox="1"/>
          <p:nvPr/>
        </p:nvSpPr>
        <p:spPr>
          <a:xfrm>
            <a:off x="540965" y="4489068"/>
            <a:ext cx="1230684" cy="246221"/>
          </a:xfrm>
          <a:prstGeom prst="rect">
            <a:avLst/>
          </a:prstGeom>
          <a:noFill/>
        </p:spPr>
        <p:txBody>
          <a:bodyPr wrap="square">
            <a:spAutoFit/>
          </a:bodyPr>
          <a:lstStyle/>
          <a:p>
            <a:r>
              <a:rPr lang="ja-JP" altLang="en-US" sz="1000" dirty="0">
                <a:solidFill>
                  <a:srgbClr val="FF0066"/>
                </a:solidFill>
                <a:latin typeface="メイリオ" panose="020B0604030504040204" pitchFamily="50" charset="-128"/>
                <a:ea typeface="メイリオ" panose="020B0604030504040204" pitchFamily="50" charset="-128"/>
              </a:rPr>
              <a:t>その他</a:t>
            </a:r>
          </a:p>
        </p:txBody>
      </p:sp>
      <p:sp>
        <p:nvSpPr>
          <p:cNvPr id="22" name="テキスト ボックス 21">
            <a:extLst>
              <a:ext uri="{FF2B5EF4-FFF2-40B4-BE49-F238E27FC236}">
                <a16:creationId xmlns:a16="http://schemas.microsoft.com/office/drawing/2014/main" id="{A5C34B0D-FE22-FD69-6BE9-1B732F5B3630}"/>
              </a:ext>
            </a:extLst>
          </p:cNvPr>
          <p:cNvSpPr txBox="1"/>
          <p:nvPr/>
        </p:nvSpPr>
        <p:spPr>
          <a:xfrm>
            <a:off x="380998" y="5709909"/>
            <a:ext cx="5713413" cy="600164"/>
          </a:xfrm>
          <a:prstGeom prst="rect">
            <a:avLst/>
          </a:prstGeom>
          <a:noFill/>
        </p:spPr>
        <p:txBody>
          <a:bodyPr wrap="square">
            <a:spAutoFit/>
          </a:bodyPr>
          <a:lstStyle/>
          <a:p>
            <a:r>
              <a:rPr lang="ja-JP" altLang="en-US" sz="1100" b="1" dirty="0">
                <a:latin typeface="メイリオ" panose="020B0604030504040204" pitchFamily="50" charset="-128"/>
                <a:ea typeface="メイリオ" panose="020B0604030504040204" pitchFamily="50" charset="-128"/>
              </a:rPr>
              <a:t>ハイパフォーマー</a:t>
            </a:r>
            <a:endParaRPr lang="en-US" altLang="ja-JP" sz="1100" b="1" dirty="0">
              <a:latin typeface="メイリオ" panose="020B0604030504040204" pitchFamily="50" charset="-128"/>
              <a:ea typeface="メイリオ" panose="020B0604030504040204" pitchFamily="50" charset="-128"/>
            </a:endParaRPr>
          </a:p>
          <a:p>
            <a:r>
              <a:rPr lang="en-US" altLang="ja-JP" sz="1100" dirty="0">
                <a:latin typeface="メイリオ" panose="020B0604030504040204" pitchFamily="50" charset="-128"/>
                <a:ea typeface="メイリオ" panose="020B0604030504040204" pitchFamily="50" charset="-128"/>
              </a:rPr>
              <a:t>AI</a:t>
            </a:r>
            <a:r>
              <a:rPr lang="ja-JP" altLang="en-US" sz="1100" dirty="0">
                <a:latin typeface="メイリオ" panose="020B0604030504040204" pitchFamily="50" charset="-128"/>
                <a:ea typeface="メイリオ" panose="020B0604030504040204" pitchFamily="50" charset="-128"/>
              </a:rPr>
              <a:t>の活用が</a:t>
            </a:r>
            <a:r>
              <a:rPr lang="en-US" altLang="ja-JP" sz="1100" dirty="0">
                <a:latin typeface="メイリオ" panose="020B0604030504040204" pitchFamily="50" charset="-128"/>
                <a:ea typeface="メイリオ" panose="020B0604030504040204" pitchFamily="50" charset="-128"/>
              </a:rPr>
              <a:t>EBIT</a:t>
            </a:r>
            <a:r>
              <a:rPr lang="ja-JP" altLang="en-US" sz="1100" dirty="0">
                <a:latin typeface="メイリオ" panose="020B0604030504040204" pitchFamily="50" charset="-128"/>
                <a:ea typeface="メイリオ" panose="020B0604030504040204" pitchFamily="50" charset="-128"/>
              </a:rPr>
              <a:t>（イービット</a:t>
            </a:r>
            <a:r>
              <a:rPr lang="en-US" altLang="ja-JP" sz="1100" dirty="0">
                <a:latin typeface="メイリオ" panose="020B0604030504040204" pitchFamily="50" charset="-128"/>
                <a:ea typeface="メイリオ" panose="020B0604030504040204" pitchFamily="50" charset="-128"/>
              </a:rPr>
              <a:t>, </a:t>
            </a:r>
            <a:r>
              <a:rPr lang="ja-JP" altLang="en-US" sz="1100" dirty="0">
                <a:latin typeface="メイリオ" panose="020B0604030504040204" pitchFamily="50" charset="-128"/>
                <a:ea typeface="メイリオ" panose="020B0604030504040204" pitchFamily="50" charset="-128"/>
              </a:rPr>
              <a:t>利払い前利益）に</a:t>
            </a:r>
            <a:r>
              <a:rPr lang="en-US" altLang="ja-JP" sz="1100" dirty="0">
                <a:latin typeface="メイリオ" panose="020B0604030504040204" pitchFamily="50" charset="-128"/>
                <a:ea typeface="メイリオ" panose="020B0604030504040204" pitchFamily="50" charset="-128"/>
              </a:rPr>
              <a:t>5%</a:t>
            </a:r>
            <a:r>
              <a:rPr lang="ja-JP" altLang="en-US" sz="1100" dirty="0">
                <a:latin typeface="メイリオ" panose="020B0604030504040204" pitchFamily="50" charset="-128"/>
                <a:ea typeface="メイリオ" panose="020B0604030504040204" pitchFamily="50" charset="-128"/>
              </a:rPr>
              <a:t>以上の影響を与え、かつ組織が</a:t>
            </a:r>
            <a:r>
              <a:rPr lang="en-US" altLang="ja-JP" sz="1100" dirty="0">
                <a:latin typeface="メイリオ" panose="020B0604030504040204" pitchFamily="50" charset="-128"/>
                <a:ea typeface="メイリオ" panose="020B0604030504040204" pitchFamily="50" charset="-128"/>
              </a:rPr>
              <a:t>AI</a:t>
            </a:r>
            <a:r>
              <a:rPr lang="ja-JP" altLang="en-US" sz="1100" dirty="0">
                <a:latin typeface="メイリオ" panose="020B0604030504040204" pitchFamily="50" charset="-128"/>
                <a:ea typeface="メイリオ" panose="020B0604030504040204" pitchFamily="50" charset="-128"/>
              </a:rPr>
              <a:t>の活用から「大きな」価値を享受していると回答した回答者（回答者の約</a:t>
            </a:r>
            <a:r>
              <a:rPr lang="en-US" altLang="ja-JP" sz="1100" dirty="0">
                <a:latin typeface="メイリオ" panose="020B0604030504040204" pitchFamily="50" charset="-128"/>
                <a:ea typeface="メイリオ" panose="020B0604030504040204" pitchFamily="50" charset="-128"/>
              </a:rPr>
              <a:t>6%</a:t>
            </a:r>
            <a:r>
              <a:rPr lang="ja-JP" altLang="en-US" sz="1100" dirty="0">
                <a:latin typeface="メイリオ" panose="020B0604030504040204" pitchFamily="50" charset="-128"/>
                <a:ea typeface="メイリオ" panose="020B0604030504040204" pitchFamily="50" charset="-128"/>
              </a:rPr>
              <a:t>に相当）</a:t>
            </a:r>
          </a:p>
        </p:txBody>
      </p:sp>
      <p:sp>
        <p:nvSpPr>
          <p:cNvPr id="23" name="テキスト ボックス 22">
            <a:extLst>
              <a:ext uri="{FF2B5EF4-FFF2-40B4-BE49-F238E27FC236}">
                <a16:creationId xmlns:a16="http://schemas.microsoft.com/office/drawing/2014/main" id="{966D525D-CC05-4C9B-AFFF-D8CA7A304D2C}"/>
              </a:ext>
            </a:extLst>
          </p:cNvPr>
          <p:cNvSpPr txBox="1"/>
          <p:nvPr/>
        </p:nvSpPr>
        <p:spPr>
          <a:xfrm>
            <a:off x="7117294" y="4823112"/>
            <a:ext cx="2573553" cy="246221"/>
          </a:xfrm>
          <a:prstGeom prst="rect">
            <a:avLst/>
          </a:prstGeom>
          <a:noFill/>
        </p:spPr>
        <p:txBody>
          <a:bodyPr wrap="square">
            <a:spAutoFit/>
          </a:bodyPr>
          <a:lstStyle/>
          <a:p>
            <a:r>
              <a:rPr lang="ja-JP" altLang="en-US" sz="1000" dirty="0">
                <a:solidFill>
                  <a:srgbClr val="FF0066"/>
                </a:solidFill>
                <a:latin typeface="メイリオ" panose="020B0604030504040204" pitchFamily="50" charset="-128"/>
                <a:ea typeface="メイリオ" panose="020B0604030504040204" pitchFamily="50" charset="-128"/>
              </a:rPr>
              <a:t>ワークフローを再設計したと回答した率</a:t>
            </a:r>
          </a:p>
        </p:txBody>
      </p:sp>
    </p:spTree>
    <p:extLst>
      <p:ext uri="{BB962C8B-B14F-4D97-AF65-F5344CB8AC3E}">
        <p14:creationId xmlns:p14="http://schemas.microsoft.com/office/powerpoint/2010/main" val="6037512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5C101C-E8AA-49D5-9301-9A5E095FBE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9C338A-1FA6-DAD3-E48A-9D068883AB81}"/>
              </a:ext>
            </a:extLst>
          </p:cNvPr>
          <p:cNvSpPr>
            <a:spLocks noGrp="1"/>
          </p:cNvSpPr>
          <p:nvPr>
            <p:ph type="title"/>
          </p:nvPr>
        </p:nvSpPr>
        <p:spPr>
          <a:xfrm>
            <a:off x="457201" y="274638"/>
            <a:ext cx="11474824" cy="541150"/>
          </a:xfrm>
        </p:spPr>
        <p:txBody>
          <a:bodyPr>
            <a:noAutofit/>
          </a:bodyPr>
          <a:lstStyle/>
          <a:p>
            <a:r>
              <a:rPr sz="2400" dirty="0"/>
              <a:t>AI</a:t>
            </a:r>
            <a:r>
              <a:rPr lang="ja-JP" altLang="en-US" sz="2400" dirty="0"/>
              <a:t>ワークフロー／業務プロセスの再設計</a:t>
            </a:r>
            <a:endParaRPr sz="2400" dirty="0"/>
          </a:p>
        </p:txBody>
      </p:sp>
      <p:sp>
        <p:nvSpPr>
          <p:cNvPr id="13" name="Content Placeholder 2">
            <a:extLst>
              <a:ext uri="{FF2B5EF4-FFF2-40B4-BE49-F238E27FC236}">
                <a16:creationId xmlns:a16="http://schemas.microsoft.com/office/drawing/2014/main" id="{B3E1BE20-2832-CCA1-9519-93013455447E}"/>
              </a:ext>
            </a:extLst>
          </p:cNvPr>
          <p:cNvSpPr>
            <a:spLocks noGrp="1"/>
          </p:cNvSpPr>
          <p:nvPr>
            <p:ph idx="1"/>
          </p:nvPr>
        </p:nvSpPr>
        <p:spPr>
          <a:xfrm>
            <a:off x="515473" y="1094301"/>
            <a:ext cx="11093822" cy="366946"/>
          </a:xfrm>
        </p:spPr>
        <p:txBody>
          <a:bodyPr>
            <a:noAutofit/>
          </a:bodyPr>
          <a:lstStyle/>
          <a:p>
            <a:pPr marL="0" indent="0">
              <a:buNone/>
              <a:defRPr sz="1600">
                <a:latin typeface="Meiryo"/>
              </a:defRPr>
            </a:pPr>
            <a:r>
              <a:rPr lang="en-US" sz="1600" dirty="0" err="1">
                <a:latin typeface="メイリオ" panose="020B0604030504040204" pitchFamily="50" charset="-128"/>
                <a:ea typeface="メイリオ" panose="020B0604030504040204" pitchFamily="50" charset="-128"/>
              </a:rPr>
              <a:t>Mckinsey</a:t>
            </a:r>
            <a:r>
              <a:rPr lang="ja-JP" altLang="en-US" sz="1600" dirty="0">
                <a:latin typeface="メイリオ" panose="020B0604030504040204" pitchFamily="50" charset="-128"/>
                <a:ea typeface="メイリオ" panose="020B0604030504040204" pitchFamily="50" charset="-128"/>
              </a:rPr>
              <a:t> </a:t>
            </a:r>
            <a:r>
              <a:rPr lang="en-US" altLang="ja-JP" sz="1600" dirty="0">
                <a:latin typeface="メイリオ" panose="020B0604030504040204" pitchFamily="50" charset="-128"/>
                <a:ea typeface="メイリオ" panose="020B0604030504040204" pitchFamily="50" charset="-128"/>
              </a:rPr>
              <a:t>&amp;</a:t>
            </a:r>
            <a:r>
              <a:rPr lang="ja-JP" altLang="en-US" sz="1600" dirty="0">
                <a:latin typeface="メイリオ" panose="020B0604030504040204" pitchFamily="50" charset="-128"/>
                <a:ea typeface="メイリオ" panose="020B0604030504040204" pitchFamily="50" charset="-128"/>
              </a:rPr>
              <a:t> </a:t>
            </a:r>
            <a:r>
              <a:rPr lang="en-US" altLang="ja-JP" sz="1600" dirty="0">
                <a:latin typeface="メイリオ" panose="020B0604030504040204" pitchFamily="50" charset="-128"/>
                <a:ea typeface="メイリオ" panose="020B0604030504040204" pitchFamily="50" charset="-128"/>
              </a:rPr>
              <a:t>Co.</a:t>
            </a:r>
            <a:r>
              <a:rPr lang="ja-JP" altLang="en-US" sz="1600" dirty="0">
                <a:latin typeface="メイリオ" panose="020B0604030504040204" pitchFamily="50" charset="-128"/>
                <a:ea typeface="メイリオ" panose="020B0604030504040204" pitchFamily="50" charset="-128"/>
              </a:rPr>
              <a:t>のレポートの他の記事</a:t>
            </a:r>
            <a:br>
              <a:rPr sz="1600" dirty="0">
                <a:solidFill>
                  <a:srgbClr val="FF0066"/>
                </a:solidFill>
                <a:latin typeface="メイリオ" panose="020B0604030504040204" pitchFamily="50" charset="-128"/>
                <a:ea typeface="メイリオ" panose="020B0604030504040204" pitchFamily="50" charset="-128"/>
              </a:rPr>
            </a:br>
            <a:endParaRPr sz="1600" dirty="0">
              <a:solidFill>
                <a:srgbClr val="FF0066"/>
              </a:solidFill>
              <a:latin typeface="メイリオ" panose="020B0604030504040204" pitchFamily="50" charset="-128"/>
              <a:ea typeface="メイリオ" panose="020B0604030504040204" pitchFamily="50" charset="-128"/>
            </a:endParaRPr>
          </a:p>
        </p:txBody>
      </p:sp>
      <p:pic>
        <p:nvPicPr>
          <p:cNvPr id="15" name="図 14">
            <a:extLst>
              <a:ext uri="{FF2B5EF4-FFF2-40B4-BE49-F238E27FC236}">
                <a16:creationId xmlns:a16="http://schemas.microsoft.com/office/drawing/2014/main" id="{ED307596-3DE6-048A-3532-6AA1532D44E9}"/>
              </a:ext>
            </a:extLst>
          </p:cNvPr>
          <p:cNvPicPr>
            <a:picLocks noChangeAspect="1"/>
          </p:cNvPicPr>
          <p:nvPr/>
        </p:nvPicPr>
        <p:blipFill>
          <a:blip r:embed="rId2"/>
          <a:stretch>
            <a:fillRect/>
          </a:stretch>
        </p:blipFill>
        <p:spPr>
          <a:xfrm>
            <a:off x="1023939" y="2183107"/>
            <a:ext cx="4773703" cy="4131314"/>
          </a:xfrm>
          <a:prstGeom prst="rect">
            <a:avLst/>
          </a:prstGeom>
        </p:spPr>
      </p:pic>
      <p:sp>
        <p:nvSpPr>
          <p:cNvPr id="17" name="テキスト ボックス 16">
            <a:extLst>
              <a:ext uri="{FF2B5EF4-FFF2-40B4-BE49-F238E27FC236}">
                <a16:creationId xmlns:a16="http://schemas.microsoft.com/office/drawing/2014/main" id="{339D7DB2-9A27-5A3B-0E20-058EF67311BE}"/>
              </a:ext>
            </a:extLst>
          </p:cNvPr>
          <p:cNvSpPr txBox="1"/>
          <p:nvPr/>
        </p:nvSpPr>
        <p:spPr>
          <a:xfrm>
            <a:off x="457201" y="1457136"/>
            <a:ext cx="11152094" cy="646331"/>
          </a:xfrm>
          <a:prstGeom prst="rect">
            <a:avLst/>
          </a:prstGeom>
          <a:noFill/>
        </p:spPr>
        <p:txBody>
          <a:bodyPr wrap="square">
            <a:spAutoFit/>
          </a:bodyPr>
          <a:lstStyle/>
          <a:p>
            <a:r>
              <a:rPr lang="ja-JP" altLang="en-US" sz="1200" dirty="0">
                <a:latin typeface="メイリオ" panose="020B0604030504040204" pitchFamily="50" charset="-128"/>
                <a:ea typeface="メイリオ" panose="020B0604030504040204" pitchFamily="50" charset="-128"/>
              </a:rPr>
              <a:t>　このオンライン調査は</a:t>
            </a:r>
            <a:r>
              <a:rPr lang="en-US" altLang="ja-JP" sz="1200" dirty="0">
                <a:latin typeface="メイリオ" panose="020B0604030504040204" pitchFamily="50" charset="-128"/>
                <a:ea typeface="メイリオ" panose="020B0604030504040204" pitchFamily="50" charset="-128"/>
              </a:rPr>
              <a:t>2025</a:t>
            </a:r>
            <a:r>
              <a:rPr lang="ja-JP" altLang="en-US" sz="1200" dirty="0">
                <a:latin typeface="メイリオ" panose="020B0604030504040204" pitchFamily="50" charset="-128"/>
                <a:ea typeface="メイリオ" panose="020B0604030504040204" pitchFamily="50" charset="-128"/>
              </a:rPr>
              <a:t>年</a:t>
            </a:r>
            <a:r>
              <a:rPr lang="en-US" altLang="ja-JP" sz="1200" dirty="0">
                <a:latin typeface="メイリオ" panose="020B0604030504040204" pitchFamily="50" charset="-128"/>
                <a:ea typeface="メイリオ" panose="020B0604030504040204" pitchFamily="50" charset="-128"/>
              </a:rPr>
              <a:t>6</a:t>
            </a:r>
            <a:r>
              <a:rPr lang="ja-JP" altLang="en-US" sz="1200" dirty="0">
                <a:latin typeface="メイリオ" panose="020B0604030504040204" pitchFamily="50" charset="-128"/>
                <a:ea typeface="メイリオ" panose="020B0604030504040204" pitchFamily="50" charset="-128"/>
              </a:rPr>
              <a:t>月</a:t>
            </a:r>
            <a:r>
              <a:rPr lang="en-US" altLang="ja-JP" sz="1200" dirty="0">
                <a:latin typeface="メイリオ" panose="020B0604030504040204" pitchFamily="50" charset="-128"/>
                <a:ea typeface="メイリオ" panose="020B0604030504040204" pitchFamily="50" charset="-128"/>
              </a:rPr>
              <a:t>25</a:t>
            </a:r>
            <a:r>
              <a:rPr lang="ja-JP" altLang="en-US" sz="1200" dirty="0">
                <a:latin typeface="メイリオ" panose="020B0604030504040204" pitchFamily="50" charset="-128"/>
                <a:ea typeface="メイリオ" panose="020B0604030504040204" pitchFamily="50" charset="-128"/>
              </a:rPr>
              <a:t>日から</a:t>
            </a:r>
            <a:r>
              <a:rPr lang="en-US" altLang="ja-JP" sz="1200" dirty="0">
                <a:latin typeface="メイリオ" panose="020B0604030504040204" pitchFamily="50" charset="-128"/>
                <a:ea typeface="メイリオ" panose="020B0604030504040204" pitchFamily="50" charset="-128"/>
              </a:rPr>
              <a:t>7</a:t>
            </a:r>
            <a:r>
              <a:rPr lang="ja-JP" altLang="en-US" sz="1200" dirty="0">
                <a:latin typeface="メイリオ" panose="020B0604030504040204" pitchFamily="50" charset="-128"/>
                <a:ea typeface="メイリオ" panose="020B0604030504040204" pitchFamily="50" charset="-128"/>
              </a:rPr>
              <a:t>月</a:t>
            </a:r>
            <a:r>
              <a:rPr lang="en-US" altLang="ja-JP" sz="1200" dirty="0">
                <a:latin typeface="メイリオ" panose="020B0604030504040204" pitchFamily="50" charset="-128"/>
                <a:ea typeface="メイリオ" panose="020B0604030504040204" pitchFamily="50" charset="-128"/>
              </a:rPr>
              <a:t>29</a:t>
            </a:r>
            <a:r>
              <a:rPr lang="ja-JP" altLang="en-US" sz="1200" dirty="0">
                <a:latin typeface="メイリオ" panose="020B0604030504040204" pitchFamily="50" charset="-128"/>
                <a:ea typeface="メイリオ" panose="020B0604030504040204" pitchFamily="50" charset="-128"/>
              </a:rPr>
              <a:t>日まで実施され、</a:t>
            </a:r>
            <a:r>
              <a:rPr lang="en-US" altLang="ja-JP" sz="1200" dirty="0">
                <a:latin typeface="メイリオ" panose="020B0604030504040204" pitchFamily="50" charset="-128"/>
                <a:ea typeface="メイリオ" panose="020B0604030504040204" pitchFamily="50" charset="-128"/>
              </a:rPr>
              <a:t>105</a:t>
            </a:r>
            <a:r>
              <a:rPr lang="ja-JP" altLang="en-US" sz="1200" dirty="0">
                <a:latin typeface="メイリオ" panose="020B0604030504040204" pitchFamily="50" charset="-128"/>
                <a:ea typeface="メイリオ" panose="020B0604030504040204" pitchFamily="50" charset="-128"/>
              </a:rPr>
              <a:t>カ国、地域、業種、企業規模、専門職、勤続年数など、幅広い分野を代表する</a:t>
            </a:r>
            <a:r>
              <a:rPr lang="en-US" altLang="ja-JP" sz="1200" dirty="0">
                <a:latin typeface="メイリオ" panose="020B0604030504040204" pitchFamily="50" charset="-128"/>
                <a:ea typeface="メイリオ" panose="020B0604030504040204" pitchFamily="50" charset="-128"/>
              </a:rPr>
              <a:t>1,993</a:t>
            </a:r>
            <a:r>
              <a:rPr lang="ja-JP" altLang="en-US" sz="1200" dirty="0">
                <a:latin typeface="メイリオ" panose="020B0604030504040204" pitchFamily="50" charset="-128"/>
                <a:ea typeface="メイリオ" panose="020B0604030504040204" pitchFamily="50" charset="-128"/>
              </a:rPr>
              <a:t>名から回答を得ました。回答者の</a:t>
            </a:r>
            <a:r>
              <a:rPr lang="en-US" altLang="ja-JP" sz="1200" dirty="0">
                <a:latin typeface="メイリオ" panose="020B0604030504040204" pitchFamily="50" charset="-128"/>
                <a:ea typeface="メイリオ" panose="020B0604030504040204" pitchFamily="50" charset="-128"/>
              </a:rPr>
              <a:t>38%</a:t>
            </a:r>
            <a:r>
              <a:rPr lang="ja-JP" altLang="en-US" sz="1200" dirty="0">
                <a:latin typeface="メイリオ" panose="020B0604030504040204" pitchFamily="50" charset="-128"/>
                <a:ea typeface="メイリオ" panose="020B0604030504040204" pitchFamily="50" charset="-128"/>
              </a:rPr>
              <a:t>は、年間売上高が</a:t>
            </a:r>
            <a:r>
              <a:rPr lang="en-US" altLang="ja-JP" sz="1200" dirty="0">
                <a:latin typeface="メイリオ" panose="020B0604030504040204" pitchFamily="50" charset="-128"/>
                <a:ea typeface="メイリオ" panose="020B0604030504040204" pitchFamily="50" charset="-128"/>
              </a:rPr>
              <a:t>10</a:t>
            </a:r>
            <a:r>
              <a:rPr lang="ja-JP" altLang="en-US" sz="1200" dirty="0">
                <a:latin typeface="メイリオ" panose="020B0604030504040204" pitchFamily="50" charset="-128"/>
                <a:ea typeface="メイリオ" panose="020B0604030504040204" pitchFamily="50" charset="-128"/>
              </a:rPr>
              <a:t>億ドルを超える組織に勤務していると回答しています。回答率の差異を調整するため、データは各回答者の国の世界</a:t>
            </a:r>
            <a:r>
              <a:rPr lang="en-US" altLang="ja-JP" sz="1200" dirty="0">
                <a:latin typeface="メイリオ" panose="020B0604030504040204" pitchFamily="50" charset="-128"/>
                <a:ea typeface="メイリオ" panose="020B0604030504040204" pitchFamily="50" charset="-128"/>
              </a:rPr>
              <a:t>GDP</a:t>
            </a:r>
            <a:r>
              <a:rPr lang="ja-JP" altLang="en-US" sz="1200" dirty="0">
                <a:latin typeface="メイリオ" panose="020B0604030504040204" pitchFamily="50" charset="-128"/>
                <a:ea typeface="メイリオ" panose="020B0604030504040204" pitchFamily="50" charset="-128"/>
              </a:rPr>
              <a:t>への貢献度に基づいて加重されています。</a:t>
            </a:r>
          </a:p>
        </p:txBody>
      </p:sp>
      <p:sp>
        <p:nvSpPr>
          <p:cNvPr id="19" name="テキスト ボックス 18">
            <a:extLst>
              <a:ext uri="{FF2B5EF4-FFF2-40B4-BE49-F238E27FC236}">
                <a16:creationId xmlns:a16="http://schemas.microsoft.com/office/drawing/2014/main" id="{D5D0F444-DC63-80B7-0DBC-0C34F77C1FD2}"/>
              </a:ext>
            </a:extLst>
          </p:cNvPr>
          <p:cNvSpPr txBox="1"/>
          <p:nvPr/>
        </p:nvSpPr>
        <p:spPr>
          <a:xfrm>
            <a:off x="6033248" y="2015910"/>
            <a:ext cx="5576047" cy="1200329"/>
          </a:xfrm>
          <a:prstGeom prst="rect">
            <a:avLst/>
          </a:prstGeom>
          <a:noFill/>
        </p:spPr>
        <p:txBody>
          <a:bodyPr wrap="square">
            <a:spAutoFit/>
          </a:bodyPr>
          <a:lstStyle/>
          <a:p>
            <a:r>
              <a:rPr lang="ja-JP" altLang="en-US" sz="1200" dirty="0">
                <a:latin typeface="メイリオ" panose="020B0604030504040204" pitchFamily="50" charset="-128"/>
                <a:ea typeface="メイリオ" panose="020B0604030504040204" pitchFamily="50" charset="-128"/>
              </a:rPr>
              <a:t>　高業績企業は</a:t>
            </a:r>
            <a:r>
              <a:rPr lang="en-US" altLang="ja-JP" sz="1200" dirty="0">
                <a:latin typeface="メイリオ" panose="020B0604030504040204" pitchFamily="50" charset="-128"/>
                <a:ea typeface="メイリオ" panose="020B0604030504040204" pitchFamily="50" charset="-128"/>
              </a:rPr>
              <a:t>AI</a:t>
            </a:r>
            <a:r>
              <a:rPr lang="ja-JP" altLang="en-US" sz="1200" dirty="0">
                <a:latin typeface="メイリオ" panose="020B0604030504040204" pitchFamily="50" charset="-128"/>
                <a:ea typeface="メイリオ" panose="020B0604030504040204" pitchFamily="50" charset="-128"/>
              </a:rPr>
              <a:t>機能への投資を拡大しています。高業績企業の</a:t>
            </a:r>
            <a:r>
              <a:rPr lang="en-US" altLang="ja-JP" sz="1200" dirty="0">
                <a:latin typeface="メイリオ" panose="020B0604030504040204" pitchFamily="50" charset="-128"/>
                <a:ea typeface="メイリオ" panose="020B0604030504040204" pitchFamily="50" charset="-128"/>
              </a:rPr>
              <a:t>3</a:t>
            </a:r>
            <a:r>
              <a:rPr lang="ja-JP" altLang="en-US" sz="1200" dirty="0">
                <a:latin typeface="メイリオ" panose="020B0604030504040204" pitchFamily="50" charset="-128"/>
                <a:ea typeface="メイリオ" panose="020B0604030504040204" pitchFamily="50" charset="-128"/>
              </a:rPr>
              <a:t>分の</a:t>
            </a:r>
            <a:r>
              <a:rPr lang="en-US" altLang="ja-JP" sz="1200" dirty="0">
                <a:latin typeface="メイリオ" panose="020B0604030504040204" pitchFamily="50" charset="-128"/>
                <a:ea typeface="メイリオ" panose="020B0604030504040204" pitchFamily="50" charset="-128"/>
              </a:rPr>
              <a:t>1</a:t>
            </a:r>
            <a:r>
              <a:rPr lang="ja-JP" altLang="en-US" sz="1200" dirty="0">
                <a:latin typeface="メイリオ" panose="020B0604030504040204" pitchFamily="50" charset="-128"/>
                <a:ea typeface="メイリオ" panose="020B0604030504040204" pitchFamily="50" charset="-128"/>
              </a:rPr>
              <a:t>以上が、</a:t>
            </a:r>
            <a:r>
              <a:rPr lang="ja-JP" altLang="en-US" sz="1200" b="1" dirty="0">
                <a:solidFill>
                  <a:srgbClr val="FF0066"/>
                </a:solidFill>
                <a:latin typeface="メイリオ" panose="020B0604030504040204" pitchFamily="50" charset="-128"/>
                <a:ea typeface="メイリオ" panose="020B0604030504040204" pitchFamily="50" charset="-128"/>
              </a:rPr>
              <a:t>自社のデジタル予算の</a:t>
            </a:r>
            <a:r>
              <a:rPr lang="en-US" altLang="ja-JP" sz="1200" b="1" dirty="0">
                <a:solidFill>
                  <a:srgbClr val="FF0066"/>
                </a:solidFill>
                <a:latin typeface="メイリオ" panose="020B0604030504040204" pitchFamily="50" charset="-128"/>
                <a:ea typeface="メイリオ" panose="020B0604030504040204" pitchFamily="50" charset="-128"/>
              </a:rPr>
              <a:t>20%</a:t>
            </a:r>
            <a:r>
              <a:rPr lang="ja-JP" altLang="en-US" sz="1200" b="1" dirty="0">
                <a:solidFill>
                  <a:srgbClr val="FF0066"/>
                </a:solidFill>
                <a:latin typeface="メイリオ" panose="020B0604030504040204" pitchFamily="50" charset="-128"/>
                <a:ea typeface="メイリオ" panose="020B0604030504040204" pitchFamily="50" charset="-128"/>
              </a:rPr>
              <a:t>以上を</a:t>
            </a:r>
            <a:r>
              <a:rPr lang="en-US" altLang="ja-JP" sz="1200" b="1" dirty="0">
                <a:solidFill>
                  <a:srgbClr val="FF0066"/>
                </a:solidFill>
                <a:latin typeface="メイリオ" panose="020B0604030504040204" pitchFamily="50" charset="-128"/>
                <a:ea typeface="メイリオ" panose="020B0604030504040204" pitchFamily="50" charset="-128"/>
              </a:rPr>
              <a:t>AI</a:t>
            </a:r>
            <a:r>
              <a:rPr lang="ja-JP" altLang="en-US" sz="1200" b="1" dirty="0">
                <a:solidFill>
                  <a:srgbClr val="FF0066"/>
                </a:solidFill>
                <a:latin typeface="メイリオ" panose="020B0604030504040204" pitchFamily="50" charset="-128"/>
                <a:ea typeface="メイリオ" panose="020B0604030504040204" pitchFamily="50" charset="-128"/>
              </a:rPr>
              <a:t>テクノロジーに投入</a:t>
            </a:r>
            <a:r>
              <a:rPr lang="ja-JP" altLang="en-US" sz="1200" dirty="0">
                <a:latin typeface="メイリオ" panose="020B0604030504040204" pitchFamily="50" charset="-128"/>
                <a:ea typeface="メイリオ" panose="020B0604030504040204" pitchFamily="50" charset="-128"/>
              </a:rPr>
              <a:t>していると回答しています。これらのリソースは、</a:t>
            </a:r>
            <a:r>
              <a:rPr lang="en-US" altLang="ja-JP" sz="1200" dirty="0">
                <a:latin typeface="メイリオ" panose="020B0604030504040204" pitchFamily="50" charset="-128"/>
                <a:ea typeface="メイリオ" panose="020B0604030504040204" pitchFamily="50" charset="-128"/>
              </a:rPr>
              <a:t>AI</a:t>
            </a:r>
            <a:r>
              <a:rPr lang="ja-JP" altLang="en-US" sz="1200" dirty="0">
                <a:latin typeface="メイリオ" panose="020B0604030504040204" pitchFamily="50" charset="-128"/>
                <a:ea typeface="メイリオ" panose="020B0604030504040204" pitchFamily="50" charset="-128"/>
              </a:rPr>
              <a:t>テクノロジーをビジネス全体に拡大するのに役立っています。高業績企業の約</a:t>
            </a:r>
            <a:r>
              <a:rPr lang="en-US" altLang="ja-JP" sz="1200" dirty="0">
                <a:latin typeface="メイリオ" panose="020B0604030504040204" pitchFamily="50" charset="-128"/>
                <a:ea typeface="メイリオ" panose="020B0604030504040204" pitchFamily="50" charset="-128"/>
              </a:rPr>
              <a:t>4</a:t>
            </a:r>
            <a:r>
              <a:rPr lang="ja-JP" altLang="en-US" sz="1200" dirty="0">
                <a:latin typeface="メイリオ" panose="020B0604030504040204" pitchFamily="50" charset="-128"/>
                <a:ea typeface="メイリオ" panose="020B0604030504040204" pitchFamily="50" charset="-128"/>
              </a:rPr>
              <a:t>分の</a:t>
            </a:r>
            <a:r>
              <a:rPr lang="en-US" altLang="ja-JP" sz="1200" dirty="0">
                <a:latin typeface="メイリオ" panose="020B0604030504040204" pitchFamily="50" charset="-128"/>
                <a:ea typeface="メイリオ" panose="020B0604030504040204" pitchFamily="50" charset="-128"/>
              </a:rPr>
              <a:t>3</a:t>
            </a:r>
            <a:r>
              <a:rPr lang="ja-JP" altLang="en-US" sz="1200" dirty="0">
                <a:latin typeface="メイリオ" panose="020B0604030504040204" pitchFamily="50" charset="-128"/>
                <a:ea typeface="メイリオ" panose="020B0604030504040204" pitchFamily="50" charset="-128"/>
              </a:rPr>
              <a:t>が、自社で</a:t>
            </a:r>
            <a:r>
              <a:rPr lang="en-US" altLang="ja-JP" sz="1200" dirty="0">
                <a:latin typeface="メイリオ" panose="020B0604030504040204" pitchFamily="50" charset="-128"/>
                <a:ea typeface="メイリオ" panose="020B0604030504040204" pitchFamily="50" charset="-128"/>
              </a:rPr>
              <a:t>AI</a:t>
            </a:r>
            <a:r>
              <a:rPr lang="ja-JP" altLang="en-US" sz="1200" dirty="0">
                <a:latin typeface="メイリオ" panose="020B0604030504040204" pitchFamily="50" charset="-128"/>
                <a:ea typeface="メイリオ" panose="020B0604030504040204" pitchFamily="50" charset="-128"/>
              </a:rPr>
              <a:t>を拡大中、または既に拡大済みであると回答しているのに対し、他の企業では</a:t>
            </a:r>
            <a:r>
              <a:rPr lang="en-US" altLang="ja-JP" sz="1200" dirty="0">
                <a:latin typeface="メイリオ" panose="020B0604030504040204" pitchFamily="50" charset="-128"/>
                <a:ea typeface="メイリオ" panose="020B0604030504040204" pitchFamily="50" charset="-128"/>
              </a:rPr>
              <a:t>3</a:t>
            </a:r>
            <a:r>
              <a:rPr lang="ja-JP" altLang="en-US" sz="1200" dirty="0">
                <a:latin typeface="メイリオ" panose="020B0604030504040204" pitchFamily="50" charset="-128"/>
                <a:ea typeface="メイリオ" panose="020B0604030504040204" pitchFamily="50" charset="-128"/>
              </a:rPr>
              <a:t>分の</a:t>
            </a:r>
            <a:r>
              <a:rPr lang="en-US" altLang="ja-JP" sz="1200" dirty="0">
                <a:latin typeface="メイリオ" panose="020B0604030504040204" pitchFamily="50" charset="-128"/>
                <a:ea typeface="メイリオ" panose="020B0604030504040204" pitchFamily="50" charset="-128"/>
              </a:rPr>
              <a:t>1</a:t>
            </a:r>
            <a:r>
              <a:rPr lang="ja-JP" altLang="en-US" sz="1200" dirty="0">
                <a:latin typeface="メイリオ" panose="020B0604030504040204" pitchFamily="50" charset="-128"/>
                <a:ea typeface="メイリオ" panose="020B0604030504040204" pitchFamily="50" charset="-128"/>
              </a:rPr>
              <a:t>にとどまっています。</a:t>
            </a:r>
          </a:p>
        </p:txBody>
      </p:sp>
      <p:pic>
        <p:nvPicPr>
          <p:cNvPr id="20" name="図 19">
            <a:extLst>
              <a:ext uri="{FF2B5EF4-FFF2-40B4-BE49-F238E27FC236}">
                <a16:creationId xmlns:a16="http://schemas.microsoft.com/office/drawing/2014/main" id="{81D51057-2F81-B53C-E536-51435467EFF7}"/>
              </a:ext>
            </a:extLst>
          </p:cNvPr>
          <p:cNvPicPr>
            <a:picLocks noChangeAspect="1"/>
          </p:cNvPicPr>
          <p:nvPr/>
        </p:nvPicPr>
        <p:blipFill>
          <a:blip r:embed="rId3"/>
          <a:stretch>
            <a:fillRect/>
          </a:stretch>
        </p:blipFill>
        <p:spPr>
          <a:xfrm>
            <a:off x="7372105" y="3128682"/>
            <a:ext cx="4237190" cy="3185739"/>
          </a:xfrm>
          <a:prstGeom prst="rect">
            <a:avLst/>
          </a:prstGeom>
        </p:spPr>
      </p:pic>
      <p:sp>
        <p:nvSpPr>
          <p:cNvPr id="21" name="正方形/長方形 20">
            <a:extLst>
              <a:ext uri="{FF2B5EF4-FFF2-40B4-BE49-F238E27FC236}">
                <a16:creationId xmlns:a16="http://schemas.microsoft.com/office/drawing/2014/main" id="{6F942F1F-D0BB-9270-7E15-87CD161B4006}"/>
              </a:ext>
            </a:extLst>
          </p:cNvPr>
          <p:cNvSpPr/>
          <p:nvPr/>
        </p:nvSpPr>
        <p:spPr>
          <a:xfrm>
            <a:off x="1005730" y="4038879"/>
            <a:ext cx="4787150" cy="214033"/>
          </a:xfrm>
          <a:prstGeom prst="rect">
            <a:avLst/>
          </a:prstGeom>
          <a:noFill/>
          <a:ln>
            <a:solidFill>
              <a:srgbClr val="FF00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22" name="正方形/長方形 21">
            <a:extLst>
              <a:ext uri="{FF2B5EF4-FFF2-40B4-BE49-F238E27FC236}">
                <a16:creationId xmlns:a16="http://schemas.microsoft.com/office/drawing/2014/main" id="{76D5D1DC-377B-47FE-2550-B012A2B66CA1}"/>
              </a:ext>
            </a:extLst>
          </p:cNvPr>
          <p:cNvSpPr/>
          <p:nvPr/>
        </p:nvSpPr>
        <p:spPr>
          <a:xfrm>
            <a:off x="1005730" y="5467630"/>
            <a:ext cx="4787150" cy="214033"/>
          </a:xfrm>
          <a:prstGeom prst="rect">
            <a:avLst/>
          </a:prstGeom>
          <a:noFill/>
          <a:ln>
            <a:solidFill>
              <a:srgbClr val="FF00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23" name="テキスト ボックス 22">
            <a:extLst>
              <a:ext uri="{FF2B5EF4-FFF2-40B4-BE49-F238E27FC236}">
                <a16:creationId xmlns:a16="http://schemas.microsoft.com/office/drawing/2014/main" id="{465EDEEB-8073-AB8F-7C4B-5790B2063D47}"/>
              </a:ext>
            </a:extLst>
          </p:cNvPr>
          <p:cNvSpPr txBox="1"/>
          <p:nvPr/>
        </p:nvSpPr>
        <p:spPr>
          <a:xfrm>
            <a:off x="2426354" y="2366611"/>
            <a:ext cx="2002211" cy="261610"/>
          </a:xfrm>
          <a:prstGeom prst="rect">
            <a:avLst/>
          </a:prstGeom>
          <a:noFill/>
        </p:spPr>
        <p:txBody>
          <a:bodyPr wrap="square">
            <a:spAutoFit/>
          </a:bodyPr>
          <a:lstStyle/>
          <a:p>
            <a:r>
              <a:rPr lang="en-US" altLang="ja-JP" sz="1100" dirty="0">
                <a:solidFill>
                  <a:srgbClr val="FF0066"/>
                </a:solidFill>
                <a:latin typeface="メイリオ" panose="020B0604030504040204" pitchFamily="50" charset="-128"/>
                <a:ea typeface="メイリオ" panose="020B0604030504040204" pitchFamily="50" charset="-128"/>
              </a:rPr>
              <a:t>AI</a:t>
            </a:r>
            <a:r>
              <a:rPr lang="ja-JP" altLang="en-US" sz="1100" dirty="0">
                <a:solidFill>
                  <a:srgbClr val="FF0066"/>
                </a:solidFill>
                <a:latin typeface="メイリオ" panose="020B0604030504040204" pitchFamily="50" charset="-128"/>
                <a:ea typeface="メイリオ" panose="020B0604030504040204" pitchFamily="50" charset="-128"/>
              </a:rPr>
              <a:t>エージェント導入の状況</a:t>
            </a:r>
          </a:p>
        </p:txBody>
      </p:sp>
      <p:sp>
        <p:nvSpPr>
          <p:cNvPr id="24" name="テキスト ボックス 23">
            <a:extLst>
              <a:ext uri="{FF2B5EF4-FFF2-40B4-BE49-F238E27FC236}">
                <a16:creationId xmlns:a16="http://schemas.microsoft.com/office/drawing/2014/main" id="{60AEB82D-26B7-D9DA-6796-42632E54F879}"/>
              </a:ext>
            </a:extLst>
          </p:cNvPr>
          <p:cNvSpPr txBox="1"/>
          <p:nvPr/>
        </p:nvSpPr>
        <p:spPr>
          <a:xfrm>
            <a:off x="873780" y="3777269"/>
            <a:ext cx="866774" cy="261610"/>
          </a:xfrm>
          <a:prstGeom prst="rect">
            <a:avLst/>
          </a:prstGeom>
          <a:noFill/>
        </p:spPr>
        <p:txBody>
          <a:bodyPr wrap="square">
            <a:spAutoFit/>
          </a:bodyPr>
          <a:lstStyle/>
          <a:p>
            <a:r>
              <a:rPr lang="ja-JP" altLang="en-US" sz="1100" dirty="0">
                <a:solidFill>
                  <a:srgbClr val="FF0066"/>
                </a:solidFill>
                <a:latin typeface="メイリオ" panose="020B0604030504040204" pitchFamily="50" charset="-128"/>
                <a:ea typeface="メイリオ" panose="020B0604030504040204" pitchFamily="50" charset="-128"/>
              </a:rPr>
              <a:t>製品開発</a:t>
            </a:r>
          </a:p>
        </p:txBody>
      </p:sp>
      <p:sp>
        <p:nvSpPr>
          <p:cNvPr id="25" name="テキスト ボックス 24">
            <a:extLst>
              <a:ext uri="{FF2B5EF4-FFF2-40B4-BE49-F238E27FC236}">
                <a16:creationId xmlns:a16="http://schemas.microsoft.com/office/drawing/2014/main" id="{B6631EC1-A2C4-9A98-6EEA-9B9042526520}"/>
              </a:ext>
            </a:extLst>
          </p:cNvPr>
          <p:cNvSpPr txBox="1"/>
          <p:nvPr/>
        </p:nvSpPr>
        <p:spPr>
          <a:xfrm>
            <a:off x="515473" y="5451072"/>
            <a:ext cx="866774" cy="261610"/>
          </a:xfrm>
          <a:prstGeom prst="rect">
            <a:avLst/>
          </a:prstGeom>
          <a:noFill/>
        </p:spPr>
        <p:txBody>
          <a:bodyPr wrap="square">
            <a:spAutoFit/>
          </a:bodyPr>
          <a:lstStyle/>
          <a:p>
            <a:r>
              <a:rPr lang="ja-JP" altLang="en-US" sz="1100" dirty="0">
                <a:solidFill>
                  <a:srgbClr val="FF0066"/>
                </a:solidFill>
                <a:latin typeface="メイリオ" panose="020B0604030504040204" pitchFamily="50" charset="-128"/>
                <a:ea typeface="メイリオ" panose="020B0604030504040204" pitchFamily="50" charset="-128"/>
              </a:rPr>
              <a:t>製造</a:t>
            </a:r>
          </a:p>
        </p:txBody>
      </p:sp>
      <p:sp>
        <p:nvSpPr>
          <p:cNvPr id="26" name="テキスト ボックス 25">
            <a:extLst>
              <a:ext uri="{FF2B5EF4-FFF2-40B4-BE49-F238E27FC236}">
                <a16:creationId xmlns:a16="http://schemas.microsoft.com/office/drawing/2014/main" id="{85771E21-640A-8905-A580-2EC731BBABFE}"/>
              </a:ext>
            </a:extLst>
          </p:cNvPr>
          <p:cNvSpPr txBox="1"/>
          <p:nvPr/>
        </p:nvSpPr>
        <p:spPr>
          <a:xfrm>
            <a:off x="5842747" y="3848190"/>
            <a:ext cx="1147761" cy="600164"/>
          </a:xfrm>
          <a:prstGeom prst="rect">
            <a:avLst/>
          </a:prstGeom>
          <a:noFill/>
        </p:spPr>
        <p:txBody>
          <a:bodyPr wrap="square">
            <a:spAutoFit/>
          </a:bodyPr>
          <a:lstStyle/>
          <a:p>
            <a:r>
              <a:rPr lang="ja-JP" altLang="en-US" sz="1100" dirty="0">
                <a:solidFill>
                  <a:srgbClr val="FF0066"/>
                </a:solidFill>
                <a:latin typeface="メイリオ" panose="020B0604030504040204" pitchFamily="50" charset="-128"/>
                <a:ea typeface="メイリオ" panose="020B0604030504040204" pitchFamily="50" charset="-128"/>
              </a:rPr>
              <a:t>ほとんどがまだパイロット状況以下</a:t>
            </a:r>
          </a:p>
        </p:txBody>
      </p:sp>
    </p:spTree>
    <p:extLst>
      <p:ext uri="{BB962C8B-B14F-4D97-AF65-F5344CB8AC3E}">
        <p14:creationId xmlns:p14="http://schemas.microsoft.com/office/powerpoint/2010/main" val="12973858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AA33E5-0E2F-0CBC-E890-2FD85C52AD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E04DCE-7AC1-1196-E700-A29D9FB56924}"/>
              </a:ext>
            </a:extLst>
          </p:cNvPr>
          <p:cNvSpPr>
            <a:spLocks noGrp="1"/>
          </p:cNvSpPr>
          <p:nvPr>
            <p:ph type="title"/>
          </p:nvPr>
        </p:nvSpPr>
        <p:spPr>
          <a:xfrm>
            <a:off x="457201" y="274638"/>
            <a:ext cx="11474824" cy="541150"/>
          </a:xfrm>
        </p:spPr>
        <p:txBody>
          <a:bodyPr>
            <a:noAutofit/>
          </a:bodyPr>
          <a:lstStyle/>
          <a:p>
            <a:r>
              <a:rPr lang="ja-JP" altLang="en-US" sz="2400" dirty="0"/>
              <a:t>経営／現場の強いリーダーシップとガバナンス</a:t>
            </a:r>
            <a:endParaRPr sz="2400" dirty="0"/>
          </a:p>
        </p:txBody>
      </p:sp>
      <p:sp>
        <p:nvSpPr>
          <p:cNvPr id="3" name="Content Placeholder 2">
            <a:extLst>
              <a:ext uri="{FF2B5EF4-FFF2-40B4-BE49-F238E27FC236}">
                <a16:creationId xmlns:a16="http://schemas.microsoft.com/office/drawing/2014/main" id="{2DA7CF75-C77F-D81D-0392-1358EB304B23}"/>
              </a:ext>
            </a:extLst>
          </p:cNvPr>
          <p:cNvSpPr>
            <a:spLocks noGrp="1"/>
          </p:cNvSpPr>
          <p:nvPr>
            <p:ph idx="1"/>
          </p:nvPr>
        </p:nvSpPr>
        <p:spPr>
          <a:xfrm>
            <a:off x="515473" y="1094301"/>
            <a:ext cx="11040034" cy="541150"/>
          </a:xfrm>
        </p:spPr>
        <p:txBody>
          <a:bodyPr>
            <a:noAutofit/>
          </a:bodyPr>
          <a:lstStyle/>
          <a:p>
            <a:pPr marL="0" indent="0">
              <a:buNone/>
              <a:defRPr sz="1600">
                <a:latin typeface="Meiryo"/>
              </a:defRPr>
            </a:pPr>
            <a:r>
              <a:rPr lang="ja-JP" altLang="en-US" sz="1600" dirty="0">
                <a:latin typeface="メイリオ" panose="020B0604030504040204" pitchFamily="50" charset="-128"/>
                <a:ea typeface="メイリオ" panose="020B0604030504040204" pitchFamily="50" charset="-128"/>
              </a:rPr>
              <a:t>　</a:t>
            </a:r>
            <a:r>
              <a:rPr sz="1600" dirty="0">
                <a:latin typeface="メイリオ" panose="020B0604030504040204" pitchFamily="50" charset="-128"/>
                <a:ea typeface="メイリオ" panose="020B0604030504040204" pitchFamily="50" charset="-128"/>
              </a:rPr>
              <a:t>失敗企業ではAI導入がIT部門任せ。成功企業は事業部がAI導入を所有し、経営層が支援し、現場が主体的に運用できる体制を構築。ガイドラインやリスク管理も整備され、継続性が高まる。</a:t>
            </a:r>
            <a:r>
              <a:rPr lang="en-US" sz="1600" dirty="0">
                <a:latin typeface="メイリオ" panose="020B0604030504040204" pitchFamily="50" charset="-128"/>
                <a:ea typeface="メイリオ" panose="020B0604030504040204" pitchFamily="50" charset="-128"/>
              </a:rPr>
              <a:t>(</a:t>
            </a:r>
            <a:r>
              <a:rPr lang="ja-JP" altLang="en-US" sz="1600" dirty="0">
                <a:latin typeface="メイリオ" panose="020B0604030504040204" pitchFamily="50" charset="-128"/>
                <a:ea typeface="メイリオ" panose="020B0604030504040204" pitchFamily="50" charset="-128"/>
              </a:rPr>
              <a:t>ハーバードビジネスレビュー</a:t>
            </a:r>
            <a:r>
              <a:rPr lang="en-US" sz="1600" dirty="0">
                <a:latin typeface="メイリオ" panose="020B0604030504040204" pitchFamily="50" charset="-128"/>
                <a:ea typeface="メイリオ" panose="020B0604030504040204" pitchFamily="50" charset="-128"/>
              </a:rPr>
              <a:t>)</a:t>
            </a:r>
            <a:br>
              <a:rPr sz="1600" dirty="0">
                <a:latin typeface="メイリオ" panose="020B0604030504040204" pitchFamily="50" charset="-128"/>
                <a:ea typeface="メイリオ" panose="020B0604030504040204" pitchFamily="50" charset="-128"/>
              </a:rPr>
            </a:br>
            <a:endParaRPr sz="1600" dirty="0">
              <a:latin typeface="メイリオ" panose="020B0604030504040204" pitchFamily="50" charset="-128"/>
              <a:ea typeface="メイリオ" panose="020B0604030504040204" pitchFamily="50" charset="-128"/>
            </a:endParaRPr>
          </a:p>
        </p:txBody>
      </p:sp>
      <p:sp>
        <p:nvSpPr>
          <p:cNvPr id="4" name="テキスト ボックス 3">
            <a:extLst>
              <a:ext uri="{FF2B5EF4-FFF2-40B4-BE49-F238E27FC236}">
                <a16:creationId xmlns:a16="http://schemas.microsoft.com/office/drawing/2014/main" id="{9EA4E9EF-F96E-3EC1-9E83-3A6ED68BB9EA}"/>
              </a:ext>
            </a:extLst>
          </p:cNvPr>
          <p:cNvSpPr txBox="1"/>
          <p:nvPr/>
        </p:nvSpPr>
        <p:spPr>
          <a:xfrm>
            <a:off x="511176" y="1635451"/>
            <a:ext cx="11098307" cy="307777"/>
          </a:xfrm>
          <a:prstGeom prst="rect">
            <a:avLst/>
          </a:prstGeom>
          <a:noFill/>
        </p:spPr>
        <p:txBody>
          <a:bodyPr wrap="square">
            <a:spAutoFit/>
          </a:bodyPr>
          <a:lstStyle/>
          <a:p>
            <a:r>
              <a:rPr lang="en-US" altLang="ja-JP" sz="1400" dirty="0"/>
              <a:t>https://hbr.org/2025/09/what-companies-with-successful-ai-pilots-do-differently?utm_source=chatgpt.com</a:t>
            </a:r>
            <a:endParaRPr lang="ja-JP" altLang="en-US" sz="1400" dirty="0"/>
          </a:p>
        </p:txBody>
      </p:sp>
      <p:sp>
        <p:nvSpPr>
          <p:cNvPr id="5" name="正方形/長方形 4">
            <a:extLst>
              <a:ext uri="{FF2B5EF4-FFF2-40B4-BE49-F238E27FC236}">
                <a16:creationId xmlns:a16="http://schemas.microsoft.com/office/drawing/2014/main" id="{157D6E54-FA2F-022C-5DE9-539522653DA4}"/>
              </a:ext>
            </a:extLst>
          </p:cNvPr>
          <p:cNvSpPr/>
          <p:nvPr/>
        </p:nvSpPr>
        <p:spPr>
          <a:xfrm>
            <a:off x="315072" y="2070847"/>
            <a:ext cx="11474824" cy="4215276"/>
          </a:xfrm>
          <a:prstGeom prst="rect">
            <a:avLst/>
          </a:prstGeom>
          <a:no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sp>
        <p:nvSpPr>
          <p:cNvPr id="7" name="テキスト ボックス 6">
            <a:extLst>
              <a:ext uri="{FF2B5EF4-FFF2-40B4-BE49-F238E27FC236}">
                <a16:creationId xmlns:a16="http://schemas.microsoft.com/office/drawing/2014/main" id="{74B8E522-B044-8CB4-44CF-0086B5DD92E9}"/>
              </a:ext>
            </a:extLst>
          </p:cNvPr>
          <p:cNvSpPr txBox="1"/>
          <p:nvPr/>
        </p:nvSpPr>
        <p:spPr>
          <a:xfrm>
            <a:off x="416861" y="2125352"/>
            <a:ext cx="11162177" cy="1384995"/>
          </a:xfrm>
          <a:prstGeom prst="rect">
            <a:avLst/>
          </a:prstGeom>
          <a:noFill/>
        </p:spPr>
        <p:txBody>
          <a:bodyPr wrap="square">
            <a:spAutoFit/>
          </a:bodyPr>
          <a:lstStyle/>
          <a:p>
            <a:r>
              <a:rPr lang="ja-JP" altLang="en-US" sz="1200" dirty="0">
                <a:latin typeface="メイリオ" panose="020B0604030504040204" pitchFamily="50" charset="-128"/>
                <a:ea typeface="メイリオ" panose="020B0604030504040204" pitchFamily="50" charset="-128"/>
              </a:rPr>
              <a:t>要約</a:t>
            </a:r>
            <a:endParaRPr lang="en-US" altLang="ja-JP" sz="1200" dirty="0">
              <a:latin typeface="メイリオ" panose="020B0604030504040204" pitchFamily="50" charset="-128"/>
              <a:ea typeface="メイリオ" panose="020B0604030504040204" pitchFamily="50" charset="-128"/>
            </a:endParaRPr>
          </a:p>
          <a:p>
            <a:r>
              <a:rPr lang="ja-JP" altLang="en-US" sz="1200" dirty="0">
                <a:latin typeface="メイリオ" panose="020B0604030504040204" pitchFamily="50" charset="-128"/>
                <a:ea typeface="メイリオ" panose="020B0604030504040204" pitchFamily="50" charset="-128"/>
              </a:rPr>
              <a:t>　</a:t>
            </a:r>
            <a:r>
              <a:rPr lang="en-US" altLang="ja-JP" sz="1200" dirty="0">
                <a:latin typeface="メイリオ" panose="020B0604030504040204" pitchFamily="50" charset="-128"/>
                <a:ea typeface="メイリオ" panose="020B0604030504040204" pitchFamily="50" charset="-128"/>
              </a:rPr>
              <a:t>MIT</a:t>
            </a:r>
            <a:r>
              <a:rPr lang="ja-JP" altLang="en-US" sz="1200" dirty="0">
                <a:latin typeface="メイリオ" panose="020B0604030504040204" pitchFamily="50" charset="-128"/>
                <a:ea typeface="メイリオ" panose="020B0604030504040204" pitchFamily="50" charset="-128"/>
              </a:rPr>
              <a:t>の調査によれば、ジェネレーティブ</a:t>
            </a:r>
            <a:r>
              <a:rPr lang="en-US" altLang="ja-JP" sz="1200" dirty="0">
                <a:latin typeface="メイリオ" panose="020B0604030504040204" pitchFamily="50" charset="-128"/>
                <a:ea typeface="メイリオ" panose="020B0604030504040204" pitchFamily="50" charset="-128"/>
              </a:rPr>
              <a:t>AI</a:t>
            </a:r>
            <a:r>
              <a:rPr lang="ja-JP" altLang="en-US" sz="1200" dirty="0">
                <a:latin typeface="メイリオ" panose="020B0604030504040204" pitchFamily="50" charset="-128"/>
                <a:ea typeface="メイリオ" panose="020B0604030504040204" pitchFamily="50" charset="-128"/>
              </a:rPr>
              <a:t>導入の</a:t>
            </a:r>
            <a:r>
              <a:rPr lang="en-US" altLang="ja-JP" sz="1200" dirty="0">
                <a:latin typeface="メイリオ" panose="020B0604030504040204" pitchFamily="50" charset="-128"/>
                <a:ea typeface="メイリオ" panose="020B0604030504040204" pitchFamily="50" charset="-128"/>
              </a:rPr>
              <a:t>95</a:t>
            </a:r>
            <a:r>
              <a:rPr lang="ja-JP" altLang="en-US" sz="1200" dirty="0">
                <a:latin typeface="メイリオ" panose="020B0604030504040204" pitchFamily="50" charset="-128"/>
                <a:ea typeface="メイリオ" panose="020B0604030504040204" pitchFamily="50" charset="-128"/>
              </a:rPr>
              <a:t>％の企業が</a:t>
            </a:r>
            <a:r>
              <a:rPr lang="en-US" altLang="ja-JP" sz="1200" dirty="0">
                <a:latin typeface="メイリオ" panose="020B0604030504040204" pitchFamily="50" charset="-128"/>
                <a:ea typeface="メイリオ" panose="020B0604030504040204" pitchFamily="50" charset="-128"/>
              </a:rPr>
              <a:t>ROI</a:t>
            </a:r>
            <a:r>
              <a:rPr lang="ja-JP" altLang="en-US" sz="1200" dirty="0">
                <a:latin typeface="メイリオ" panose="020B0604030504040204" pitchFamily="50" charset="-128"/>
                <a:ea typeface="メイリオ" panose="020B0604030504040204" pitchFamily="50" charset="-128"/>
              </a:rPr>
              <a:t>を出せていない。「成功している</a:t>
            </a:r>
            <a:r>
              <a:rPr lang="en-US" altLang="ja-JP" sz="1200" dirty="0">
                <a:latin typeface="メイリオ" panose="020B0604030504040204" pitchFamily="50" charset="-128"/>
                <a:ea typeface="メイリオ" panose="020B0604030504040204" pitchFamily="50" charset="-128"/>
              </a:rPr>
              <a:t>5</a:t>
            </a:r>
            <a:r>
              <a:rPr lang="ja-JP" altLang="en-US" sz="1200" dirty="0">
                <a:latin typeface="メイリオ" panose="020B0604030504040204" pitchFamily="50" charset="-128"/>
                <a:ea typeface="メイリオ" panose="020B0604030504040204" pitchFamily="50" charset="-128"/>
              </a:rPr>
              <a:t>％の企業は何が違うのか」を調査</a:t>
            </a:r>
            <a:endParaRPr lang="en-US" altLang="ja-JP" sz="1200" dirty="0">
              <a:latin typeface="メイリオ" panose="020B0604030504040204" pitchFamily="50" charset="-128"/>
              <a:ea typeface="メイリオ" panose="020B0604030504040204" pitchFamily="50" charset="-128"/>
            </a:endParaRPr>
          </a:p>
          <a:p>
            <a:r>
              <a:rPr lang="ja-JP" altLang="en-US" sz="1200" dirty="0">
                <a:latin typeface="メイリオ" panose="020B0604030504040204" pitchFamily="50" charset="-128"/>
                <a:ea typeface="メイリオ" panose="020B0604030504040204" pitchFamily="50" charset="-128"/>
              </a:rPr>
              <a:t>　その結果、最大の違いは“リーダーシップ”であることが明らかになった。</a:t>
            </a:r>
            <a:r>
              <a:rPr lang="en-US" altLang="ja-JP" sz="1200" dirty="0">
                <a:latin typeface="メイリオ" panose="020B0604030504040204" pitchFamily="50" charset="-128"/>
                <a:ea typeface="メイリオ" panose="020B0604030504040204" pitchFamily="50" charset="-128"/>
              </a:rPr>
              <a:t>53</a:t>
            </a:r>
            <a:r>
              <a:rPr lang="ja-JP" altLang="en-US" sz="1200" dirty="0">
                <a:latin typeface="メイリオ" panose="020B0604030504040204" pitchFamily="50" charset="-128"/>
                <a:ea typeface="メイリオ" panose="020B0604030504040204" pitchFamily="50" charset="-128"/>
              </a:rPr>
              <a:t>名のシニアリーダーへの調査では、</a:t>
            </a:r>
            <a:r>
              <a:rPr lang="en-US" altLang="ja-JP" sz="1200" dirty="0">
                <a:latin typeface="メイリオ" panose="020B0604030504040204" pitchFamily="50" charset="-128"/>
                <a:ea typeface="メイリオ" panose="020B0604030504040204" pitchFamily="50" charset="-128"/>
              </a:rPr>
              <a:t>AI</a:t>
            </a:r>
            <a:r>
              <a:rPr lang="ja-JP" altLang="en-US" sz="1200" dirty="0">
                <a:latin typeface="メイリオ" panose="020B0604030504040204" pitchFamily="50" charset="-128"/>
                <a:ea typeface="メイリオ" panose="020B0604030504040204" pitchFamily="50" charset="-128"/>
              </a:rPr>
              <a:t>の</a:t>
            </a:r>
            <a:r>
              <a:rPr lang="en-US" altLang="ja-JP" sz="1200" dirty="0">
                <a:latin typeface="メイリオ" panose="020B0604030504040204" pitchFamily="50" charset="-128"/>
                <a:ea typeface="メイリオ" panose="020B0604030504040204" pitchFamily="50" charset="-128"/>
              </a:rPr>
              <a:t>ROI</a:t>
            </a:r>
            <a:r>
              <a:rPr lang="ja-JP" altLang="en-US" sz="1200" dirty="0">
                <a:latin typeface="メイリオ" panose="020B0604030504040204" pitchFamily="50" charset="-128"/>
                <a:ea typeface="メイリオ" panose="020B0604030504040204" pitchFamily="50" charset="-128"/>
              </a:rPr>
              <a:t>を最も左右する要因として**</a:t>
            </a:r>
            <a:r>
              <a:rPr lang="en-US" altLang="ja-JP" sz="1200" dirty="0">
                <a:latin typeface="メイリオ" panose="020B0604030504040204" pitchFamily="50" charset="-128"/>
                <a:ea typeface="メイリオ" panose="020B0604030504040204" pitchFamily="50" charset="-128"/>
              </a:rPr>
              <a:t>47</a:t>
            </a:r>
            <a:r>
              <a:rPr lang="ja-JP" altLang="en-US" sz="1200" dirty="0">
                <a:latin typeface="メイリオ" panose="020B0604030504040204" pitchFamily="50" charset="-128"/>
                <a:ea typeface="メイリオ" panose="020B0604030504040204" pitchFamily="50" charset="-128"/>
              </a:rPr>
              <a:t>％が「リーダーシップの質」**を挙げ、技術力・ワークフロー統合・組織文化よりもはるかに重要とされた。成功企業には「アーキテクト（</a:t>
            </a:r>
            <a:r>
              <a:rPr lang="en-US" altLang="ja-JP" sz="1200" dirty="0">
                <a:latin typeface="メイリオ" panose="020B0604030504040204" pitchFamily="50" charset="-128"/>
                <a:ea typeface="メイリオ" panose="020B0604030504040204" pitchFamily="50" charset="-128"/>
              </a:rPr>
              <a:t>AI</a:t>
            </a:r>
            <a:r>
              <a:rPr lang="ja-JP" altLang="en-US" sz="1200" dirty="0">
                <a:latin typeface="メイリオ" panose="020B0604030504040204" pitchFamily="50" charset="-128"/>
                <a:ea typeface="メイリオ" panose="020B0604030504040204" pitchFamily="50" charset="-128"/>
              </a:rPr>
              <a:t>技術者）」だけでなく、</a:t>
            </a:r>
            <a:r>
              <a:rPr lang="en-US" altLang="ja-JP" sz="1200" b="1" dirty="0">
                <a:solidFill>
                  <a:srgbClr val="FF0066"/>
                </a:solidFill>
                <a:latin typeface="メイリオ" panose="020B0604030504040204" pitchFamily="50" charset="-128"/>
                <a:ea typeface="メイリオ" panose="020B0604030504040204" pitchFamily="50" charset="-128"/>
              </a:rPr>
              <a:t>AI</a:t>
            </a:r>
            <a:r>
              <a:rPr lang="ja-JP" altLang="en-US" sz="1200" b="1" dirty="0">
                <a:solidFill>
                  <a:srgbClr val="FF0066"/>
                </a:solidFill>
                <a:latin typeface="メイリオ" panose="020B0604030504040204" pitchFamily="50" charset="-128"/>
                <a:ea typeface="メイリオ" panose="020B0604030504040204" pitchFamily="50" charset="-128"/>
              </a:rPr>
              <a:t>を業務価値に翻訳し、組織採用を推進する**“シェイパー（</a:t>
            </a:r>
            <a:r>
              <a:rPr lang="en-US" altLang="ja-JP" sz="1200" b="1" dirty="0">
                <a:solidFill>
                  <a:srgbClr val="FF0066"/>
                </a:solidFill>
                <a:latin typeface="メイリオ" panose="020B0604030504040204" pitchFamily="50" charset="-128"/>
                <a:ea typeface="メイリオ" panose="020B0604030504040204" pitchFamily="50" charset="-128"/>
              </a:rPr>
              <a:t>AI</a:t>
            </a:r>
            <a:r>
              <a:rPr lang="ja-JP" altLang="en-US" sz="1200" b="1" dirty="0">
                <a:solidFill>
                  <a:srgbClr val="FF0066"/>
                </a:solidFill>
                <a:latin typeface="メイリオ" panose="020B0604030504040204" pitchFamily="50" charset="-128"/>
                <a:ea typeface="メイリオ" panose="020B0604030504040204" pitchFamily="50" charset="-128"/>
              </a:rPr>
              <a:t>活用を牽引するビジネスリーダー）”**が存在</a:t>
            </a:r>
            <a:r>
              <a:rPr lang="ja-JP" altLang="en-US" sz="1200" dirty="0">
                <a:latin typeface="メイリオ" panose="020B0604030504040204" pitchFamily="50" charset="-128"/>
                <a:ea typeface="メイリオ" panose="020B0604030504040204" pitchFamily="50" charset="-128"/>
              </a:rPr>
              <a:t>している。これは特定の職位ではなく、</a:t>
            </a:r>
            <a:r>
              <a:rPr lang="en-US" altLang="ja-JP" sz="1200" dirty="0">
                <a:latin typeface="メイリオ" panose="020B0604030504040204" pitchFamily="50" charset="-128"/>
                <a:ea typeface="メイリオ" panose="020B0604030504040204" pitchFamily="50" charset="-128"/>
              </a:rPr>
              <a:t>CEO</a:t>
            </a:r>
            <a:r>
              <a:rPr lang="ja-JP" altLang="en-US" sz="1200" dirty="0">
                <a:latin typeface="メイリオ" panose="020B0604030504040204" pitchFamily="50" charset="-128"/>
                <a:ea typeface="メイリオ" panose="020B0604030504040204" pitchFamily="50" charset="-128"/>
              </a:rPr>
              <a:t>・</a:t>
            </a:r>
            <a:r>
              <a:rPr lang="en-US" altLang="ja-JP" sz="1200" dirty="0">
                <a:latin typeface="メイリオ" panose="020B0604030504040204" pitchFamily="50" charset="-128"/>
                <a:ea typeface="メイリオ" panose="020B0604030504040204" pitchFamily="50" charset="-128"/>
              </a:rPr>
              <a:t>CFO</a:t>
            </a:r>
            <a:r>
              <a:rPr lang="ja-JP" altLang="en-US" sz="1200" dirty="0">
                <a:latin typeface="メイリオ" panose="020B0604030504040204" pitchFamily="50" charset="-128"/>
                <a:ea typeface="メイリオ" panose="020B0604030504040204" pitchFamily="50" charset="-128"/>
              </a:rPr>
              <a:t>・</a:t>
            </a:r>
            <a:r>
              <a:rPr lang="en-US" altLang="ja-JP" sz="1200" dirty="0">
                <a:latin typeface="メイリオ" panose="020B0604030504040204" pitchFamily="50" charset="-128"/>
                <a:ea typeface="メイリオ" panose="020B0604030504040204" pitchFamily="50" charset="-128"/>
              </a:rPr>
              <a:t>CHRO</a:t>
            </a:r>
            <a:r>
              <a:rPr lang="ja-JP" altLang="en-US" sz="1200" dirty="0">
                <a:latin typeface="メイリオ" panose="020B0604030504040204" pitchFamily="50" charset="-128"/>
                <a:ea typeface="メイリオ" panose="020B0604030504040204" pitchFamily="50" charset="-128"/>
              </a:rPr>
              <a:t>など、全てのシニアリーダーが担うべき役割である。成功組織に共通するシェイパーの</a:t>
            </a:r>
            <a:r>
              <a:rPr lang="en-US" altLang="ja-JP" sz="1200" b="1" dirty="0">
                <a:solidFill>
                  <a:srgbClr val="FF0066"/>
                </a:solidFill>
                <a:latin typeface="メイリオ" panose="020B0604030504040204" pitchFamily="50" charset="-128"/>
                <a:ea typeface="メイリオ" panose="020B0604030504040204" pitchFamily="50" charset="-128"/>
              </a:rPr>
              <a:t>5</a:t>
            </a:r>
            <a:r>
              <a:rPr lang="ja-JP" altLang="en-US" sz="1200" b="1" dirty="0">
                <a:solidFill>
                  <a:srgbClr val="FF0066"/>
                </a:solidFill>
                <a:latin typeface="メイリオ" panose="020B0604030504040204" pitchFamily="50" charset="-128"/>
                <a:ea typeface="メイリオ" panose="020B0604030504040204" pitchFamily="50" charset="-128"/>
              </a:rPr>
              <a:t>つの行動特性を </a:t>
            </a:r>
            <a:r>
              <a:rPr lang="en-US" altLang="ja-JP" sz="1200" b="1" dirty="0">
                <a:solidFill>
                  <a:srgbClr val="FF0066"/>
                </a:solidFill>
                <a:latin typeface="メイリオ" panose="020B0604030504040204" pitchFamily="50" charset="-128"/>
                <a:ea typeface="メイリオ" panose="020B0604030504040204" pitchFamily="50" charset="-128"/>
              </a:rPr>
              <a:t>SHAPE index </a:t>
            </a:r>
            <a:r>
              <a:rPr lang="ja-JP" altLang="en-US" sz="1200" dirty="0">
                <a:latin typeface="メイリオ" panose="020B0604030504040204" pitchFamily="50" charset="-128"/>
                <a:ea typeface="メイリオ" panose="020B0604030504040204" pitchFamily="50" charset="-128"/>
              </a:rPr>
              <a:t>として整理し、以下の能力が</a:t>
            </a:r>
            <a:r>
              <a:rPr lang="en-US" altLang="ja-JP" sz="1200" dirty="0">
                <a:latin typeface="メイリオ" panose="020B0604030504040204" pitchFamily="50" charset="-128"/>
                <a:ea typeface="メイリオ" panose="020B0604030504040204" pitchFamily="50" charset="-128"/>
              </a:rPr>
              <a:t>AI</a:t>
            </a:r>
            <a:r>
              <a:rPr lang="ja-JP" altLang="en-US" sz="1200" dirty="0">
                <a:latin typeface="メイリオ" panose="020B0604030504040204" pitchFamily="50" charset="-128"/>
                <a:ea typeface="メイリオ" panose="020B0604030504040204" pitchFamily="50" charset="-128"/>
              </a:rPr>
              <a:t>活用の差を生むとした。</a:t>
            </a:r>
          </a:p>
        </p:txBody>
      </p:sp>
      <p:sp>
        <p:nvSpPr>
          <p:cNvPr id="8" name="テキスト ボックス 7">
            <a:extLst>
              <a:ext uri="{FF2B5EF4-FFF2-40B4-BE49-F238E27FC236}">
                <a16:creationId xmlns:a16="http://schemas.microsoft.com/office/drawing/2014/main" id="{A32D2E21-5AAF-8A83-3961-950B9E2DF53E}"/>
              </a:ext>
            </a:extLst>
          </p:cNvPr>
          <p:cNvSpPr txBox="1"/>
          <p:nvPr/>
        </p:nvSpPr>
        <p:spPr>
          <a:xfrm>
            <a:off x="315072" y="6418729"/>
            <a:ext cx="6115049" cy="261610"/>
          </a:xfrm>
          <a:prstGeom prst="rect">
            <a:avLst/>
          </a:prstGeom>
          <a:noFill/>
        </p:spPr>
        <p:txBody>
          <a:bodyPr wrap="square">
            <a:spAutoFit/>
          </a:bodyPr>
          <a:lstStyle/>
          <a:p>
            <a:r>
              <a:rPr lang="ja-JP" altLang="en-US" sz="1100" b="1" dirty="0">
                <a:solidFill>
                  <a:schemeClr val="bg1"/>
                </a:solidFill>
                <a:latin typeface="メイリオ" panose="020B0604030504040204" pitchFamily="50" charset="-128"/>
                <a:ea typeface="メイリオ" panose="020B0604030504040204" pitchFamily="50" charset="-128"/>
              </a:rPr>
              <a:t>このレポートも</a:t>
            </a:r>
            <a:r>
              <a:rPr lang="en-US" altLang="ja-JP" sz="1100" b="1" dirty="0">
                <a:solidFill>
                  <a:schemeClr val="bg1"/>
                </a:solidFill>
                <a:latin typeface="メイリオ" panose="020B0604030504040204" pitchFamily="50" charset="-128"/>
                <a:ea typeface="メイリオ" panose="020B0604030504040204" pitchFamily="50" charset="-128"/>
              </a:rPr>
              <a:t>2025/9/12</a:t>
            </a:r>
            <a:r>
              <a:rPr lang="ja-JP" altLang="en-US" sz="1100" b="1" dirty="0">
                <a:solidFill>
                  <a:schemeClr val="bg1"/>
                </a:solidFill>
                <a:latin typeface="メイリオ" panose="020B0604030504040204" pitchFamily="50" charset="-128"/>
                <a:ea typeface="メイリオ" panose="020B0604030504040204" pitchFamily="50" charset="-128"/>
              </a:rPr>
              <a:t>と新しい、成功する </a:t>
            </a:r>
            <a:r>
              <a:rPr lang="en-US" altLang="ja-JP" sz="1100" b="1" dirty="0">
                <a:solidFill>
                  <a:schemeClr val="bg1"/>
                </a:solidFill>
                <a:latin typeface="メイリオ" panose="020B0604030504040204" pitchFamily="50" charset="-128"/>
                <a:ea typeface="メイリオ" panose="020B0604030504040204" pitchFamily="50" charset="-128"/>
              </a:rPr>
              <a:t>5% </a:t>
            </a:r>
            <a:r>
              <a:rPr lang="ja-JP" altLang="en-US" sz="1100" b="1" dirty="0">
                <a:solidFill>
                  <a:schemeClr val="bg1"/>
                </a:solidFill>
                <a:latin typeface="メイリオ" panose="020B0604030504040204" pitchFamily="50" charset="-128"/>
                <a:ea typeface="メイリオ" panose="020B0604030504040204" pitchFamily="50" charset="-128"/>
              </a:rPr>
              <a:t>の人たちは何が違うのかの調査結果</a:t>
            </a:r>
            <a:endParaRPr lang="ja-JP" altLang="en-US" sz="1100" b="1" dirty="0">
              <a:solidFill>
                <a:schemeClr val="bg1"/>
              </a:solidFill>
            </a:endParaRPr>
          </a:p>
        </p:txBody>
      </p:sp>
      <p:sp>
        <p:nvSpPr>
          <p:cNvPr id="10" name="テキスト ボックス 9">
            <a:extLst>
              <a:ext uri="{FF2B5EF4-FFF2-40B4-BE49-F238E27FC236}">
                <a16:creationId xmlns:a16="http://schemas.microsoft.com/office/drawing/2014/main" id="{C947D717-0BBB-075C-45CF-A5D74148DE7A}"/>
              </a:ext>
            </a:extLst>
          </p:cNvPr>
          <p:cNvSpPr txBox="1"/>
          <p:nvPr/>
        </p:nvSpPr>
        <p:spPr>
          <a:xfrm>
            <a:off x="412565" y="3525686"/>
            <a:ext cx="10917332" cy="2062103"/>
          </a:xfrm>
          <a:prstGeom prst="rect">
            <a:avLst/>
          </a:prstGeom>
          <a:noFill/>
        </p:spPr>
        <p:txBody>
          <a:bodyPr wrap="square">
            <a:spAutoFit/>
          </a:bodyPr>
          <a:lstStyle/>
          <a:p>
            <a:r>
              <a:rPr lang="en-US" altLang="ja-JP" sz="1200" b="1" dirty="0">
                <a:latin typeface="メイリオ" panose="020B0604030504040204" pitchFamily="50" charset="-128"/>
                <a:ea typeface="メイリオ" panose="020B0604030504040204" pitchFamily="50" charset="-128"/>
              </a:rPr>
              <a:t>SHAPE index</a:t>
            </a:r>
            <a:r>
              <a:rPr lang="ja-JP" altLang="en-US" sz="1200" b="1" dirty="0">
                <a:latin typeface="メイリオ" panose="020B0604030504040204" pitchFamily="50" charset="-128"/>
                <a:ea typeface="メイリオ" panose="020B0604030504040204" pitchFamily="50" charset="-128"/>
              </a:rPr>
              <a:t>（成功企業の</a:t>
            </a:r>
            <a:r>
              <a:rPr lang="en-US" altLang="ja-JP" sz="1200" b="1" dirty="0">
                <a:latin typeface="メイリオ" panose="020B0604030504040204" pitchFamily="50" charset="-128"/>
                <a:ea typeface="メイリオ" panose="020B0604030504040204" pitchFamily="50" charset="-128"/>
              </a:rPr>
              <a:t>AI</a:t>
            </a:r>
            <a:r>
              <a:rPr lang="ja-JP" altLang="en-US" sz="1200" b="1" dirty="0">
                <a:latin typeface="メイリオ" panose="020B0604030504040204" pitchFamily="50" charset="-128"/>
                <a:ea typeface="メイリオ" panose="020B0604030504040204" pitchFamily="50" charset="-128"/>
              </a:rPr>
              <a:t>リーダーが持つ</a:t>
            </a:r>
            <a:r>
              <a:rPr lang="en-US" altLang="ja-JP" sz="1200" b="1" dirty="0">
                <a:latin typeface="メイリオ" panose="020B0604030504040204" pitchFamily="50" charset="-128"/>
                <a:ea typeface="メイリオ" panose="020B0604030504040204" pitchFamily="50" charset="-128"/>
              </a:rPr>
              <a:t>5</a:t>
            </a:r>
            <a:r>
              <a:rPr lang="ja-JP" altLang="en-US" sz="1200" b="1" dirty="0">
                <a:latin typeface="メイリオ" panose="020B0604030504040204" pitchFamily="50" charset="-128"/>
                <a:ea typeface="メイリオ" panose="020B0604030504040204" pitchFamily="50" charset="-128"/>
              </a:rPr>
              <a:t>つの能力）</a:t>
            </a:r>
            <a:endParaRPr lang="en-US" altLang="ja-JP" sz="1200" b="1" dirty="0">
              <a:latin typeface="メイリオ" panose="020B0604030504040204" pitchFamily="50" charset="-128"/>
              <a:ea typeface="メイリオ" panose="020B0604030504040204" pitchFamily="50" charset="-128"/>
            </a:endParaRPr>
          </a:p>
          <a:p>
            <a:pPr marL="342900" indent="-342900">
              <a:buAutoNum type="arabicPeriod"/>
            </a:pPr>
            <a:r>
              <a:rPr lang="en-US" altLang="ja-JP" sz="1200" b="1" dirty="0">
                <a:latin typeface="メイリオ" panose="020B0604030504040204" pitchFamily="50" charset="-128"/>
                <a:ea typeface="メイリオ" panose="020B0604030504040204" pitchFamily="50" charset="-128"/>
              </a:rPr>
              <a:t>Strategic Agility</a:t>
            </a:r>
            <a:r>
              <a:rPr lang="ja-JP" altLang="en-US" sz="1200" b="1" dirty="0">
                <a:latin typeface="メイリオ" panose="020B0604030504040204" pitchFamily="50" charset="-128"/>
                <a:ea typeface="メイリオ" panose="020B0604030504040204" pitchFamily="50" charset="-128"/>
              </a:rPr>
              <a:t>（戦略的俊敏性）</a:t>
            </a:r>
            <a:endParaRPr lang="en-US" altLang="ja-JP" sz="1200" b="1" dirty="0">
              <a:latin typeface="メイリオ" panose="020B0604030504040204" pitchFamily="50" charset="-128"/>
              <a:ea typeface="メイリオ" panose="020B0604030504040204" pitchFamily="50" charset="-128"/>
            </a:endParaRPr>
          </a:p>
          <a:p>
            <a:r>
              <a:rPr lang="ja-JP" altLang="en-US" sz="1100" dirty="0">
                <a:latin typeface="メイリオ" panose="020B0604030504040204" pitchFamily="50" charset="-128"/>
                <a:ea typeface="メイリオ" panose="020B0604030504040204" pitchFamily="50" charset="-128"/>
              </a:rPr>
              <a:t>長期視点と短期の方向転換を両立不確実性を前提に計画し、価値の高い方向へ柔軟に軌道修正する調査では最も重要な能力として</a:t>
            </a:r>
            <a:r>
              <a:rPr lang="en-US" altLang="ja-JP" sz="1100" dirty="0">
                <a:latin typeface="メイリオ" panose="020B0604030504040204" pitchFamily="50" charset="-128"/>
                <a:ea typeface="メイリオ" panose="020B0604030504040204" pitchFamily="50" charset="-128"/>
              </a:rPr>
              <a:t>65</a:t>
            </a:r>
            <a:r>
              <a:rPr lang="ja-JP" altLang="en-US" sz="1100" dirty="0">
                <a:latin typeface="メイリオ" panose="020B0604030504040204" pitchFamily="50" charset="-128"/>
                <a:ea typeface="メイリオ" panose="020B0604030504040204" pitchFamily="50" charset="-128"/>
              </a:rPr>
              <a:t>％が選択</a:t>
            </a:r>
            <a:endParaRPr lang="en-US" altLang="ja-JP" sz="1100" dirty="0">
              <a:latin typeface="メイリオ" panose="020B0604030504040204" pitchFamily="50" charset="-128"/>
              <a:ea typeface="メイリオ" panose="020B0604030504040204" pitchFamily="50" charset="-128"/>
            </a:endParaRPr>
          </a:p>
          <a:p>
            <a:r>
              <a:rPr lang="en-US" altLang="ja-JP" sz="1200" b="1" dirty="0">
                <a:latin typeface="メイリオ" panose="020B0604030504040204" pitchFamily="50" charset="-128"/>
                <a:ea typeface="メイリオ" panose="020B0604030504040204" pitchFamily="50" charset="-128"/>
              </a:rPr>
              <a:t>2. Human Centricity</a:t>
            </a:r>
            <a:r>
              <a:rPr lang="ja-JP" altLang="en-US" sz="1200" b="1" dirty="0">
                <a:latin typeface="メイリオ" panose="020B0604030504040204" pitchFamily="50" charset="-128"/>
                <a:ea typeface="メイリオ" panose="020B0604030504040204" pitchFamily="50" charset="-128"/>
              </a:rPr>
              <a:t>（人間中心性）</a:t>
            </a:r>
            <a:endParaRPr lang="en-US" altLang="ja-JP" sz="1200" b="1" dirty="0">
              <a:latin typeface="メイリオ" panose="020B0604030504040204" pitchFamily="50" charset="-128"/>
              <a:ea typeface="メイリオ" panose="020B0604030504040204" pitchFamily="50" charset="-128"/>
            </a:endParaRPr>
          </a:p>
          <a:p>
            <a:r>
              <a:rPr lang="en-US" altLang="ja-JP" sz="1100" dirty="0">
                <a:latin typeface="メイリオ" panose="020B0604030504040204" pitchFamily="50" charset="-128"/>
                <a:ea typeface="メイリオ" panose="020B0604030504040204" pitchFamily="50" charset="-128"/>
              </a:rPr>
              <a:t>AI</a:t>
            </a:r>
            <a:r>
              <a:rPr lang="ja-JP" altLang="en-US" sz="1100" dirty="0">
                <a:latin typeface="メイリオ" panose="020B0604030504040204" pitchFamily="50" charset="-128"/>
                <a:ea typeface="メイリオ" panose="020B0604030504040204" pitchFamily="50" charset="-128"/>
              </a:rPr>
              <a:t>導入による不安を正面から扱い、信頼を築く「</a:t>
            </a:r>
            <a:r>
              <a:rPr lang="en-US" altLang="ja-JP" sz="1100" dirty="0">
                <a:latin typeface="メイリオ" panose="020B0604030504040204" pitchFamily="50" charset="-128"/>
                <a:ea typeface="メイリオ" panose="020B0604030504040204" pitchFamily="50" charset="-128"/>
              </a:rPr>
              <a:t>AI vs </a:t>
            </a:r>
            <a:r>
              <a:rPr lang="ja-JP" altLang="en-US" sz="1100" dirty="0">
                <a:latin typeface="メイリオ" panose="020B0604030504040204" pitchFamily="50" charset="-128"/>
                <a:ea typeface="メイリオ" panose="020B0604030504040204" pitchFamily="50" charset="-128"/>
              </a:rPr>
              <a:t>人」ではなく</a:t>
            </a:r>
            <a:r>
              <a:rPr lang="ja-JP" altLang="en-US" sz="1100" b="1" dirty="0">
                <a:solidFill>
                  <a:srgbClr val="FF0066"/>
                </a:solidFill>
                <a:latin typeface="メイリオ" panose="020B0604030504040204" pitchFamily="50" charset="-128"/>
                <a:ea typeface="メイリオ" panose="020B0604030504040204" pitchFamily="50" charset="-128"/>
              </a:rPr>
              <a:t>「</a:t>
            </a:r>
            <a:r>
              <a:rPr lang="en-US" altLang="ja-JP" sz="1100" b="1" dirty="0">
                <a:solidFill>
                  <a:srgbClr val="FF0066"/>
                </a:solidFill>
                <a:latin typeface="メイリオ" panose="020B0604030504040204" pitchFamily="50" charset="-128"/>
                <a:ea typeface="メイリオ" panose="020B0604030504040204" pitchFamily="50" charset="-128"/>
              </a:rPr>
              <a:t>AI</a:t>
            </a:r>
            <a:r>
              <a:rPr lang="ja-JP" altLang="en-US" sz="1100" b="1" dirty="0">
                <a:solidFill>
                  <a:srgbClr val="FF0066"/>
                </a:solidFill>
                <a:latin typeface="メイリオ" panose="020B0604030504040204" pitchFamily="50" charset="-128"/>
                <a:ea typeface="メイリオ" panose="020B0604030504040204" pitchFamily="50" charset="-128"/>
              </a:rPr>
              <a:t>で人をより良くする」を重視変革を現場と共に設計する</a:t>
            </a:r>
            <a:endParaRPr lang="en-US" altLang="ja-JP" sz="1100" b="1" dirty="0">
              <a:solidFill>
                <a:srgbClr val="FF0066"/>
              </a:solidFill>
              <a:latin typeface="メイリオ" panose="020B0604030504040204" pitchFamily="50" charset="-128"/>
              <a:ea typeface="メイリオ" panose="020B0604030504040204" pitchFamily="50" charset="-128"/>
            </a:endParaRPr>
          </a:p>
          <a:p>
            <a:r>
              <a:rPr lang="en-US" altLang="ja-JP" sz="1200" b="1" dirty="0">
                <a:latin typeface="メイリオ" panose="020B0604030504040204" pitchFamily="50" charset="-128"/>
                <a:ea typeface="メイリオ" panose="020B0604030504040204" pitchFamily="50" charset="-128"/>
              </a:rPr>
              <a:t>3. Applied Curiosity</a:t>
            </a:r>
            <a:r>
              <a:rPr lang="ja-JP" altLang="en-US" sz="1200" b="1" dirty="0">
                <a:latin typeface="メイリオ" panose="020B0604030504040204" pitchFamily="50" charset="-128"/>
                <a:ea typeface="メイリオ" panose="020B0604030504040204" pitchFamily="50" charset="-128"/>
              </a:rPr>
              <a:t>（応用的好奇心）</a:t>
            </a:r>
            <a:endParaRPr lang="en-US" altLang="ja-JP" sz="1200" b="1" dirty="0">
              <a:latin typeface="メイリオ" panose="020B0604030504040204" pitchFamily="50" charset="-128"/>
              <a:ea typeface="メイリオ" panose="020B0604030504040204" pitchFamily="50" charset="-128"/>
            </a:endParaRPr>
          </a:p>
          <a:p>
            <a:r>
              <a:rPr lang="ja-JP" altLang="en-US" sz="1100" dirty="0">
                <a:latin typeface="メイリオ" panose="020B0604030504040204" pitchFamily="50" charset="-128"/>
                <a:ea typeface="メイリオ" panose="020B0604030504040204" pitchFamily="50" charset="-128"/>
              </a:rPr>
              <a:t>ハイプ（流行）を見極め、低コストで</a:t>
            </a:r>
            <a:r>
              <a:rPr lang="ja-JP" altLang="en-US" sz="1100" b="1" dirty="0">
                <a:solidFill>
                  <a:srgbClr val="FF0066"/>
                </a:solidFill>
                <a:latin typeface="メイリオ" panose="020B0604030504040204" pitchFamily="50" charset="-128"/>
                <a:ea typeface="メイリオ" panose="020B0604030504040204" pitchFamily="50" charset="-128"/>
              </a:rPr>
              <a:t>学習効果の高い実験を行う自ら探索</a:t>
            </a:r>
            <a:r>
              <a:rPr lang="ja-JP" altLang="en-US" sz="1100" dirty="0">
                <a:latin typeface="メイリオ" panose="020B0604030504040204" pitchFamily="50" charset="-128"/>
                <a:ea typeface="メイリオ" panose="020B0604030504040204" pitchFamily="50" charset="-128"/>
              </a:rPr>
              <a:t>し、モデルケースを作る成功企業で</a:t>
            </a:r>
            <a:r>
              <a:rPr lang="en-US" altLang="ja-JP" sz="1100" dirty="0">
                <a:latin typeface="メイリオ" panose="020B0604030504040204" pitchFamily="50" charset="-128"/>
                <a:ea typeface="メイリオ" panose="020B0604030504040204" pitchFamily="50" charset="-128"/>
              </a:rPr>
              <a:t>2</a:t>
            </a:r>
            <a:r>
              <a:rPr lang="ja-JP" altLang="en-US" sz="1100" dirty="0">
                <a:latin typeface="メイリオ" panose="020B0604030504040204" pitchFamily="50" charset="-128"/>
                <a:ea typeface="メイリオ" panose="020B0604030504040204" pitchFamily="50" charset="-128"/>
              </a:rPr>
              <a:t>番目に重要な能力と評価</a:t>
            </a:r>
            <a:endParaRPr lang="en-US" altLang="ja-JP" sz="1100" dirty="0">
              <a:latin typeface="メイリオ" panose="020B0604030504040204" pitchFamily="50" charset="-128"/>
              <a:ea typeface="メイリオ" panose="020B0604030504040204" pitchFamily="50" charset="-128"/>
            </a:endParaRPr>
          </a:p>
          <a:p>
            <a:r>
              <a:rPr lang="en-US" altLang="ja-JP" sz="1200" b="1" dirty="0">
                <a:latin typeface="メイリオ" panose="020B0604030504040204" pitchFamily="50" charset="-128"/>
                <a:ea typeface="メイリオ" panose="020B0604030504040204" pitchFamily="50" charset="-128"/>
              </a:rPr>
              <a:t>4. Performance Drive</a:t>
            </a:r>
            <a:r>
              <a:rPr lang="ja-JP" altLang="en-US" sz="1200" b="1" dirty="0">
                <a:latin typeface="メイリオ" panose="020B0604030504040204" pitchFamily="50" charset="-128"/>
                <a:ea typeface="メイリオ" panose="020B0604030504040204" pitchFamily="50" charset="-128"/>
              </a:rPr>
              <a:t>（成果ドライブ力）</a:t>
            </a:r>
            <a:endParaRPr lang="en-US" altLang="ja-JP" sz="1200" b="1" dirty="0">
              <a:latin typeface="メイリオ" panose="020B0604030504040204" pitchFamily="50" charset="-128"/>
              <a:ea typeface="メイリオ" panose="020B0604030504040204" pitchFamily="50" charset="-128"/>
            </a:endParaRPr>
          </a:p>
          <a:p>
            <a:r>
              <a:rPr lang="ja-JP" altLang="en-US" sz="1100" dirty="0">
                <a:latin typeface="メイリオ" panose="020B0604030504040204" pitchFamily="50" charset="-128"/>
                <a:ea typeface="メイリオ" panose="020B0604030504040204" pitchFamily="50" charset="-128"/>
              </a:rPr>
              <a:t>“</a:t>
            </a:r>
            <a:r>
              <a:rPr lang="en-US" altLang="ja-JP" sz="1100" dirty="0">
                <a:latin typeface="メイリオ" panose="020B0604030504040204" pitchFamily="50" charset="-128"/>
                <a:ea typeface="メイリオ" panose="020B0604030504040204" pitchFamily="50" charset="-128"/>
              </a:rPr>
              <a:t>PoC</a:t>
            </a:r>
            <a:r>
              <a:rPr lang="ja-JP" altLang="en-US" sz="1100" dirty="0">
                <a:latin typeface="メイリオ" panose="020B0604030504040204" pitchFamily="50" charset="-128"/>
                <a:ea typeface="メイリオ" panose="020B0604030504040204" pitchFamily="50" charset="-128"/>
              </a:rPr>
              <a:t>のための</a:t>
            </a:r>
            <a:r>
              <a:rPr lang="en-US" altLang="ja-JP" sz="1100" dirty="0">
                <a:latin typeface="メイリオ" panose="020B0604030504040204" pitchFamily="50" charset="-128"/>
                <a:ea typeface="メイリオ" panose="020B0604030504040204" pitchFamily="50" charset="-128"/>
              </a:rPr>
              <a:t>PoC</a:t>
            </a:r>
            <a:r>
              <a:rPr lang="ja-JP" altLang="en-US" sz="1100" dirty="0">
                <a:latin typeface="メイリオ" panose="020B0604030504040204" pitchFamily="50" charset="-128"/>
                <a:ea typeface="メイリオ" panose="020B0604030504040204" pitchFamily="50" charset="-128"/>
              </a:rPr>
              <a:t>（</a:t>
            </a:r>
            <a:r>
              <a:rPr lang="en-US" altLang="ja-JP" sz="1100" dirty="0">
                <a:latin typeface="メイリオ" panose="020B0604030504040204" pitchFamily="50" charset="-128"/>
                <a:ea typeface="メイリオ" panose="020B0604030504040204" pitchFamily="50" charset="-128"/>
              </a:rPr>
              <a:t>Pilot Theater</a:t>
            </a:r>
            <a:r>
              <a:rPr lang="ja-JP" altLang="en-US" sz="1100" dirty="0">
                <a:latin typeface="メイリオ" panose="020B0604030504040204" pitchFamily="50" charset="-128"/>
                <a:ea typeface="メイリオ" panose="020B0604030504040204" pitchFamily="50" charset="-128"/>
              </a:rPr>
              <a:t>）”を排し、</a:t>
            </a:r>
            <a:r>
              <a:rPr lang="en-US" altLang="ja-JP" sz="1100" b="1" dirty="0">
                <a:solidFill>
                  <a:srgbClr val="FF0066"/>
                </a:solidFill>
                <a:latin typeface="メイリオ" panose="020B0604030504040204" pitchFamily="50" charset="-128"/>
                <a:ea typeface="メイリオ" panose="020B0604030504040204" pitchFamily="50" charset="-128"/>
              </a:rPr>
              <a:t>ROI</a:t>
            </a:r>
            <a:r>
              <a:rPr lang="ja-JP" altLang="en-US" sz="1100" b="1" dirty="0">
                <a:solidFill>
                  <a:srgbClr val="FF0066"/>
                </a:solidFill>
                <a:latin typeface="メイリオ" panose="020B0604030504040204" pitchFamily="50" charset="-128"/>
                <a:ea typeface="メイリオ" panose="020B0604030504040204" pitchFamily="50" charset="-128"/>
              </a:rPr>
              <a:t>に基づきスケール事業成果で評価</a:t>
            </a:r>
            <a:r>
              <a:rPr lang="ja-JP" altLang="en-US" sz="1100" dirty="0">
                <a:latin typeface="メイリオ" panose="020B0604030504040204" pitchFamily="50" charset="-128"/>
                <a:ea typeface="メイリオ" panose="020B0604030504040204" pitchFamily="50" charset="-128"/>
              </a:rPr>
              <a:t>し、インパクトの低い取り組みは切り捨てる</a:t>
            </a:r>
            <a:endParaRPr lang="en-US" altLang="ja-JP" sz="1100" dirty="0">
              <a:latin typeface="メイリオ" panose="020B0604030504040204" pitchFamily="50" charset="-128"/>
              <a:ea typeface="メイリオ" panose="020B0604030504040204" pitchFamily="50" charset="-128"/>
            </a:endParaRPr>
          </a:p>
          <a:p>
            <a:r>
              <a:rPr lang="en-US" altLang="ja-JP" sz="1200" b="1" dirty="0">
                <a:latin typeface="メイリオ" panose="020B0604030504040204" pitchFamily="50" charset="-128"/>
                <a:ea typeface="メイリオ" panose="020B0604030504040204" pitchFamily="50" charset="-128"/>
              </a:rPr>
              <a:t>5. Ethical Stewardship</a:t>
            </a:r>
            <a:r>
              <a:rPr lang="ja-JP" altLang="en-US" sz="1200" b="1" dirty="0">
                <a:latin typeface="メイリオ" panose="020B0604030504040204" pitchFamily="50" charset="-128"/>
                <a:ea typeface="メイリオ" panose="020B0604030504040204" pitchFamily="50" charset="-128"/>
              </a:rPr>
              <a:t>（倫理的責任）</a:t>
            </a:r>
            <a:endParaRPr lang="en-US" altLang="ja-JP" sz="1200" b="1" dirty="0">
              <a:latin typeface="メイリオ" panose="020B0604030504040204" pitchFamily="50" charset="-128"/>
              <a:ea typeface="メイリオ" panose="020B0604030504040204" pitchFamily="50" charset="-128"/>
            </a:endParaRPr>
          </a:p>
          <a:p>
            <a:r>
              <a:rPr lang="ja-JP" altLang="en-US" sz="1100" b="1" dirty="0">
                <a:solidFill>
                  <a:srgbClr val="FF0066"/>
                </a:solidFill>
                <a:latin typeface="メイリオ" panose="020B0604030504040204" pitchFamily="50" charset="-128"/>
                <a:ea typeface="メイリオ" panose="020B0604030504040204" pitchFamily="50" charset="-128"/>
              </a:rPr>
              <a:t>責任ある</a:t>
            </a:r>
            <a:r>
              <a:rPr lang="en-US" altLang="ja-JP" sz="1100" b="1" dirty="0">
                <a:solidFill>
                  <a:srgbClr val="FF0066"/>
                </a:solidFill>
                <a:latin typeface="メイリオ" panose="020B0604030504040204" pitchFamily="50" charset="-128"/>
                <a:ea typeface="メイリオ" panose="020B0604030504040204" pitchFamily="50" charset="-128"/>
              </a:rPr>
              <a:t>AI</a:t>
            </a:r>
            <a:r>
              <a:rPr lang="ja-JP" altLang="en-US" sz="1100" b="1" dirty="0">
                <a:solidFill>
                  <a:srgbClr val="FF0066"/>
                </a:solidFill>
                <a:latin typeface="メイリオ" panose="020B0604030504040204" pitchFamily="50" charset="-128"/>
                <a:ea typeface="メイリオ" panose="020B0604030504040204" pitchFamily="50" charset="-128"/>
              </a:rPr>
              <a:t>を導入初期から組み込む公平性・透明性・ガバナンスを後付けにしない</a:t>
            </a:r>
          </a:p>
        </p:txBody>
      </p:sp>
      <p:sp>
        <p:nvSpPr>
          <p:cNvPr id="11" name="テキスト ボックス 10">
            <a:extLst>
              <a:ext uri="{FF2B5EF4-FFF2-40B4-BE49-F238E27FC236}">
                <a16:creationId xmlns:a16="http://schemas.microsoft.com/office/drawing/2014/main" id="{DEE8C795-87D4-BB83-5B2A-C37FC31E9D80}"/>
              </a:ext>
            </a:extLst>
          </p:cNvPr>
          <p:cNvSpPr txBox="1"/>
          <p:nvPr/>
        </p:nvSpPr>
        <p:spPr>
          <a:xfrm>
            <a:off x="416862" y="5603932"/>
            <a:ext cx="10917332" cy="646331"/>
          </a:xfrm>
          <a:prstGeom prst="rect">
            <a:avLst/>
          </a:prstGeom>
          <a:noFill/>
        </p:spPr>
        <p:txBody>
          <a:bodyPr wrap="square">
            <a:spAutoFit/>
          </a:bodyPr>
          <a:lstStyle/>
          <a:p>
            <a:r>
              <a:rPr lang="ja-JP" altLang="en-US" sz="1200" b="1" dirty="0">
                <a:latin typeface="メイリオ" panose="020B0604030504040204" pitchFamily="50" charset="-128"/>
                <a:ea typeface="メイリオ" panose="020B0604030504040204" pitchFamily="50" charset="-128"/>
              </a:rPr>
              <a:t>成功のポイント：</a:t>
            </a:r>
            <a:r>
              <a:rPr lang="en-US" altLang="ja-JP" sz="1200" b="1" dirty="0">
                <a:latin typeface="メイリオ" panose="020B0604030504040204" pitchFamily="50" charset="-128"/>
                <a:ea typeface="メイリオ" panose="020B0604030504040204" pitchFamily="50" charset="-128"/>
              </a:rPr>
              <a:t>AI</a:t>
            </a:r>
            <a:r>
              <a:rPr lang="ja-JP" altLang="en-US" sz="1200" b="1" dirty="0">
                <a:latin typeface="メイリオ" panose="020B0604030504040204" pitchFamily="50" charset="-128"/>
                <a:ea typeface="メイリオ" panose="020B0604030504040204" pitchFamily="50" charset="-128"/>
              </a:rPr>
              <a:t>導入は“技術”ではなく“リーダーシップの問題</a:t>
            </a:r>
            <a:endParaRPr lang="en-US" altLang="ja-JP" sz="1200" b="1" dirty="0">
              <a:latin typeface="メイリオ" panose="020B0604030504040204" pitchFamily="50" charset="-128"/>
              <a:ea typeface="メイリオ" panose="020B0604030504040204" pitchFamily="50" charset="-128"/>
            </a:endParaRPr>
          </a:p>
          <a:p>
            <a:r>
              <a:rPr lang="ja-JP" altLang="en-US" sz="1200" dirty="0">
                <a:latin typeface="メイリオ" panose="020B0604030504040204" pitchFamily="50" charset="-128"/>
                <a:ea typeface="メイリオ" panose="020B0604030504040204" pitchFamily="50" charset="-128"/>
              </a:rPr>
              <a:t>”</a:t>
            </a:r>
            <a:r>
              <a:rPr lang="en-US" altLang="ja-JP" sz="1200" dirty="0">
                <a:latin typeface="メイリオ" panose="020B0604030504040204" pitchFamily="50" charset="-128"/>
                <a:ea typeface="メイリオ" panose="020B0604030504040204" pitchFamily="50" charset="-128"/>
              </a:rPr>
              <a:t>Johnson &amp; Johnson </a:t>
            </a:r>
            <a:r>
              <a:rPr lang="ja-JP" altLang="en-US" sz="1200" dirty="0">
                <a:latin typeface="メイリオ" panose="020B0604030504040204" pitchFamily="50" charset="-128"/>
                <a:ea typeface="メイリオ" panose="020B0604030504040204" pitchFamily="50" charset="-128"/>
              </a:rPr>
              <a:t>は約</a:t>
            </a:r>
            <a:r>
              <a:rPr lang="en-US" altLang="ja-JP" sz="1200" dirty="0">
                <a:latin typeface="メイリオ" panose="020B0604030504040204" pitchFamily="50" charset="-128"/>
                <a:ea typeface="メイリオ" panose="020B0604030504040204" pitchFamily="50" charset="-128"/>
              </a:rPr>
              <a:t>900</a:t>
            </a:r>
            <a:r>
              <a:rPr lang="ja-JP" altLang="en-US" sz="1200" dirty="0">
                <a:latin typeface="メイリオ" panose="020B0604030504040204" pitchFamily="50" charset="-128"/>
                <a:ea typeface="メイリオ" panose="020B0604030504040204" pitchFamily="50" charset="-128"/>
              </a:rPr>
              <a:t>の</a:t>
            </a:r>
            <a:r>
              <a:rPr lang="en-US" altLang="ja-JP" sz="1200" dirty="0">
                <a:latin typeface="メイリオ" panose="020B0604030504040204" pitchFamily="50" charset="-128"/>
                <a:ea typeface="メイリオ" panose="020B0604030504040204" pitchFamily="50" charset="-128"/>
              </a:rPr>
              <a:t>AI</a:t>
            </a:r>
            <a:r>
              <a:rPr lang="ja-JP" altLang="en-US" sz="1200" dirty="0">
                <a:latin typeface="メイリオ" panose="020B0604030504040204" pitchFamily="50" charset="-128"/>
                <a:ea typeface="メイリオ" panose="020B0604030504040204" pitchFamily="50" charset="-128"/>
              </a:rPr>
              <a:t>パイロットの大半が成果を出していなかったが、</a:t>
            </a:r>
            <a:endParaRPr lang="en-US" altLang="ja-JP" sz="1200" dirty="0">
              <a:latin typeface="メイリオ" panose="020B0604030504040204" pitchFamily="50" charset="-128"/>
              <a:ea typeface="メイリオ" panose="020B0604030504040204" pitchFamily="50" charset="-128"/>
            </a:endParaRPr>
          </a:p>
          <a:p>
            <a:r>
              <a:rPr lang="ja-JP" altLang="en-US" sz="1200" b="1" dirty="0">
                <a:latin typeface="メイリオ" panose="020B0604030504040204" pitchFamily="50" charset="-128"/>
                <a:ea typeface="メイリオ" panose="020B0604030504040204" pitchFamily="50" charset="-128"/>
              </a:rPr>
              <a:t>・重複プロジェクトを廃止・</a:t>
            </a:r>
            <a:r>
              <a:rPr lang="ja-JP" altLang="en-US" sz="1200" b="1" dirty="0">
                <a:solidFill>
                  <a:srgbClr val="FF0066"/>
                </a:solidFill>
                <a:latin typeface="メイリオ" panose="020B0604030504040204" pitchFamily="50" charset="-128"/>
                <a:ea typeface="メイリオ" panose="020B0604030504040204" pitchFamily="50" charset="-128"/>
              </a:rPr>
              <a:t>ガバナンスを現場に寄せる</a:t>
            </a:r>
            <a:r>
              <a:rPr lang="ja-JP" altLang="en-US" sz="1200" b="1" dirty="0">
                <a:latin typeface="メイリオ" panose="020B0604030504040204" pitchFamily="50" charset="-128"/>
                <a:ea typeface="メイリオ" panose="020B0604030504040204" pitchFamily="50" charset="-128"/>
              </a:rPr>
              <a:t>・高インパクト領域へ集中投資へ</a:t>
            </a:r>
            <a:r>
              <a:rPr lang="ja-JP" altLang="en-US" sz="1200" dirty="0">
                <a:latin typeface="メイリオ" panose="020B0604030504040204" pitchFamily="50" charset="-128"/>
                <a:ea typeface="メイリオ" panose="020B0604030504040204" pitchFamily="50" charset="-128"/>
              </a:rPr>
              <a:t>と舵を切り、改善に成功した。</a:t>
            </a:r>
            <a:endParaRPr lang="ja-JP" altLang="en-US" sz="1100" dirty="0">
              <a:solidFill>
                <a:srgbClr val="FF0066"/>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988674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306690-79B9-71E2-D7F7-9DCD809961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37F28B-7A87-837D-A701-322B355F8E05}"/>
              </a:ext>
            </a:extLst>
          </p:cNvPr>
          <p:cNvSpPr>
            <a:spLocks noGrp="1"/>
          </p:cNvSpPr>
          <p:nvPr>
            <p:ph type="title"/>
          </p:nvPr>
        </p:nvSpPr>
        <p:spPr>
          <a:xfrm>
            <a:off x="457201" y="274638"/>
            <a:ext cx="11474824" cy="541150"/>
          </a:xfrm>
        </p:spPr>
        <p:txBody>
          <a:bodyPr>
            <a:noAutofit/>
          </a:bodyPr>
          <a:lstStyle/>
          <a:p>
            <a:r>
              <a:rPr lang="ja-JP" altLang="en-US" sz="2400" dirty="0"/>
              <a:t>スモールスケールからのスケーラブル実装</a:t>
            </a:r>
            <a:endParaRPr sz="2400" dirty="0"/>
          </a:p>
        </p:txBody>
      </p:sp>
      <p:sp>
        <p:nvSpPr>
          <p:cNvPr id="3" name="Content Placeholder 2">
            <a:extLst>
              <a:ext uri="{FF2B5EF4-FFF2-40B4-BE49-F238E27FC236}">
                <a16:creationId xmlns:a16="http://schemas.microsoft.com/office/drawing/2014/main" id="{76B0F383-984B-C864-E02D-14656A3CA738}"/>
              </a:ext>
            </a:extLst>
          </p:cNvPr>
          <p:cNvSpPr>
            <a:spLocks noGrp="1"/>
          </p:cNvSpPr>
          <p:nvPr>
            <p:ph idx="1"/>
          </p:nvPr>
        </p:nvSpPr>
        <p:spPr>
          <a:xfrm>
            <a:off x="515473" y="1094301"/>
            <a:ext cx="10995210" cy="541150"/>
          </a:xfrm>
        </p:spPr>
        <p:txBody>
          <a:bodyPr>
            <a:noAutofit/>
          </a:bodyPr>
          <a:lstStyle/>
          <a:p>
            <a:pPr marL="0" indent="0">
              <a:buNone/>
              <a:defRPr sz="1600">
                <a:latin typeface="Meiryo"/>
              </a:defRPr>
            </a:pPr>
            <a:r>
              <a:rPr lang="ja-JP" altLang="en-US" sz="1600" dirty="0"/>
              <a:t>　</a:t>
            </a:r>
            <a:r>
              <a:rPr sz="1600" dirty="0"/>
              <a:t>PoC止まりの理由は大規模展開を急ぎ現場が適応しないため。成功企業は1業務・1KPIで小さく始め、成果確認後に水平展開し、自然に組織全体へスケールさせている。</a:t>
            </a:r>
            <a:r>
              <a:rPr lang="en-US" sz="1600" dirty="0"/>
              <a:t>(MIT)</a:t>
            </a:r>
            <a:endParaRPr sz="1600" dirty="0"/>
          </a:p>
        </p:txBody>
      </p:sp>
      <p:sp>
        <p:nvSpPr>
          <p:cNvPr id="4" name="テキスト ボックス 3">
            <a:extLst>
              <a:ext uri="{FF2B5EF4-FFF2-40B4-BE49-F238E27FC236}">
                <a16:creationId xmlns:a16="http://schemas.microsoft.com/office/drawing/2014/main" id="{2AF41A25-3C49-4649-FE5D-BF6B0F18555D}"/>
              </a:ext>
            </a:extLst>
          </p:cNvPr>
          <p:cNvSpPr txBox="1"/>
          <p:nvPr/>
        </p:nvSpPr>
        <p:spPr>
          <a:xfrm>
            <a:off x="515473" y="1635451"/>
            <a:ext cx="11053483" cy="307777"/>
          </a:xfrm>
          <a:prstGeom prst="rect">
            <a:avLst/>
          </a:prstGeom>
          <a:noFill/>
        </p:spPr>
        <p:txBody>
          <a:bodyPr wrap="square">
            <a:spAutoFit/>
          </a:bodyPr>
          <a:lstStyle/>
          <a:p>
            <a:r>
              <a:rPr lang="en-US" altLang="ja-JP" sz="1400" dirty="0"/>
              <a:t>https://mlq.ai/media/quarterly_decks/v0.1_State_of_AI_in_Business_2025_Report.pdf?utm_source=chatgpt.com</a:t>
            </a:r>
            <a:endParaRPr lang="ja-JP" altLang="en-US" sz="1400" dirty="0"/>
          </a:p>
        </p:txBody>
      </p:sp>
      <p:sp>
        <p:nvSpPr>
          <p:cNvPr id="5" name="正方形/長方形 4">
            <a:extLst>
              <a:ext uri="{FF2B5EF4-FFF2-40B4-BE49-F238E27FC236}">
                <a16:creationId xmlns:a16="http://schemas.microsoft.com/office/drawing/2014/main" id="{B2911899-2277-098D-A2D3-4A2B027CBCE3}"/>
              </a:ext>
            </a:extLst>
          </p:cNvPr>
          <p:cNvSpPr/>
          <p:nvPr/>
        </p:nvSpPr>
        <p:spPr>
          <a:xfrm>
            <a:off x="315072" y="2070847"/>
            <a:ext cx="11474824" cy="4198906"/>
          </a:xfrm>
          <a:prstGeom prst="rect">
            <a:avLst/>
          </a:prstGeom>
          <a:no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pic>
        <p:nvPicPr>
          <p:cNvPr id="7" name="図 6">
            <a:extLst>
              <a:ext uri="{FF2B5EF4-FFF2-40B4-BE49-F238E27FC236}">
                <a16:creationId xmlns:a16="http://schemas.microsoft.com/office/drawing/2014/main" id="{405B2AE0-C582-4721-730A-ABF760F9696D}"/>
              </a:ext>
            </a:extLst>
          </p:cNvPr>
          <p:cNvPicPr>
            <a:picLocks noChangeAspect="1"/>
          </p:cNvPicPr>
          <p:nvPr/>
        </p:nvPicPr>
        <p:blipFill>
          <a:blip r:embed="rId2"/>
          <a:stretch>
            <a:fillRect/>
          </a:stretch>
        </p:blipFill>
        <p:spPr>
          <a:xfrm>
            <a:off x="457202" y="2198466"/>
            <a:ext cx="2856654" cy="3979471"/>
          </a:xfrm>
          <a:prstGeom prst="rect">
            <a:avLst/>
          </a:prstGeom>
        </p:spPr>
      </p:pic>
      <p:sp>
        <p:nvSpPr>
          <p:cNvPr id="9" name="テキスト ボックス 8">
            <a:extLst>
              <a:ext uri="{FF2B5EF4-FFF2-40B4-BE49-F238E27FC236}">
                <a16:creationId xmlns:a16="http://schemas.microsoft.com/office/drawing/2014/main" id="{9B63C49F-00CD-7E33-8DA0-2466E02EAA1B}"/>
              </a:ext>
            </a:extLst>
          </p:cNvPr>
          <p:cNvSpPr txBox="1"/>
          <p:nvPr/>
        </p:nvSpPr>
        <p:spPr>
          <a:xfrm>
            <a:off x="3609975" y="2176601"/>
            <a:ext cx="8039100" cy="3046988"/>
          </a:xfrm>
          <a:prstGeom prst="rect">
            <a:avLst/>
          </a:prstGeom>
          <a:noFill/>
        </p:spPr>
        <p:txBody>
          <a:bodyPr wrap="square">
            <a:spAutoFit/>
          </a:bodyPr>
          <a:lstStyle/>
          <a:p>
            <a:r>
              <a:rPr lang="ja-JP" altLang="en-US" sz="1200" b="1" dirty="0">
                <a:latin typeface="メイリオ" panose="020B0604030504040204" pitchFamily="50" charset="-128"/>
                <a:ea typeface="メイリオ" panose="020B0604030504040204" pitchFamily="50" charset="-128"/>
              </a:rPr>
              <a:t>成功企業の勝ち筋　</a:t>
            </a:r>
            <a:r>
              <a:rPr lang="en-US" altLang="ja-JP" sz="1200" dirty="0">
                <a:latin typeface="メイリオ" panose="020B0604030504040204" pitchFamily="50" charset="-128"/>
                <a:ea typeface="メイリオ" panose="020B0604030504040204" pitchFamily="50" charset="-128"/>
              </a:rPr>
              <a:t>pg.16</a:t>
            </a:r>
          </a:p>
          <a:p>
            <a:endParaRPr lang="en-US" altLang="ja-JP" sz="1200" dirty="0">
              <a:latin typeface="メイリオ" panose="020B0604030504040204" pitchFamily="50" charset="-128"/>
              <a:ea typeface="メイリオ" panose="020B0604030504040204" pitchFamily="50" charset="-128"/>
            </a:endParaRPr>
          </a:p>
          <a:p>
            <a:r>
              <a:rPr lang="en-US" altLang="ja-JP" sz="1200" b="1" dirty="0">
                <a:latin typeface="メイリオ" panose="020B0604030504040204" pitchFamily="50" charset="-128"/>
                <a:ea typeface="メイリオ" panose="020B0604030504040204" pitchFamily="50" charset="-128"/>
              </a:rPr>
              <a:t>GenAI Divide</a:t>
            </a:r>
            <a:r>
              <a:rPr lang="ja-JP" altLang="en-US" sz="1200" b="1" dirty="0">
                <a:latin typeface="メイリオ" panose="020B0604030504040204" pitchFamily="50" charset="-128"/>
                <a:ea typeface="メイリオ" panose="020B0604030504040204" pitchFamily="50" charset="-128"/>
              </a:rPr>
              <a:t>（ジェネレーティブ</a:t>
            </a:r>
            <a:r>
              <a:rPr lang="en-US" altLang="ja-JP" sz="1200" b="1" dirty="0">
                <a:latin typeface="メイリオ" panose="020B0604030504040204" pitchFamily="50" charset="-128"/>
                <a:ea typeface="メイリオ" panose="020B0604030504040204" pitchFamily="50" charset="-128"/>
              </a:rPr>
              <a:t>AI</a:t>
            </a:r>
            <a:r>
              <a:rPr lang="ja-JP" altLang="en-US" sz="1200" b="1" dirty="0">
                <a:latin typeface="メイリオ" panose="020B0604030504040204" pitchFamily="50" charset="-128"/>
                <a:ea typeface="メイリオ" panose="020B0604030504040204" pitchFamily="50" charset="-128"/>
              </a:rPr>
              <a:t>・ディバイド）</a:t>
            </a:r>
            <a:endParaRPr lang="en-US" altLang="ja-JP" sz="1200" b="1" dirty="0">
              <a:latin typeface="メイリオ" panose="020B0604030504040204" pitchFamily="50" charset="-128"/>
              <a:ea typeface="メイリオ" panose="020B0604030504040204" pitchFamily="50" charset="-128"/>
            </a:endParaRPr>
          </a:p>
          <a:p>
            <a:r>
              <a:rPr lang="ja-JP" altLang="en-US" sz="1200" dirty="0">
                <a:latin typeface="メイリオ" panose="020B0604030504040204" pitchFamily="50" charset="-128"/>
                <a:ea typeface="メイリオ" panose="020B0604030504040204" pitchFamily="50" charset="-128"/>
              </a:rPr>
              <a:t>「企業の間で生まれている“</a:t>
            </a:r>
            <a:r>
              <a:rPr lang="en-US" altLang="ja-JP" sz="1200" dirty="0">
                <a:latin typeface="メイリオ" panose="020B0604030504040204" pitchFamily="50" charset="-128"/>
                <a:ea typeface="メイリオ" panose="020B0604030504040204" pitchFamily="50" charset="-128"/>
              </a:rPr>
              <a:t>AI</a:t>
            </a:r>
            <a:r>
              <a:rPr lang="ja-JP" altLang="en-US" sz="1200" dirty="0">
                <a:latin typeface="メイリオ" panose="020B0604030504040204" pitchFamily="50" charset="-128"/>
                <a:ea typeface="メイリオ" panose="020B0604030504040204" pitchFamily="50" charset="-128"/>
              </a:rPr>
              <a:t>を成果に結びつけられる企業”と“結びつけられない企業”の深い格差」</a:t>
            </a:r>
            <a:endParaRPr lang="en-US" altLang="ja-JP" sz="1200" dirty="0">
              <a:latin typeface="メイリオ" panose="020B0604030504040204" pitchFamily="50" charset="-128"/>
              <a:ea typeface="メイリオ" panose="020B0604030504040204" pitchFamily="50" charset="-128"/>
            </a:endParaRPr>
          </a:p>
          <a:p>
            <a:endParaRPr lang="en-US" altLang="ja-JP" sz="1200" dirty="0">
              <a:latin typeface="メイリオ" panose="020B0604030504040204" pitchFamily="50" charset="-128"/>
              <a:ea typeface="メイリオ" panose="020B0604030504040204" pitchFamily="50" charset="-128"/>
            </a:endParaRPr>
          </a:p>
          <a:p>
            <a:r>
              <a:rPr lang="en-US" altLang="ja-JP" sz="1200" dirty="0">
                <a:latin typeface="メイリオ" panose="020B0604030504040204" pitchFamily="50" charset="-128"/>
                <a:ea typeface="メイリオ" panose="020B0604030504040204" pitchFamily="50" charset="-128"/>
              </a:rPr>
              <a:t>GenAI Divide </a:t>
            </a:r>
            <a:r>
              <a:rPr lang="ja-JP" altLang="en-US" sz="1200" dirty="0">
                <a:latin typeface="メイリオ" panose="020B0604030504040204" pitchFamily="50" charset="-128"/>
                <a:ea typeface="メイリオ" panose="020B0604030504040204" pitchFamily="50" charset="-128"/>
              </a:rPr>
              <a:t>を乗り越えるスタートアップには共通点がある。それは、</a:t>
            </a:r>
            <a:endParaRPr lang="en-US" altLang="ja-JP" sz="1200" dirty="0">
              <a:latin typeface="メイリオ" panose="020B0604030504040204" pitchFamily="50" charset="-128"/>
              <a:ea typeface="メイリオ" panose="020B0604030504040204" pitchFamily="50" charset="-128"/>
            </a:endParaRPr>
          </a:p>
          <a:p>
            <a:r>
              <a:rPr lang="ja-JP" altLang="en-US" sz="1200" b="1" dirty="0">
                <a:latin typeface="メイリオ" panose="020B0604030504040204" pitchFamily="50" charset="-128"/>
                <a:ea typeface="メイリオ" panose="020B0604030504040204" pitchFamily="50" charset="-128"/>
              </a:rPr>
              <a:t>成功の流れ</a:t>
            </a:r>
            <a:endParaRPr lang="en-US" altLang="ja-JP" sz="1200" b="1" dirty="0">
              <a:latin typeface="メイリオ" panose="020B0604030504040204" pitchFamily="50" charset="-128"/>
              <a:ea typeface="メイリオ" panose="020B0604030504040204" pitchFamily="50" charset="-128"/>
            </a:endParaRPr>
          </a:p>
          <a:p>
            <a:r>
              <a:rPr lang="ja-JP" altLang="en-US" sz="1200" dirty="0">
                <a:latin typeface="メイリオ" panose="020B0604030504040204" pitchFamily="50" charset="-128"/>
                <a:ea typeface="メイリオ" panose="020B0604030504040204" pitchFamily="50" charset="-128"/>
              </a:rPr>
              <a:t>まず非クリティカル </a:t>
            </a:r>
            <a:r>
              <a:rPr lang="en-US" altLang="ja-JP" sz="1200" dirty="0">
                <a:latin typeface="メイリオ" panose="020B0604030504040204" pitchFamily="50" charset="-128"/>
                <a:ea typeface="メイリオ" panose="020B0604030504040204" pitchFamily="50" charset="-128"/>
              </a:rPr>
              <a:t>or </a:t>
            </a:r>
            <a:r>
              <a:rPr lang="ja-JP" altLang="en-US" sz="1200" dirty="0">
                <a:latin typeface="メイリオ" panose="020B0604030504040204" pitchFamily="50" charset="-128"/>
                <a:ea typeface="メイリオ" panose="020B0604030504040204" pitchFamily="50" charset="-128"/>
              </a:rPr>
              <a:t>周辺業務（</a:t>
            </a:r>
            <a:r>
              <a:rPr lang="en-US" altLang="ja-JP" sz="1200" dirty="0">
                <a:latin typeface="メイリオ" panose="020B0604030504040204" pitchFamily="50" charset="-128"/>
                <a:ea typeface="メイリオ" panose="020B0604030504040204" pitchFamily="50" charset="-128"/>
              </a:rPr>
              <a:t>adjacent processes</a:t>
            </a:r>
            <a:r>
              <a:rPr lang="ja-JP" altLang="en-US" sz="1200" dirty="0">
                <a:latin typeface="メイリオ" panose="020B0604030504040204" pitchFamily="50" charset="-128"/>
                <a:ea typeface="メイリオ" panose="020B0604030504040204" pitchFamily="50" charset="-128"/>
              </a:rPr>
              <a:t>）に小さく入り込む</a:t>
            </a:r>
            <a:r>
              <a:rPr lang="ja-JP" altLang="en-US" sz="1200" b="1" dirty="0">
                <a:solidFill>
                  <a:srgbClr val="FF0066"/>
                </a:solidFill>
                <a:latin typeface="メイリオ" panose="020B0604030504040204" pitchFamily="50" charset="-128"/>
                <a:ea typeface="メイリオ" panose="020B0604030504040204" pitchFamily="50" charset="-128"/>
              </a:rPr>
              <a:t>高いカスタマイズで即効性のある価値を示す</a:t>
            </a:r>
            <a:r>
              <a:rPr lang="ja-JP" altLang="en-US" sz="1200" dirty="0">
                <a:latin typeface="メイリオ" panose="020B0604030504040204" pitchFamily="50" charset="-128"/>
                <a:ea typeface="メイリオ" panose="020B0604030504040204" pitchFamily="50" charset="-128"/>
              </a:rPr>
              <a:t>その実績をもとに中核業務（</a:t>
            </a:r>
            <a:r>
              <a:rPr lang="en-US" altLang="ja-JP" sz="1200" dirty="0">
                <a:latin typeface="メイリオ" panose="020B0604030504040204" pitchFamily="50" charset="-128"/>
                <a:ea typeface="メイリオ" panose="020B0604030504040204" pitchFamily="50" charset="-128"/>
              </a:rPr>
              <a:t>core workflows</a:t>
            </a:r>
            <a:r>
              <a:rPr lang="ja-JP" altLang="en-US" sz="1200" dirty="0">
                <a:latin typeface="メイリオ" panose="020B0604030504040204" pitchFamily="50" charset="-128"/>
                <a:ea typeface="メイリオ" panose="020B0604030504040204" pitchFamily="50" charset="-128"/>
              </a:rPr>
              <a:t>）へスケールする</a:t>
            </a:r>
            <a:endParaRPr lang="en-US" altLang="ja-JP" sz="1200" dirty="0">
              <a:latin typeface="メイリオ" panose="020B0604030504040204" pitchFamily="50" charset="-128"/>
              <a:ea typeface="メイリオ" panose="020B0604030504040204" pitchFamily="50" charset="-128"/>
            </a:endParaRPr>
          </a:p>
          <a:p>
            <a:endParaRPr lang="en-US" altLang="ja-JP" sz="1200" dirty="0">
              <a:latin typeface="メイリオ" panose="020B0604030504040204" pitchFamily="50" charset="-128"/>
              <a:ea typeface="メイリオ" panose="020B0604030504040204" pitchFamily="50" charset="-128"/>
            </a:endParaRPr>
          </a:p>
          <a:p>
            <a:r>
              <a:rPr lang="ja-JP" altLang="en-US" sz="1200" b="1" dirty="0">
                <a:latin typeface="メイリオ" panose="020B0604030504040204" pitchFamily="50" charset="-128"/>
                <a:ea typeface="メイリオ" panose="020B0604030504040204" pitchFamily="50" charset="-128"/>
              </a:rPr>
              <a:t>成功したツールに共通する特徴</a:t>
            </a:r>
            <a:endParaRPr lang="en-US" altLang="ja-JP" sz="1200" b="1" dirty="0">
              <a:latin typeface="メイリオ" panose="020B0604030504040204" pitchFamily="50" charset="-128"/>
              <a:ea typeface="メイリオ" panose="020B0604030504040204" pitchFamily="50" charset="-128"/>
            </a:endParaRPr>
          </a:p>
          <a:p>
            <a:r>
              <a:rPr lang="ja-JP" altLang="en-US" sz="1200" dirty="0">
                <a:latin typeface="メイリオ" panose="020B0604030504040204" pitchFamily="50" charset="-128"/>
                <a:ea typeface="メイリオ" panose="020B0604030504040204" pitchFamily="50" charset="-128"/>
              </a:rPr>
              <a:t>セットアップ負荷が軽い導入直後に価値が見える（</a:t>
            </a:r>
            <a:r>
              <a:rPr lang="en-US" altLang="ja-JP" sz="1200" dirty="0">
                <a:latin typeface="メイリオ" panose="020B0604030504040204" pitchFamily="50" charset="-128"/>
                <a:ea typeface="メイリオ" panose="020B0604030504040204" pitchFamily="50" charset="-128"/>
              </a:rPr>
              <a:t>immediate, visible value</a:t>
            </a:r>
            <a:r>
              <a:rPr lang="ja-JP" altLang="en-US" sz="1200" dirty="0">
                <a:latin typeface="メイリオ" panose="020B0604030504040204" pitchFamily="50" charset="-128"/>
                <a:ea typeface="メイリオ" panose="020B0604030504040204" pitchFamily="50" charset="-128"/>
              </a:rPr>
              <a:t>）</a:t>
            </a:r>
            <a:endParaRPr lang="en-US" altLang="ja-JP" sz="1200" dirty="0">
              <a:latin typeface="メイリオ" panose="020B0604030504040204" pitchFamily="50" charset="-128"/>
              <a:ea typeface="メイリオ" panose="020B0604030504040204" pitchFamily="50" charset="-128"/>
            </a:endParaRPr>
          </a:p>
          <a:p>
            <a:endParaRPr lang="en-US" altLang="ja-JP" sz="1200" dirty="0">
              <a:latin typeface="メイリオ" panose="020B0604030504040204" pitchFamily="50" charset="-128"/>
              <a:ea typeface="メイリオ" panose="020B0604030504040204" pitchFamily="50" charset="-128"/>
            </a:endParaRPr>
          </a:p>
          <a:p>
            <a:r>
              <a:rPr lang="ja-JP" altLang="en-US" sz="1200" b="1" dirty="0">
                <a:latin typeface="メイリオ" panose="020B0604030504040204" pitchFamily="50" charset="-128"/>
                <a:ea typeface="メイリオ" panose="020B0604030504040204" pitchFamily="50" charset="-128"/>
              </a:rPr>
              <a:t>失敗するツールの典型</a:t>
            </a:r>
            <a:endParaRPr lang="en-US" altLang="ja-JP" sz="1200" b="1" dirty="0">
              <a:latin typeface="メイリオ" panose="020B0604030504040204" pitchFamily="50" charset="-128"/>
              <a:ea typeface="メイリオ" panose="020B0604030504040204" pitchFamily="50" charset="-128"/>
            </a:endParaRPr>
          </a:p>
          <a:p>
            <a:r>
              <a:rPr lang="ja-JP" altLang="en-US" sz="1200" dirty="0">
                <a:latin typeface="メイリオ" panose="020B0604030504040204" pitchFamily="50" charset="-128"/>
                <a:ea typeface="メイリオ" panose="020B0604030504040204" pitchFamily="50" charset="-128"/>
              </a:rPr>
              <a:t>導入のための 大規模なエンタープライズカスタマイズが必要内部ロジックが複雑、意思決定が不透明（</a:t>
            </a:r>
            <a:r>
              <a:rPr lang="en-US" altLang="ja-JP" sz="1200" dirty="0">
                <a:latin typeface="メイリオ" panose="020B0604030504040204" pitchFamily="50" charset="-128"/>
                <a:ea typeface="メイリオ" panose="020B0604030504040204" pitchFamily="50" charset="-128"/>
              </a:rPr>
              <a:t>opaque</a:t>
            </a:r>
            <a:r>
              <a:rPr lang="ja-JP" altLang="en-US" sz="1200" dirty="0">
                <a:latin typeface="メイリオ" panose="020B0604030504040204" pitchFamily="50" charset="-128"/>
                <a:ea typeface="メイリオ" panose="020B0604030504040204" pitchFamily="50" charset="-128"/>
              </a:rPr>
              <a:t>）、独自ヒューリスティックが多いその結果 → パイロットで停止し、採用が進まない</a:t>
            </a:r>
            <a:endParaRPr lang="en-US" altLang="ja-JP" sz="1200" dirty="0">
              <a:latin typeface="メイリオ" panose="020B0604030504040204" pitchFamily="50" charset="-128"/>
              <a:ea typeface="メイリオ" panose="020B0604030504040204" pitchFamily="50" charset="-128"/>
            </a:endParaRPr>
          </a:p>
        </p:txBody>
      </p:sp>
      <p:pic>
        <p:nvPicPr>
          <p:cNvPr id="12" name="図 11">
            <a:extLst>
              <a:ext uri="{FF2B5EF4-FFF2-40B4-BE49-F238E27FC236}">
                <a16:creationId xmlns:a16="http://schemas.microsoft.com/office/drawing/2014/main" id="{A3CD3DAE-88F4-5B70-4732-9922F6F768D8}"/>
              </a:ext>
            </a:extLst>
          </p:cNvPr>
          <p:cNvPicPr>
            <a:picLocks noChangeAspect="1"/>
          </p:cNvPicPr>
          <p:nvPr/>
        </p:nvPicPr>
        <p:blipFill>
          <a:blip r:embed="rId3"/>
          <a:stretch>
            <a:fillRect/>
          </a:stretch>
        </p:blipFill>
        <p:spPr>
          <a:xfrm>
            <a:off x="3743325" y="5195640"/>
            <a:ext cx="4837113" cy="1074113"/>
          </a:xfrm>
          <a:prstGeom prst="rect">
            <a:avLst/>
          </a:prstGeom>
        </p:spPr>
      </p:pic>
      <p:sp>
        <p:nvSpPr>
          <p:cNvPr id="13" name="テキスト ボックス 12">
            <a:extLst>
              <a:ext uri="{FF2B5EF4-FFF2-40B4-BE49-F238E27FC236}">
                <a16:creationId xmlns:a16="http://schemas.microsoft.com/office/drawing/2014/main" id="{B906AD1B-B2A4-5561-0A40-96F8819F7847}"/>
              </a:ext>
            </a:extLst>
          </p:cNvPr>
          <p:cNvSpPr txBox="1"/>
          <p:nvPr/>
        </p:nvSpPr>
        <p:spPr>
          <a:xfrm>
            <a:off x="4419600" y="5916327"/>
            <a:ext cx="602595" cy="261610"/>
          </a:xfrm>
          <a:prstGeom prst="rect">
            <a:avLst/>
          </a:prstGeom>
          <a:noFill/>
        </p:spPr>
        <p:txBody>
          <a:bodyPr wrap="square">
            <a:spAutoFit/>
          </a:bodyPr>
          <a:lstStyle/>
          <a:p>
            <a:r>
              <a:rPr lang="ja-JP" altLang="en-US" sz="1100" b="1" dirty="0">
                <a:solidFill>
                  <a:srgbClr val="FF0066"/>
                </a:solidFill>
              </a:rPr>
              <a:t>複雑</a:t>
            </a:r>
          </a:p>
        </p:txBody>
      </p:sp>
      <p:sp>
        <p:nvSpPr>
          <p:cNvPr id="14" name="テキスト ボックス 13">
            <a:extLst>
              <a:ext uri="{FF2B5EF4-FFF2-40B4-BE49-F238E27FC236}">
                <a16:creationId xmlns:a16="http://schemas.microsoft.com/office/drawing/2014/main" id="{EAF6D397-762F-95D0-4B6C-DFC5A731F6D4}"/>
              </a:ext>
            </a:extLst>
          </p:cNvPr>
          <p:cNvSpPr txBox="1"/>
          <p:nvPr/>
        </p:nvSpPr>
        <p:spPr>
          <a:xfrm>
            <a:off x="4419599" y="5502388"/>
            <a:ext cx="602595" cy="261610"/>
          </a:xfrm>
          <a:prstGeom prst="rect">
            <a:avLst/>
          </a:prstGeom>
          <a:noFill/>
        </p:spPr>
        <p:txBody>
          <a:bodyPr wrap="square">
            <a:spAutoFit/>
          </a:bodyPr>
          <a:lstStyle/>
          <a:p>
            <a:r>
              <a:rPr lang="ja-JP" altLang="en-US" sz="1100" b="1" dirty="0">
                <a:solidFill>
                  <a:srgbClr val="FF0066"/>
                </a:solidFill>
              </a:rPr>
              <a:t>単純</a:t>
            </a:r>
          </a:p>
        </p:txBody>
      </p:sp>
      <p:sp>
        <p:nvSpPr>
          <p:cNvPr id="15" name="テキスト ボックス 14">
            <a:extLst>
              <a:ext uri="{FF2B5EF4-FFF2-40B4-BE49-F238E27FC236}">
                <a16:creationId xmlns:a16="http://schemas.microsoft.com/office/drawing/2014/main" id="{1E3B244B-E1F1-9D0B-9B13-89951567A9F4}"/>
              </a:ext>
            </a:extLst>
          </p:cNvPr>
          <p:cNvSpPr txBox="1"/>
          <p:nvPr/>
        </p:nvSpPr>
        <p:spPr>
          <a:xfrm>
            <a:off x="5765987" y="5195640"/>
            <a:ext cx="739588" cy="261610"/>
          </a:xfrm>
          <a:prstGeom prst="rect">
            <a:avLst/>
          </a:prstGeom>
          <a:noFill/>
        </p:spPr>
        <p:txBody>
          <a:bodyPr wrap="square">
            <a:spAutoFit/>
          </a:bodyPr>
          <a:lstStyle/>
          <a:p>
            <a:r>
              <a:rPr lang="ja-JP" altLang="en-US" sz="1100" b="1" dirty="0">
                <a:solidFill>
                  <a:srgbClr val="FF0066"/>
                </a:solidFill>
              </a:rPr>
              <a:t>狭い領域</a:t>
            </a:r>
          </a:p>
        </p:txBody>
      </p:sp>
      <p:sp>
        <p:nvSpPr>
          <p:cNvPr id="16" name="テキスト ボックス 15">
            <a:extLst>
              <a:ext uri="{FF2B5EF4-FFF2-40B4-BE49-F238E27FC236}">
                <a16:creationId xmlns:a16="http://schemas.microsoft.com/office/drawing/2014/main" id="{B9F6568C-6402-1DB3-7132-40020FA3F73A}"/>
              </a:ext>
            </a:extLst>
          </p:cNvPr>
          <p:cNvSpPr txBox="1"/>
          <p:nvPr/>
        </p:nvSpPr>
        <p:spPr>
          <a:xfrm>
            <a:off x="7762875" y="5195640"/>
            <a:ext cx="739588" cy="261610"/>
          </a:xfrm>
          <a:prstGeom prst="rect">
            <a:avLst/>
          </a:prstGeom>
          <a:noFill/>
        </p:spPr>
        <p:txBody>
          <a:bodyPr wrap="square">
            <a:spAutoFit/>
          </a:bodyPr>
          <a:lstStyle/>
          <a:p>
            <a:r>
              <a:rPr lang="ja-JP" altLang="en-US" sz="1100" b="1" dirty="0">
                <a:solidFill>
                  <a:srgbClr val="FF0066"/>
                </a:solidFill>
              </a:rPr>
              <a:t>広い領域</a:t>
            </a:r>
          </a:p>
        </p:txBody>
      </p:sp>
      <p:sp>
        <p:nvSpPr>
          <p:cNvPr id="17" name="テキスト ボックス 16">
            <a:extLst>
              <a:ext uri="{FF2B5EF4-FFF2-40B4-BE49-F238E27FC236}">
                <a16:creationId xmlns:a16="http://schemas.microsoft.com/office/drawing/2014/main" id="{269B4F3C-1A29-CB3F-ABF2-44E08FF7EB3A}"/>
              </a:ext>
            </a:extLst>
          </p:cNvPr>
          <p:cNvSpPr txBox="1"/>
          <p:nvPr/>
        </p:nvSpPr>
        <p:spPr>
          <a:xfrm>
            <a:off x="4813579" y="6079141"/>
            <a:ext cx="1992786" cy="261610"/>
          </a:xfrm>
          <a:prstGeom prst="rect">
            <a:avLst/>
          </a:prstGeom>
          <a:noFill/>
        </p:spPr>
        <p:txBody>
          <a:bodyPr wrap="square">
            <a:spAutoFit/>
          </a:bodyPr>
          <a:lstStyle/>
          <a:p>
            <a:r>
              <a:rPr lang="ja-JP" altLang="en-US" sz="1100" b="1" dirty="0">
                <a:solidFill>
                  <a:srgbClr val="FF0066"/>
                </a:solidFill>
              </a:rPr>
              <a:t>初期パイロットで止まりやすい</a:t>
            </a:r>
          </a:p>
        </p:txBody>
      </p:sp>
      <p:sp>
        <p:nvSpPr>
          <p:cNvPr id="18" name="テキスト ボックス 17">
            <a:extLst>
              <a:ext uri="{FF2B5EF4-FFF2-40B4-BE49-F238E27FC236}">
                <a16:creationId xmlns:a16="http://schemas.microsoft.com/office/drawing/2014/main" id="{2D509AB4-C1E5-AD62-7813-4CA5B97798FE}"/>
              </a:ext>
            </a:extLst>
          </p:cNvPr>
          <p:cNvSpPr txBox="1"/>
          <p:nvPr/>
        </p:nvSpPr>
        <p:spPr>
          <a:xfrm>
            <a:off x="8540563" y="5552371"/>
            <a:ext cx="1992786" cy="261610"/>
          </a:xfrm>
          <a:prstGeom prst="rect">
            <a:avLst/>
          </a:prstGeom>
          <a:noFill/>
        </p:spPr>
        <p:txBody>
          <a:bodyPr wrap="square">
            <a:spAutoFit/>
          </a:bodyPr>
          <a:lstStyle/>
          <a:p>
            <a:r>
              <a:rPr lang="ja-JP" altLang="en-US" sz="1100" b="1" dirty="0">
                <a:solidFill>
                  <a:srgbClr val="FF0066"/>
                </a:solidFill>
              </a:rPr>
              <a:t>部分的なパイロット成功</a:t>
            </a:r>
          </a:p>
        </p:txBody>
      </p:sp>
      <p:sp>
        <p:nvSpPr>
          <p:cNvPr id="19" name="テキスト ボックス 18">
            <a:extLst>
              <a:ext uri="{FF2B5EF4-FFF2-40B4-BE49-F238E27FC236}">
                <a16:creationId xmlns:a16="http://schemas.microsoft.com/office/drawing/2014/main" id="{23626DA1-6F54-3A02-EC56-5FD3480A91FA}"/>
              </a:ext>
            </a:extLst>
          </p:cNvPr>
          <p:cNvSpPr txBox="1"/>
          <p:nvPr/>
        </p:nvSpPr>
        <p:spPr>
          <a:xfrm>
            <a:off x="8540563" y="5970000"/>
            <a:ext cx="1992786" cy="261610"/>
          </a:xfrm>
          <a:prstGeom prst="rect">
            <a:avLst/>
          </a:prstGeom>
          <a:noFill/>
        </p:spPr>
        <p:txBody>
          <a:bodyPr wrap="square">
            <a:spAutoFit/>
          </a:bodyPr>
          <a:lstStyle/>
          <a:p>
            <a:r>
              <a:rPr lang="ja-JP" altLang="en-US" sz="1100" b="1" dirty="0">
                <a:solidFill>
                  <a:srgbClr val="FF0066"/>
                </a:solidFill>
              </a:rPr>
              <a:t>失敗しやすい</a:t>
            </a:r>
          </a:p>
        </p:txBody>
      </p:sp>
      <p:sp>
        <p:nvSpPr>
          <p:cNvPr id="20" name="テキスト ボックス 19">
            <a:extLst>
              <a:ext uri="{FF2B5EF4-FFF2-40B4-BE49-F238E27FC236}">
                <a16:creationId xmlns:a16="http://schemas.microsoft.com/office/drawing/2014/main" id="{9B50E120-FFF8-6090-25FF-8C02EA2FAC55}"/>
              </a:ext>
            </a:extLst>
          </p:cNvPr>
          <p:cNvSpPr txBox="1"/>
          <p:nvPr/>
        </p:nvSpPr>
        <p:spPr>
          <a:xfrm>
            <a:off x="5933746" y="5645192"/>
            <a:ext cx="867569" cy="261610"/>
          </a:xfrm>
          <a:prstGeom prst="rect">
            <a:avLst/>
          </a:prstGeom>
          <a:noFill/>
        </p:spPr>
        <p:txBody>
          <a:bodyPr wrap="square">
            <a:spAutoFit/>
          </a:bodyPr>
          <a:lstStyle/>
          <a:p>
            <a:r>
              <a:rPr lang="ja-JP" altLang="en-US" sz="1100" b="1" dirty="0">
                <a:solidFill>
                  <a:srgbClr val="FF0066"/>
                </a:solidFill>
              </a:rPr>
              <a:t>早期成果</a:t>
            </a:r>
          </a:p>
        </p:txBody>
      </p:sp>
      <p:sp>
        <p:nvSpPr>
          <p:cNvPr id="21" name="テキスト ボックス 20">
            <a:extLst>
              <a:ext uri="{FF2B5EF4-FFF2-40B4-BE49-F238E27FC236}">
                <a16:creationId xmlns:a16="http://schemas.microsoft.com/office/drawing/2014/main" id="{DA79EB92-EF4C-86E7-D816-C866BE96AAFB}"/>
              </a:ext>
            </a:extLst>
          </p:cNvPr>
          <p:cNvSpPr txBox="1"/>
          <p:nvPr/>
        </p:nvSpPr>
        <p:spPr>
          <a:xfrm>
            <a:off x="315072" y="6418729"/>
            <a:ext cx="11474824" cy="261610"/>
          </a:xfrm>
          <a:prstGeom prst="rect">
            <a:avLst/>
          </a:prstGeom>
          <a:noFill/>
        </p:spPr>
        <p:txBody>
          <a:bodyPr wrap="square">
            <a:spAutoFit/>
          </a:bodyPr>
          <a:lstStyle/>
          <a:p>
            <a:r>
              <a:rPr lang="ja-JP" altLang="en-US" sz="1100" b="1" dirty="0">
                <a:solidFill>
                  <a:schemeClr val="bg1"/>
                </a:solidFill>
                <a:latin typeface="メイリオ" panose="020B0604030504040204" pitchFamily="50" charset="-128"/>
                <a:ea typeface="メイリオ" panose="020B0604030504040204" pitchFamily="50" charset="-128"/>
              </a:rPr>
              <a:t>このレポートは</a:t>
            </a:r>
            <a:r>
              <a:rPr lang="en-US" altLang="ja-JP" sz="1100" b="1" dirty="0">
                <a:solidFill>
                  <a:schemeClr val="bg1"/>
                </a:solidFill>
                <a:latin typeface="メイリオ" panose="020B0604030504040204" pitchFamily="50" charset="-128"/>
                <a:ea typeface="メイリオ" panose="020B0604030504040204" pitchFamily="50" charset="-128"/>
              </a:rPr>
              <a:t>2025/7</a:t>
            </a:r>
            <a:r>
              <a:rPr lang="ja-JP" altLang="en-US" sz="1100" b="1" dirty="0">
                <a:solidFill>
                  <a:schemeClr val="bg1"/>
                </a:solidFill>
                <a:latin typeface="メイリオ" panose="020B0604030504040204" pitchFamily="50" charset="-128"/>
                <a:ea typeface="メイリオ" panose="020B0604030504040204" pitchFamily="50" charset="-128"/>
              </a:rPr>
              <a:t>。</a:t>
            </a:r>
            <a:r>
              <a:rPr lang="en-US" altLang="ja-JP" sz="1100" b="1" dirty="0">
                <a:solidFill>
                  <a:schemeClr val="bg1"/>
                </a:solidFill>
                <a:latin typeface="メイリオ" panose="020B0604030504040204" pitchFamily="50" charset="-128"/>
                <a:ea typeface="メイリオ" panose="020B0604030504040204" pitchFamily="50" charset="-128"/>
              </a:rPr>
              <a:t>MIT Project NANDA </a:t>
            </a:r>
            <a:r>
              <a:rPr lang="ja-JP" altLang="en-US" sz="1100" b="1" dirty="0">
                <a:solidFill>
                  <a:schemeClr val="bg1"/>
                </a:solidFill>
                <a:latin typeface="メイリオ" panose="020B0604030504040204" pitchFamily="50" charset="-128"/>
                <a:ea typeface="メイリオ" panose="020B0604030504040204" pitchFamily="50" charset="-128"/>
              </a:rPr>
              <a:t>による </a:t>
            </a:r>
            <a:r>
              <a:rPr lang="en-US" altLang="ja-JP" sz="1100" b="1" dirty="0">
                <a:solidFill>
                  <a:schemeClr val="bg1"/>
                </a:solidFill>
                <a:latin typeface="メイリオ" panose="020B0604030504040204" pitchFamily="50" charset="-128"/>
                <a:ea typeface="メイリオ" panose="020B0604030504040204" pitchFamily="50" charset="-128"/>
              </a:rPr>
              <a:t>AI </a:t>
            </a:r>
            <a:r>
              <a:rPr lang="ja-JP" altLang="en-US" sz="1100" b="1" dirty="0">
                <a:solidFill>
                  <a:schemeClr val="bg1"/>
                </a:solidFill>
                <a:latin typeface="メイリオ" panose="020B0604030504040204" pitchFamily="50" charset="-128"/>
                <a:ea typeface="メイリオ" panose="020B0604030504040204" pitchFamily="50" charset="-128"/>
              </a:rPr>
              <a:t>実装研究の予備結果でこれも</a:t>
            </a:r>
            <a:r>
              <a:rPr lang="en-US" altLang="ja-JP" sz="1100" b="1" dirty="0">
                <a:solidFill>
                  <a:schemeClr val="bg1"/>
                </a:solidFill>
                <a:latin typeface="メイリオ" panose="020B0604030504040204" pitchFamily="50" charset="-128"/>
                <a:ea typeface="メイリオ" panose="020B0604030504040204" pitchFamily="50" charset="-128"/>
              </a:rPr>
              <a:t>95%</a:t>
            </a:r>
            <a:r>
              <a:rPr lang="ja-JP" altLang="en-US" sz="1100" b="1" dirty="0">
                <a:solidFill>
                  <a:schemeClr val="bg1"/>
                </a:solidFill>
                <a:latin typeface="メイリオ" panose="020B0604030504040204" pitchFamily="50" charset="-128"/>
                <a:ea typeface="メイリオ" panose="020B0604030504040204" pitchFamily="50" charset="-128"/>
              </a:rPr>
              <a:t>の企業が失敗すると報告されたもの</a:t>
            </a:r>
            <a:endParaRPr lang="ja-JP" altLang="en-US" sz="1100" b="1" dirty="0">
              <a:solidFill>
                <a:schemeClr val="bg1"/>
              </a:solidFill>
            </a:endParaRPr>
          </a:p>
        </p:txBody>
      </p:sp>
      <p:sp>
        <p:nvSpPr>
          <p:cNvPr id="23" name="テキスト ボックス 22">
            <a:extLst>
              <a:ext uri="{FF2B5EF4-FFF2-40B4-BE49-F238E27FC236}">
                <a16:creationId xmlns:a16="http://schemas.microsoft.com/office/drawing/2014/main" id="{9E251D9F-EDF8-3E0A-9FB6-0AA6D3BB11A1}"/>
              </a:ext>
            </a:extLst>
          </p:cNvPr>
          <p:cNvSpPr txBox="1"/>
          <p:nvPr/>
        </p:nvSpPr>
        <p:spPr>
          <a:xfrm>
            <a:off x="5342785" y="4534602"/>
            <a:ext cx="5190564" cy="261610"/>
          </a:xfrm>
          <a:prstGeom prst="rect">
            <a:avLst/>
          </a:prstGeom>
          <a:noFill/>
        </p:spPr>
        <p:txBody>
          <a:bodyPr wrap="square">
            <a:spAutoFit/>
          </a:bodyPr>
          <a:lstStyle/>
          <a:p>
            <a:r>
              <a:rPr lang="en-US" altLang="ja-JP" sz="1100" dirty="0">
                <a:latin typeface="メイリオ" panose="020B0604030504040204" pitchFamily="50" charset="-128"/>
                <a:ea typeface="メイリオ" panose="020B0604030504040204" pitchFamily="50" charset="-128"/>
              </a:rPr>
              <a:t>*</a:t>
            </a:r>
            <a:r>
              <a:rPr lang="ja-JP" altLang="en-US" sz="1100" dirty="0">
                <a:latin typeface="メイリオ" panose="020B0604030504040204" pitchFamily="50" charset="-128"/>
                <a:ea typeface="メイリオ" panose="020B0604030504040204" pitchFamily="50" charset="-128"/>
              </a:rPr>
              <a:t>ヒューリスティックとは、ある程度、正解に近いレベルの答えを導き出す方法</a:t>
            </a:r>
          </a:p>
        </p:txBody>
      </p:sp>
    </p:spTree>
    <p:extLst>
      <p:ext uri="{BB962C8B-B14F-4D97-AF65-F5344CB8AC3E}">
        <p14:creationId xmlns:p14="http://schemas.microsoft.com/office/powerpoint/2010/main" val="30299731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CAE937-3447-8D30-B157-0FAC93DCB0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FD3852-2F99-D80B-DE30-E91D6AD1C3DA}"/>
              </a:ext>
            </a:extLst>
          </p:cNvPr>
          <p:cNvSpPr>
            <a:spLocks noGrp="1"/>
          </p:cNvSpPr>
          <p:nvPr>
            <p:ph type="title"/>
          </p:nvPr>
        </p:nvSpPr>
        <p:spPr>
          <a:xfrm>
            <a:off x="457201" y="274638"/>
            <a:ext cx="11474824" cy="541150"/>
          </a:xfrm>
        </p:spPr>
        <p:txBody>
          <a:bodyPr>
            <a:noAutofit/>
          </a:bodyPr>
          <a:lstStyle/>
          <a:p>
            <a:r>
              <a:rPr lang="ja-JP" altLang="en-US" sz="2400" dirty="0"/>
              <a:t>データ・モデル運用と改善ループ構築</a:t>
            </a:r>
            <a:endParaRPr sz="2400" dirty="0"/>
          </a:p>
        </p:txBody>
      </p:sp>
      <p:sp>
        <p:nvSpPr>
          <p:cNvPr id="3" name="Content Placeholder 2">
            <a:extLst>
              <a:ext uri="{FF2B5EF4-FFF2-40B4-BE49-F238E27FC236}">
                <a16:creationId xmlns:a16="http://schemas.microsoft.com/office/drawing/2014/main" id="{1C3B03FE-1009-2D60-E63B-D9260A164E06}"/>
              </a:ext>
            </a:extLst>
          </p:cNvPr>
          <p:cNvSpPr>
            <a:spLocks noGrp="1"/>
          </p:cNvSpPr>
          <p:nvPr>
            <p:ph idx="1"/>
          </p:nvPr>
        </p:nvSpPr>
        <p:spPr>
          <a:xfrm>
            <a:off x="515473" y="1094300"/>
            <a:ext cx="10986246" cy="541151"/>
          </a:xfrm>
        </p:spPr>
        <p:txBody>
          <a:bodyPr>
            <a:noAutofit/>
          </a:bodyPr>
          <a:lstStyle/>
          <a:p>
            <a:pPr marL="0" indent="0">
              <a:buNone/>
              <a:defRPr sz="1600">
                <a:latin typeface="Meiryo"/>
              </a:defRPr>
            </a:pPr>
            <a:r>
              <a:rPr lang="ja-JP" altLang="en-US" sz="1600" dirty="0"/>
              <a:t>　</a:t>
            </a:r>
            <a:r>
              <a:rPr sz="1600" dirty="0"/>
              <a:t>AIは導入後の改善が重要だが、多くの企業で運用ループが無い。成功企業はAI出力と業務結果を記録し、改善サイクルを回す“継続学習”体制を作り、精度と信頼性を高めている。</a:t>
            </a:r>
            <a:br>
              <a:rPr sz="1600" dirty="0"/>
            </a:br>
            <a:endParaRPr sz="1600" dirty="0"/>
          </a:p>
        </p:txBody>
      </p:sp>
      <p:sp>
        <p:nvSpPr>
          <p:cNvPr id="4" name="テキスト ボックス 3">
            <a:extLst>
              <a:ext uri="{FF2B5EF4-FFF2-40B4-BE49-F238E27FC236}">
                <a16:creationId xmlns:a16="http://schemas.microsoft.com/office/drawing/2014/main" id="{A9726B95-89B3-141F-D657-4B20E62B91A8}"/>
              </a:ext>
            </a:extLst>
          </p:cNvPr>
          <p:cNvSpPr txBox="1"/>
          <p:nvPr/>
        </p:nvSpPr>
        <p:spPr>
          <a:xfrm>
            <a:off x="515473" y="1635451"/>
            <a:ext cx="11044519" cy="307777"/>
          </a:xfrm>
          <a:prstGeom prst="rect">
            <a:avLst/>
          </a:prstGeom>
          <a:noFill/>
        </p:spPr>
        <p:txBody>
          <a:bodyPr wrap="square">
            <a:spAutoFit/>
          </a:bodyPr>
          <a:lstStyle/>
          <a:p>
            <a:r>
              <a:rPr lang="en-US" altLang="ja-JP" sz="1400" dirty="0"/>
              <a:t>https://mlq.ai/media/quarterly_decks/v0.1_State_of_AI_in_Business_2025_Report.pdf?utm_source=chatgpt.com</a:t>
            </a:r>
            <a:endParaRPr lang="ja-JP" altLang="en-US" sz="1400" dirty="0"/>
          </a:p>
        </p:txBody>
      </p:sp>
      <p:sp>
        <p:nvSpPr>
          <p:cNvPr id="5" name="正方形/長方形 4">
            <a:extLst>
              <a:ext uri="{FF2B5EF4-FFF2-40B4-BE49-F238E27FC236}">
                <a16:creationId xmlns:a16="http://schemas.microsoft.com/office/drawing/2014/main" id="{3FCDC23F-E027-8084-1A39-39C584288F6F}"/>
              </a:ext>
            </a:extLst>
          </p:cNvPr>
          <p:cNvSpPr/>
          <p:nvPr/>
        </p:nvSpPr>
        <p:spPr>
          <a:xfrm>
            <a:off x="315072" y="2070847"/>
            <a:ext cx="11474824" cy="4196603"/>
          </a:xfrm>
          <a:prstGeom prst="rect">
            <a:avLst/>
          </a:prstGeom>
          <a:no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pic>
        <p:nvPicPr>
          <p:cNvPr id="6" name="図 5">
            <a:extLst>
              <a:ext uri="{FF2B5EF4-FFF2-40B4-BE49-F238E27FC236}">
                <a16:creationId xmlns:a16="http://schemas.microsoft.com/office/drawing/2014/main" id="{5DBC7EF6-BAAD-2A04-DA78-07C0E055D0EB}"/>
              </a:ext>
            </a:extLst>
          </p:cNvPr>
          <p:cNvPicPr>
            <a:picLocks noChangeAspect="1"/>
          </p:cNvPicPr>
          <p:nvPr/>
        </p:nvPicPr>
        <p:blipFill>
          <a:blip r:embed="rId2"/>
          <a:stretch>
            <a:fillRect/>
          </a:stretch>
        </p:blipFill>
        <p:spPr>
          <a:xfrm>
            <a:off x="457201" y="2198466"/>
            <a:ext cx="2823577" cy="3933393"/>
          </a:xfrm>
          <a:prstGeom prst="rect">
            <a:avLst/>
          </a:prstGeom>
        </p:spPr>
      </p:pic>
      <p:sp>
        <p:nvSpPr>
          <p:cNvPr id="7" name="テキスト ボックス 6">
            <a:extLst>
              <a:ext uri="{FF2B5EF4-FFF2-40B4-BE49-F238E27FC236}">
                <a16:creationId xmlns:a16="http://schemas.microsoft.com/office/drawing/2014/main" id="{D0D85AF1-C7B8-08C6-03FD-2F006E1682E4}"/>
              </a:ext>
            </a:extLst>
          </p:cNvPr>
          <p:cNvSpPr txBox="1"/>
          <p:nvPr/>
        </p:nvSpPr>
        <p:spPr>
          <a:xfrm>
            <a:off x="3609975" y="2176601"/>
            <a:ext cx="8039100" cy="4154984"/>
          </a:xfrm>
          <a:prstGeom prst="rect">
            <a:avLst/>
          </a:prstGeom>
          <a:noFill/>
        </p:spPr>
        <p:txBody>
          <a:bodyPr wrap="square">
            <a:spAutoFit/>
          </a:bodyPr>
          <a:lstStyle/>
          <a:p>
            <a:r>
              <a:rPr lang="ja-JP" altLang="en-US" sz="1200" b="1" dirty="0">
                <a:latin typeface="メイリオ" panose="020B0604030504040204" pitchFamily="50" charset="-128"/>
                <a:ea typeface="メイリオ" panose="020B0604030504040204" pitchFamily="50" charset="-128"/>
              </a:rPr>
              <a:t>“学習できないこと（</a:t>
            </a:r>
            <a:r>
              <a:rPr lang="en-US" altLang="ja-JP" sz="1200" b="1" dirty="0">
                <a:latin typeface="メイリオ" panose="020B0604030504040204" pitchFamily="50" charset="-128"/>
                <a:ea typeface="メイリオ" panose="020B0604030504040204" pitchFamily="50" charset="-128"/>
              </a:rPr>
              <a:t>Learning Gap</a:t>
            </a:r>
            <a:r>
              <a:rPr lang="ja-JP" altLang="en-US" sz="1200" b="1" dirty="0">
                <a:latin typeface="メイリオ" panose="020B0604030504040204" pitchFamily="50" charset="-128"/>
                <a:ea typeface="メイリオ" panose="020B0604030504040204" pitchFamily="50" charset="-128"/>
              </a:rPr>
              <a:t>）が </a:t>
            </a:r>
            <a:r>
              <a:rPr lang="en-US" altLang="ja-JP" sz="1200" b="1" dirty="0">
                <a:latin typeface="メイリオ" panose="020B0604030504040204" pitchFamily="50" charset="-128"/>
                <a:ea typeface="メイリオ" panose="020B0604030504040204" pitchFamily="50" charset="-128"/>
              </a:rPr>
              <a:t>GenAI Divide </a:t>
            </a:r>
            <a:r>
              <a:rPr lang="ja-JP" altLang="en-US" sz="1200" b="1" dirty="0">
                <a:latin typeface="メイリオ" panose="020B0604030504040204" pitchFamily="50" charset="-128"/>
                <a:ea typeface="メイリオ" panose="020B0604030504040204" pitchFamily="50" charset="-128"/>
              </a:rPr>
              <a:t>の主因　</a:t>
            </a:r>
            <a:r>
              <a:rPr lang="en-US" altLang="ja-JP" sz="1200" dirty="0">
                <a:latin typeface="メイリオ" panose="020B0604030504040204" pitchFamily="50" charset="-128"/>
                <a:ea typeface="メイリオ" panose="020B0604030504040204" pitchFamily="50" charset="-128"/>
              </a:rPr>
              <a:t>pg.3</a:t>
            </a:r>
          </a:p>
          <a:p>
            <a:endParaRPr lang="en-US" altLang="ja-JP" sz="1200" dirty="0">
              <a:latin typeface="メイリオ" panose="020B0604030504040204" pitchFamily="50" charset="-128"/>
              <a:ea typeface="メイリオ" panose="020B0604030504040204" pitchFamily="50" charset="-128"/>
            </a:endParaRPr>
          </a:p>
          <a:p>
            <a:r>
              <a:rPr lang="en-US" altLang="ja-JP" sz="1200" dirty="0">
                <a:latin typeface="メイリオ" panose="020B0604030504040204" pitchFamily="50" charset="-128"/>
                <a:ea typeface="メイリオ" panose="020B0604030504040204" pitchFamily="50" charset="-128"/>
              </a:rPr>
              <a:t>GenAI</a:t>
            </a:r>
            <a:r>
              <a:rPr lang="ja-JP" altLang="en-US" sz="1200" dirty="0">
                <a:latin typeface="メイリオ" panose="020B0604030504040204" pitchFamily="50" charset="-128"/>
                <a:ea typeface="メイリオ" panose="020B0604030504040204" pitchFamily="50" charset="-128"/>
              </a:rPr>
              <a:t>のスケールを阻む最大の要因は、インフラや規制、人材不足ではなく、**「学習能力の欠如」**である。</a:t>
            </a:r>
            <a:endParaRPr lang="en-US" altLang="ja-JP" sz="1200" dirty="0">
              <a:latin typeface="メイリオ" panose="020B0604030504040204" pitchFamily="50" charset="-128"/>
              <a:ea typeface="メイリオ" panose="020B0604030504040204" pitchFamily="50" charset="-128"/>
            </a:endParaRPr>
          </a:p>
          <a:p>
            <a:r>
              <a:rPr lang="ja-JP" altLang="en-US" sz="1200" dirty="0">
                <a:latin typeface="メイリオ" panose="020B0604030504040204" pitchFamily="50" charset="-128"/>
                <a:ea typeface="メイリオ" panose="020B0604030504040204" pitchFamily="50" charset="-128"/>
              </a:rPr>
              <a:t>多くの</a:t>
            </a:r>
            <a:r>
              <a:rPr lang="en-US" altLang="ja-JP" sz="1200" dirty="0">
                <a:latin typeface="メイリオ" panose="020B0604030504040204" pitchFamily="50" charset="-128"/>
                <a:ea typeface="メイリオ" panose="020B0604030504040204" pitchFamily="50" charset="-128"/>
              </a:rPr>
              <a:t>GenAI</a:t>
            </a:r>
            <a:r>
              <a:rPr lang="ja-JP" altLang="en-US" sz="1200" dirty="0">
                <a:latin typeface="メイリオ" panose="020B0604030504040204" pitchFamily="50" charset="-128"/>
                <a:ea typeface="メイリオ" panose="020B0604030504040204" pitchFamily="50" charset="-128"/>
              </a:rPr>
              <a:t>ツールは、</a:t>
            </a:r>
            <a:endParaRPr lang="en-US" altLang="ja-JP" sz="1200" dirty="0">
              <a:latin typeface="メイリオ" panose="020B0604030504040204" pitchFamily="50" charset="-128"/>
              <a:ea typeface="メイリオ" panose="020B0604030504040204" pitchFamily="50" charset="-128"/>
            </a:endParaRPr>
          </a:p>
          <a:p>
            <a:r>
              <a:rPr lang="ja-JP" altLang="en-US" sz="1200" dirty="0">
                <a:latin typeface="メイリオ" panose="020B0604030504040204" pitchFamily="50" charset="-128"/>
                <a:ea typeface="メイリオ" panose="020B0604030504040204" pitchFamily="50" charset="-128"/>
              </a:rPr>
              <a:t>・フィードバックを記憶できず</a:t>
            </a:r>
            <a:endParaRPr lang="en-US" altLang="ja-JP" sz="1200" dirty="0">
              <a:latin typeface="メイリオ" panose="020B0604030504040204" pitchFamily="50" charset="-128"/>
              <a:ea typeface="メイリオ" panose="020B0604030504040204" pitchFamily="50" charset="-128"/>
            </a:endParaRPr>
          </a:p>
          <a:p>
            <a:r>
              <a:rPr lang="ja-JP" altLang="en-US" sz="1200" dirty="0">
                <a:latin typeface="メイリオ" panose="020B0604030504040204" pitchFamily="50" charset="-128"/>
                <a:ea typeface="メイリオ" panose="020B0604030504040204" pitchFamily="50" charset="-128"/>
              </a:rPr>
              <a:t>・文脈に適応できず</a:t>
            </a:r>
            <a:endParaRPr lang="en-US" altLang="ja-JP" sz="1200" dirty="0">
              <a:latin typeface="メイリオ" panose="020B0604030504040204" pitchFamily="50" charset="-128"/>
              <a:ea typeface="メイリオ" panose="020B0604030504040204" pitchFamily="50" charset="-128"/>
            </a:endParaRPr>
          </a:p>
          <a:p>
            <a:r>
              <a:rPr lang="ja-JP" altLang="en-US" sz="1200" dirty="0">
                <a:latin typeface="メイリオ" panose="020B0604030504040204" pitchFamily="50" charset="-128"/>
                <a:ea typeface="メイリオ" panose="020B0604030504040204" pitchFamily="50" charset="-128"/>
              </a:rPr>
              <a:t>・時間とともに改善できない</a:t>
            </a:r>
            <a:endParaRPr lang="en-US" altLang="ja-JP" sz="1200" dirty="0">
              <a:latin typeface="メイリオ" panose="020B0604030504040204" pitchFamily="50" charset="-128"/>
              <a:ea typeface="メイリオ" panose="020B0604030504040204" pitchFamily="50" charset="-128"/>
            </a:endParaRPr>
          </a:p>
          <a:p>
            <a:r>
              <a:rPr lang="ja-JP" altLang="en-US" sz="1200" dirty="0">
                <a:latin typeface="メイリオ" panose="020B0604030504040204" pitchFamily="50" charset="-128"/>
                <a:ea typeface="メイリオ" panose="020B0604030504040204" pitchFamily="50" charset="-128"/>
              </a:rPr>
              <a:t>ことが本質的な問題となっている。</a:t>
            </a:r>
            <a:endParaRPr lang="en-US" altLang="ja-JP" sz="1200" dirty="0">
              <a:latin typeface="メイリオ" panose="020B0604030504040204" pitchFamily="50" charset="-128"/>
              <a:ea typeface="メイリオ" panose="020B0604030504040204" pitchFamily="50" charset="-128"/>
            </a:endParaRPr>
          </a:p>
          <a:p>
            <a:endParaRPr lang="en-US" altLang="ja-JP" sz="1200" dirty="0">
              <a:latin typeface="メイリオ" panose="020B0604030504040204" pitchFamily="50" charset="-128"/>
              <a:ea typeface="メイリオ" panose="020B0604030504040204" pitchFamily="50" charset="-128"/>
            </a:endParaRPr>
          </a:p>
          <a:p>
            <a:r>
              <a:rPr lang="ja-JP" altLang="en-US" sz="1200" dirty="0">
                <a:latin typeface="メイリオ" panose="020B0604030504040204" pitchFamily="50" charset="-128"/>
                <a:ea typeface="メイリオ" panose="020B0604030504040204" pitchFamily="50" charset="-128"/>
              </a:rPr>
              <a:t>一方、成功している一部の企業とベンダーはこの課題に正面から取り組み、</a:t>
            </a:r>
            <a:r>
              <a:rPr lang="ja-JP" altLang="en-US" sz="1200" b="1" dirty="0">
                <a:solidFill>
                  <a:srgbClr val="FF0066"/>
                </a:solidFill>
                <a:latin typeface="メイリオ" panose="020B0604030504040204" pitchFamily="50" charset="-128"/>
                <a:ea typeface="メイリオ" panose="020B0604030504040204" pitchFamily="50" charset="-128"/>
              </a:rPr>
              <a:t>プロセス特化のカスタマイズや、ビジネス成果に基づく評価を行い、既存業務と統合され、使うほど改善する</a:t>
            </a:r>
            <a:r>
              <a:rPr lang="en-US" altLang="ja-JP" sz="1200" b="1" dirty="0">
                <a:solidFill>
                  <a:srgbClr val="FF0066"/>
                </a:solidFill>
                <a:latin typeface="メイリオ" panose="020B0604030504040204" pitchFamily="50" charset="-128"/>
                <a:ea typeface="メイリオ" panose="020B0604030504040204" pitchFamily="50" charset="-128"/>
              </a:rPr>
              <a:t>AI</a:t>
            </a:r>
            <a:r>
              <a:rPr lang="ja-JP" altLang="en-US" sz="1200" b="1" dirty="0">
                <a:solidFill>
                  <a:srgbClr val="FF0066"/>
                </a:solidFill>
                <a:latin typeface="メイリオ" panose="020B0604030504040204" pitchFamily="50" charset="-128"/>
                <a:ea typeface="メイリオ" panose="020B0604030504040204" pitchFamily="50" charset="-128"/>
              </a:rPr>
              <a:t>を求めている。</a:t>
            </a:r>
            <a:endParaRPr lang="en-US" altLang="ja-JP" sz="1200" b="1" dirty="0">
              <a:solidFill>
                <a:srgbClr val="FF0066"/>
              </a:solidFill>
              <a:latin typeface="メイリオ" panose="020B0604030504040204" pitchFamily="50" charset="-128"/>
              <a:ea typeface="メイリオ" panose="020B0604030504040204" pitchFamily="50" charset="-128"/>
            </a:endParaRPr>
          </a:p>
          <a:p>
            <a:r>
              <a:rPr lang="ja-JP" altLang="en-US" sz="1200" dirty="0">
                <a:latin typeface="メイリオ" panose="020B0604030504040204" pitchFamily="50" charset="-128"/>
                <a:ea typeface="メイリオ" panose="020B0604030504040204" pitchFamily="50" charset="-128"/>
              </a:rPr>
              <a:t>こうした期待に応えるベンダーは、数ヶ月で数百万ドル規模の導入に成功している。</a:t>
            </a:r>
            <a:endParaRPr lang="en-US" altLang="ja-JP" sz="1200" dirty="0">
              <a:latin typeface="メイリオ" panose="020B0604030504040204" pitchFamily="50" charset="-128"/>
              <a:ea typeface="メイリオ" panose="020B0604030504040204" pitchFamily="50" charset="-128"/>
            </a:endParaRPr>
          </a:p>
          <a:p>
            <a:endParaRPr lang="en-US" altLang="ja-JP" sz="1200" dirty="0">
              <a:latin typeface="メイリオ" panose="020B0604030504040204" pitchFamily="50" charset="-128"/>
              <a:ea typeface="メイリオ" panose="020B0604030504040204" pitchFamily="50" charset="-128"/>
            </a:endParaRPr>
          </a:p>
          <a:p>
            <a:r>
              <a:rPr lang="ja-JP" altLang="en-US" sz="1200" dirty="0">
                <a:latin typeface="メイリオ" panose="020B0604030504040204" pitchFamily="50" charset="-128"/>
                <a:ea typeface="メイリオ" panose="020B0604030504040204" pitchFamily="50" charset="-128"/>
              </a:rPr>
              <a:t>また、</a:t>
            </a:r>
            <a:r>
              <a:rPr lang="en-US" altLang="ja-JP" sz="1200" b="1" dirty="0">
                <a:solidFill>
                  <a:srgbClr val="FF0066"/>
                </a:solidFill>
                <a:latin typeface="メイリオ" panose="020B0604030504040204" pitchFamily="50" charset="-128"/>
                <a:ea typeface="メイリオ" panose="020B0604030504040204" pitchFamily="50" charset="-128"/>
              </a:rPr>
              <a:t>GenAI</a:t>
            </a:r>
            <a:r>
              <a:rPr lang="ja-JP" altLang="en-US" sz="1200" b="1" dirty="0">
                <a:solidFill>
                  <a:srgbClr val="FF0066"/>
                </a:solidFill>
                <a:latin typeface="メイリオ" panose="020B0604030504040204" pitchFamily="50" charset="-128"/>
                <a:ea typeface="メイリオ" panose="020B0604030504040204" pitchFamily="50" charset="-128"/>
              </a:rPr>
              <a:t>による人員削減はほとんど起きていない</a:t>
            </a:r>
            <a:r>
              <a:rPr lang="ja-JP" altLang="en-US" sz="1200" dirty="0">
                <a:latin typeface="メイリオ" panose="020B0604030504040204" pitchFamily="50" charset="-128"/>
                <a:ea typeface="メイリオ" panose="020B0604030504040204" pitchFamily="50" charset="-128"/>
              </a:rPr>
              <a:t>が、</a:t>
            </a:r>
            <a:r>
              <a:rPr lang="en-US" altLang="ja-JP" sz="1200" dirty="0">
                <a:latin typeface="メイリオ" panose="020B0604030504040204" pitchFamily="50" charset="-128"/>
                <a:ea typeface="メイリオ" panose="020B0604030504040204" pitchFamily="50" charset="-128"/>
              </a:rPr>
              <a:t>GenAI Divide </a:t>
            </a:r>
            <a:r>
              <a:rPr lang="ja-JP" altLang="en-US" sz="1200" dirty="0">
                <a:latin typeface="メイリオ" panose="020B0604030504040204" pitchFamily="50" charset="-128"/>
                <a:ea typeface="メイリオ" panose="020B0604030504040204" pitchFamily="50" charset="-128"/>
              </a:rPr>
              <a:t>を越えた企業では、</a:t>
            </a:r>
            <a:endParaRPr lang="en-US" altLang="ja-JP" sz="1200" dirty="0">
              <a:latin typeface="メイリオ" panose="020B0604030504040204" pitchFamily="50" charset="-128"/>
              <a:ea typeface="メイリオ" panose="020B0604030504040204" pitchFamily="50" charset="-128"/>
            </a:endParaRPr>
          </a:p>
          <a:p>
            <a:r>
              <a:rPr lang="ja-JP" altLang="en-US" sz="1200" dirty="0">
                <a:latin typeface="メイリオ" panose="020B0604030504040204" pitchFamily="50" charset="-128"/>
                <a:ea typeface="メイリオ" panose="020B0604030504040204" pitchFamily="50" charset="-128"/>
              </a:rPr>
              <a:t>・カスタマーサポート</a:t>
            </a:r>
            <a:endParaRPr lang="en-US" altLang="ja-JP" sz="1200" dirty="0">
              <a:latin typeface="メイリオ" panose="020B0604030504040204" pitchFamily="50" charset="-128"/>
              <a:ea typeface="メイリオ" panose="020B0604030504040204" pitchFamily="50" charset="-128"/>
            </a:endParaRPr>
          </a:p>
          <a:p>
            <a:r>
              <a:rPr lang="ja-JP" altLang="en-US" sz="1200" dirty="0">
                <a:latin typeface="メイリオ" panose="020B0604030504040204" pitchFamily="50" charset="-128"/>
                <a:ea typeface="メイリオ" panose="020B0604030504040204" pitchFamily="50" charset="-128"/>
              </a:rPr>
              <a:t>・ソフトウェア開発</a:t>
            </a:r>
            <a:endParaRPr lang="en-US" altLang="ja-JP" sz="1200" dirty="0">
              <a:latin typeface="メイリオ" panose="020B0604030504040204" pitchFamily="50" charset="-128"/>
              <a:ea typeface="メイリオ" panose="020B0604030504040204" pitchFamily="50" charset="-128"/>
            </a:endParaRPr>
          </a:p>
          <a:p>
            <a:r>
              <a:rPr lang="ja-JP" altLang="en-US" sz="1200" dirty="0">
                <a:latin typeface="メイリオ" panose="020B0604030504040204" pitchFamily="50" charset="-128"/>
                <a:ea typeface="メイリオ" panose="020B0604030504040204" pitchFamily="50" charset="-128"/>
              </a:rPr>
              <a:t>・事務作業</a:t>
            </a:r>
            <a:endParaRPr lang="en-US" altLang="ja-JP" sz="1200" dirty="0">
              <a:latin typeface="メイリオ" panose="020B0604030504040204" pitchFamily="50" charset="-128"/>
              <a:ea typeface="メイリオ" panose="020B0604030504040204" pitchFamily="50" charset="-128"/>
            </a:endParaRPr>
          </a:p>
          <a:p>
            <a:r>
              <a:rPr lang="ja-JP" altLang="en-US" sz="1200" dirty="0">
                <a:latin typeface="メイリオ" panose="020B0604030504040204" pitchFamily="50" charset="-128"/>
                <a:ea typeface="メイリオ" panose="020B0604030504040204" pitchFamily="50" charset="-128"/>
              </a:rPr>
              <a:t>などで限定的な効率化が起きており、特にバックオフィスでの</a:t>
            </a:r>
            <a:r>
              <a:rPr lang="en-US" altLang="ja-JP" sz="1200" dirty="0">
                <a:latin typeface="メイリオ" panose="020B0604030504040204" pitchFamily="50" charset="-128"/>
                <a:ea typeface="メイリオ" panose="020B0604030504040204" pitchFamily="50" charset="-128"/>
              </a:rPr>
              <a:t>BPO</a:t>
            </a:r>
            <a:r>
              <a:rPr lang="ja-JP" altLang="en-US" sz="1200" dirty="0">
                <a:latin typeface="メイリオ" panose="020B0604030504040204" pitchFamily="50" charset="-128"/>
                <a:ea typeface="メイリオ" panose="020B0604030504040204" pitchFamily="50" charset="-128"/>
              </a:rPr>
              <a:t>削減や外部委託費削減が大きな成果となっている。</a:t>
            </a:r>
            <a:endParaRPr lang="en-US" altLang="ja-JP" sz="1200" dirty="0">
              <a:latin typeface="メイリオ" panose="020B0604030504040204" pitchFamily="50" charset="-128"/>
              <a:ea typeface="メイリオ" panose="020B0604030504040204" pitchFamily="50" charset="-128"/>
            </a:endParaRPr>
          </a:p>
          <a:p>
            <a:endParaRPr lang="en-US" altLang="ja-JP" sz="1200" dirty="0">
              <a:latin typeface="メイリオ" panose="020B0604030504040204" pitchFamily="50" charset="-128"/>
              <a:ea typeface="メイリオ" panose="020B0604030504040204" pitchFamily="50" charset="-128"/>
            </a:endParaRPr>
          </a:p>
          <a:p>
            <a:r>
              <a:rPr lang="ja-JP" altLang="en-US" sz="1200" dirty="0">
                <a:latin typeface="メイリオ" panose="020B0604030504040204" pitchFamily="50" charset="-128"/>
                <a:ea typeface="メイリオ" panose="020B0604030504040204" pitchFamily="50" charset="-128"/>
              </a:rPr>
              <a:t>さらに、自動化された顧客フォローにより顧客維持や販売効率も改善している。これらは、</a:t>
            </a:r>
            <a:r>
              <a:rPr lang="ja-JP" altLang="en-US" sz="1200" b="1" dirty="0">
                <a:solidFill>
                  <a:srgbClr val="FF0066"/>
                </a:solidFill>
                <a:latin typeface="メイリオ" panose="020B0604030504040204" pitchFamily="50" charset="-128"/>
                <a:ea typeface="メイリオ" panose="020B0604030504040204" pitchFamily="50" charset="-128"/>
              </a:rPr>
              <a:t>学習可能な</a:t>
            </a:r>
            <a:r>
              <a:rPr lang="en-US" altLang="ja-JP" sz="1200" b="1" dirty="0">
                <a:solidFill>
                  <a:srgbClr val="FF0066"/>
                </a:solidFill>
                <a:latin typeface="メイリオ" panose="020B0604030504040204" pitchFamily="50" charset="-128"/>
                <a:ea typeface="メイリオ" panose="020B0604030504040204" pitchFamily="50" charset="-128"/>
              </a:rPr>
              <a:t>AI</a:t>
            </a:r>
            <a:r>
              <a:rPr lang="ja-JP" altLang="en-US" sz="1200" b="1" dirty="0">
                <a:solidFill>
                  <a:srgbClr val="FF0066"/>
                </a:solidFill>
                <a:latin typeface="メイリオ" panose="020B0604030504040204" pitchFamily="50" charset="-128"/>
                <a:ea typeface="メイリオ" panose="020B0604030504040204" pitchFamily="50" charset="-128"/>
              </a:rPr>
              <a:t>システムが、組織構造を大きく変えなくても実際の価値を生み出せる</a:t>
            </a:r>
            <a:r>
              <a:rPr lang="ja-JP" altLang="en-US" sz="1200" dirty="0">
                <a:latin typeface="メイリオ" panose="020B0604030504040204" pitchFamily="50" charset="-128"/>
                <a:ea typeface="メイリオ" panose="020B0604030504040204" pitchFamily="50" charset="-128"/>
              </a:rPr>
              <a:t>ことを示している。ｖ</a:t>
            </a:r>
            <a:endParaRPr lang="en-US" altLang="ja-JP" sz="12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2995577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087C68-261D-4477-4D27-3584D5128C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7D67C4-3AEB-613F-9080-25806450E11C}"/>
              </a:ext>
            </a:extLst>
          </p:cNvPr>
          <p:cNvSpPr>
            <a:spLocks noGrp="1"/>
          </p:cNvSpPr>
          <p:nvPr>
            <p:ph type="title"/>
          </p:nvPr>
        </p:nvSpPr>
        <p:spPr>
          <a:xfrm>
            <a:off x="457201" y="274638"/>
            <a:ext cx="11474824" cy="541150"/>
          </a:xfrm>
        </p:spPr>
        <p:txBody>
          <a:bodyPr>
            <a:noAutofit/>
          </a:bodyPr>
          <a:lstStyle/>
          <a:p>
            <a:pPr>
              <a:defRPr sz="1600">
                <a:latin typeface="Meiryo"/>
              </a:defRPr>
            </a:pPr>
            <a:r>
              <a:rPr lang="ja-JP" altLang="en-US" sz="2400" dirty="0"/>
              <a:t>適用領域・目的の明確化と</a:t>
            </a:r>
            <a:r>
              <a:rPr lang="en-US" altLang="ja-JP" sz="2400" dirty="0"/>
              <a:t>KPI</a:t>
            </a:r>
            <a:r>
              <a:rPr lang="ja-JP" altLang="en-US" sz="2400" dirty="0"/>
              <a:t>設計</a:t>
            </a:r>
          </a:p>
        </p:txBody>
      </p:sp>
      <p:sp>
        <p:nvSpPr>
          <p:cNvPr id="3" name="Content Placeholder 2">
            <a:extLst>
              <a:ext uri="{FF2B5EF4-FFF2-40B4-BE49-F238E27FC236}">
                <a16:creationId xmlns:a16="http://schemas.microsoft.com/office/drawing/2014/main" id="{E2589B89-8E22-B66C-9651-040CC0B9705A}"/>
              </a:ext>
            </a:extLst>
          </p:cNvPr>
          <p:cNvSpPr>
            <a:spLocks noGrp="1"/>
          </p:cNvSpPr>
          <p:nvPr>
            <p:ph idx="1"/>
          </p:nvPr>
        </p:nvSpPr>
        <p:spPr>
          <a:xfrm>
            <a:off x="515473" y="1094300"/>
            <a:ext cx="10995210" cy="541151"/>
          </a:xfrm>
        </p:spPr>
        <p:txBody>
          <a:bodyPr>
            <a:noAutofit/>
          </a:bodyPr>
          <a:lstStyle/>
          <a:p>
            <a:pPr marL="0" indent="0">
              <a:buNone/>
              <a:defRPr sz="1600">
                <a:latin typeface="Meiryo"/>
              </a:defRPr>
            </a:pPr>
            <a:r>
              <a:rPr lang="ja-JP" altLang="en-US" sz="1600" dirty="0">
                <a:latin typeface="メイリオ" panose="020B0604030504040204" pitchFamily="50" charset="-128"/>
                <a:ea typeface="メイリオ" panose="020B0604030504040204" pitchFamily="50" charset="-128"/>
              </a:rPr>
              <a:t>　</a:t>
            </a:r>
            <a:r>
              <a:rPr sz="1600" dirty="0" err="1">
                <a:latin typeface="メイリオ" panose="020B0604030504040204" pitchFamily="50" charset="-128"/>
                <a:ea typeface="メイリオ" panose="020B0604030504040204" pitchFamily="50" charset="-128"/>
              </a:rPr>
              <a:t>AI導入の目的が曖昧だと成果が出ない。成功企業は改善KPIを定義し、Before</a:t>
            </a:r>
            <a:r>
              <a:rPr sz="1600" dirty="0">
                <a:latin typeface="メイリオ" panose="020B0604030504040204" pitchFamily="50" charset="-128"/>
                <a:ea typeface="メイリオ" panose="020B0604030504040204" pitchFamily="50" charset="-128"/>
              </a:rPr>
              <a:t>/</a:t>
            </a:r>
            <a:r>
              <a:rPr sz="1600" dirty="0" err="1">
                <a:latin typeface="メイリオ" panose="020B0604030504040204" pitchFamily="50" charset="-128"/>
                <a:ea typeface="メイリオ" panose="020B0604030504040204" pitchFamily="50" charset="-128"/>
              </a:rPr>
              <a:t>Afterの数値を追跡。ROIと成果を経営判断と結びつけている</a:t>
            </a:r>
            <a:r>
              <a:rPr sz="1600" dirty="0">
                <a:latin typeface="メイリオ" panose="020B0604030504040204" pitchFamily="50" charset="-128"/>
                <a:ea typeface="メイリオ" panose="020B0604030504040204" pitchFamily="50" charset="-128"/>
              </a:rPr>
              <a:t>。</a:t>
            </a:r>
            <a:r>
              <a:rPr lang="en-US" sz="1600" dirty="0">
                <a:latin typeface="メイリオ" panose="020B0604030504040204" pitchFamily="50" charset="-128"/>
                <a:ea typeface="メイリオ" panose="020B0604030504040204" pitchFamily="50" charset="-128"/>
              </a:rPr>
              <a:t>(</a:t>
            </a:r>
            <a:r>
              <a:rPr lang="ja-JP" altLang="en-US" sz="1600" dirty="0">
                <a:latin typeface="メイリオ" panose="020B0604030504040204" pitchFamily="50" charset="-128"/>
                <a:ea typeface="メイリオ" panose="020B0604030504040204" pitchFamily="50" charset="-128"/>
              </a:rPr>
              <a:t>フォーブス</a:t>
            </a:r>
            <a:r>
              <a:rPr lang="en-US" sz="1600" dirty="0">
                <a:latin typeface="メイリオ" panose="020B0604030504040204" pitchFamily="50" charset="-128"/>
                <a:ea typeface="メイリオ" panose="020B0604030504040204" pitchFamily="50" charset="-128"/>
              </a:rPr>
              <a:t>)</a:t>
            </a:r>
            <a:endParaRPr sz="1600" dirty="0">
              <a:latin typeface="メイリオ" panose="020B0604030504040204" pitchFamily="50" charset="-128"/>
              <a:ea typeface="メイリオ" panose="020B0604030504040204" pitchFamily="50" charset="-128"/>
            </a:endParaRPr>
          </a:p>
        </p:txBody>
      </p:sp>
      <p:sp>
        <p:nvSpPr>
          <p:cNvPr id="4" name="テキスト ボックス 3">
            <a:extLst>
              <a:ext uri="{FF2B5EF4-FFF2-40B4-BE49-F238E27FC236}">
                <a16:creationId xmlns:a16="http://schemas.microsoft.com/office/drawing/2014/main" id="{83AA2858-BE14-ACC9-8A37-5769319040F6}"/>
              </a:ext>
            </a:extLst>
          </p:cNvPr>
          <p:cNvSpPr txBox="1"/>
          <p:nvPr/>
        </p:nvSpPr>
        <p:spPr>
          <a:xfrm>
            <a:off x="515473" y="1635451"/>
            <a:ext cx="11274423" cy="307777"/>
          </a:xfrm>
          <a:prstGeom prst="rect">
            <a:avLst/>
          </a:prstGeom>
          <a:noFill/>
        </p:spPr>
        <p:txBody>
          <a:bodyPr wrap="square">
            <a:spAutoFit/>
          </a:bodyPr>
          <a:lstStyle/>
          <a:p>
            <a:r>
              <a:rPr lang="en-US" altLang="ja-JP" sz="1400" dirty="0"/>
              <a:t>https://www.forbes.com/sites/andreahill/2025/08/21/why-95-of-ai-pilots-fail-and-what-business-leaders-should-do-instead/?utm_source=chatgpt.com</a:t>
            </a:r>
            <a:endParaRPr lang="ja-JP" altLang="en-US" sz="1400" dirty="0"/>
          </a:p>
        </p:txBody>
      </p:sp>
      <p:sp>
        <p:nvSpPr>
          <p:cNvPr id="5" name="正方形/長方形 4">
            <a:extLst>
              <a:ext uri="{FF2B5EF4-FFF2-40B4-BE49-F238E27FC236}">
                <a16:creationId xmlns:a16="http://schemas.microsoft.com/office/drawing/2014/main" id="{E84A24EC-E0AD-F163-3AE2-6226DFF63328}"/>
              </a:ext>
            </a:extLst>
          </p:cNvPr>
          <p:cNvSpPr/>
          <p:nvPr/>
        </p:nvSpPr>
        <p:spPr>
          <a:xfrm>
            <a:off x="315072" y="2070847"/>
            <a:ext cx="11474824" cy="4213412"/>
          </a:xfrm>
          <a:prstGeom prst="rect">
            <a:avLst/>
          </a:prstGeom>
          <a:no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sp>
        <p:nvSpPr>
          <p:cNvPr id="7" name="テキスト ボックス 6">
            <a:extLst>
              <a:ext uri="{FF2B5EF4-FFF2-40B4-BE49-F238E27FC236}">
                <a16:creationId xmlns:a16="http://schemas.microsoft.com/office/drawing/2014/main" id="{A7ABFC96-37F8-C263-6DFA-DD368D2045FE}"/>
              </a:ext>
            </a:extLst>
          </p:cNvPr>
          <p:cNvSpPr txBox="1"/>
          <p:nvPr/>
        </p:nvSpPr>
        <p:spPr>
          <a:xfrm>
            <a:off x="457201" y="2176602"/>
            <a:ext cx="11053482" cy="3416320"/>
          </a:xfrm>
          <a:prstGeom prst="rect">
            <a:avLst/>
          </a:prstGeom>
          <a:noFill/>
        </p:spPr>
        <p:txBody>
          <a:bodyPr wrap="square">
            <a:spAutoFit/>
          </a:bodyPr>
          <a:lstStyle/>
          <a:p>
            <a:r>
              <a:rPr lang="en-US" altLang="ja-JP" sz="1200" dirty="0">
                <a:latin typeface="メイリオ" panose="020B0604030504040204" pitchFamily="50" charset="-128"/>
                <a:ea typeface="メイリオ" panose="020B0604030504040204" pitchFamily="50" charset="-128"/>
              </a:rPr>
              <a:t>AI</a:t>
            </a:r>
            <a:r>
              <a:rPr lang="ja-JP" altLang="en-US" sz="1200" dirty="0">
                <a:latin typeface="メイリオ" panose="020B0604030504040204" pitchFamily="50" charset="-128"/>
                <a:ea typeface="メイリオ" panose="020B0604030504040204" pitchFamily="50" charset="-128"/>
              </a:rPr>
              <a:t>パイロットが失敗する最大の理由のひとつは、</a:t>
            </a:r>
            <a:endParaRPr lang="en-US" altLang="ja-JP" sz="1200" dirty="0">
              <a:latin typeface="メイリオ" panose="020B0604030504040204" pitchFamily="50" charset="-128"/>
              <a:ea typeface="メイリオ" panose="020B0604030504040204" pitchFamily="50" charset="-128"/>
            </a:endParaRPr>
          </a:p>
          <a:p>
            <a:r>
              <a:rPr lang="ja-JP" altLang="en-US" sz="1200" dirty="0">
                <a:latin typeface="メイリオ" panose="020B0604030504040204" pitchFamily="50" charset="-128"/>
                <a:ea typeface="メイリオ" panose="020B0604030504040204" pitchFamily="50" charset="-128"/>
              </a:rPr>
              <a:t>「何を改善するための</a:t>
            </a:r>
            <a:r>
              <a:rPr lang="en-US" altLang="ja-JP" sz="1200" dirty="0">
                <a:latin typeface="メイリオ" panose="020B0604030504040204" pitchFamily="50" charset="-128"/>
                <a:ea typeface="メイリオ" panose="020B0604030504040204" pitchFamily="50" charset="-128"/>
              </a:rPr>
              <a:t>AI</a:t>
            </a:r>
            <a:r>
              <a:rPr lang="ja-JP" altLang="en-US" sz="1200" dirty="0">
                <a:latin typeface="メイリオ" panose="020B0604030504040204" pitchFamily="50" charset="-128"/>
                <a:ea typeface="メイリオ" panose="020B0604030504040204" pitchFamily="50" charset="-128"/>
              </a:rPr>
              <a:t>なのか」「どの数値をどれだけ改善したいのか」が明確にされないまま導入が始まることにある。</a:t>
            </a:r>
            <a:endParaRPr lang="en-US" altLang="ja-JP" sz="1200" dirty="0">
              <a:latin typeface="メイリオ" panose="020B0604030504040204" pitchFamily="50" charset="-128"/>
              <a:ea typeface="メイリオ" panose="020B0604030504040204" pitchFamily="50" charset="-128"/>
            </a:endParaRPr>
          </a:p>
          <a:p>
            <a:endParaRPr lang="en-US" altLang="ja-JP" sz="1200" dirty="0">
              <a:latin typeface="メイリオ" panose="020B0604030504040204" pitchFamily="50" charset="-128"/>
              <a:ea typeface="メイリオ" panose="020B0604030504040204" pitchFamily="50" charset="-128"/>
            </a:endParaRPr>
          </a:p>
          <a:p>
            <a:r>
              <a:rPr lang="en-US" altLang="ja-JP" sz="1200" dirty="0">
                <a:latin typeface="メイリオ" panose="020B0604030504040204" pitchFamily="50" charset="-128"/>
                <a:ea typeface="メイリオ" panose="020B0604030504040204" pitchFamily="50" charset="-128"/>
              </a:rPr>
              <a:t>AI</a:t>
            </a:r>
            <a:r>
              <a:rPr lang="ja-JP" altLang="en-US" sz="1200" dirty="0">
                <a:latin typeface="メイリオ" panose="020B0604030504040204" pitchFamily="50" charset="-128"/>
                <a:ea typeface="メイリオ" panose="020B0604030504040204" pitchFamily="50" charset="-128"/>
              </a:rPr>
              <a:t>導入が失敗するのは、</a:t>
            </a:r>
            <a:r>
              <a:rPr lang="ja-JP" altLang="en-US" sz="1200" b="1" dirty="0">
                <a:solidFill>
                  <a:srgbClr val="FF0066"/>
                </a:solidFill>
                <a:latin typeface="メイリオ" panose="020B0604030504040204" pitchFamily="50" charset="-128"/>
                <a:ea typeface="メイリオ" panose="020B0604030504040204" pitchFamily="50" charset="-128"/>
              </a:rPr>
              <a:t>解決すべき業務課題や測定指標（成果基準）が曖昧なまま導入が進むから</a:t>
            </a:r>
            <a:r>
              <a:rPr lang="ja-JP" altLang="en-US" sz="1200" dirty="0">
                <a:latin typeface="メイリオ" panose="020B0604030504040204" pitchFamily="50" charset="-128"/>
                <a:ea typeface="メイリオ" panose="020B0604030504040204" pitchFamily="50" charset="-128"/>
              </a:rPr>
              <a:t>である。</a:t>
            </a:r>
            <a:endParaRPr lang="en-US" altLang="ja-JP" sz="1200" dirty="0">
              <a:latin typeface="メイリオ" panose="020B0604030504040204" pitchFamily="50" charset="-128"/>
              <a:ea typeface="メイリオ" panose="020B0604030504040204" pitchFamily="50" charset="-128"/>
            </a:endParaRPr>
          </a:p>
          <a:p>
            <a:r>
              <a:rPr lang="ja-JP" altLang="en-US" sz="1200" b="1" dirty="0">
                <a:solidFill>
                  <a:srgbClr val="FF0066"/>
                </a:solidFill>
                <a:latin typeface="メイリオ" panose="020B0604030504040204" pitchFamily="50" charset="-128"/>
                <a:ea typeface="メイリオ" panose="020B0604030504040204" pitchFamily="50" charset="-128"/>
              </a:rPr>
              <a:t>「目的を定義し、成果を測ることができるプロセスで使う」企業だけが成功している。</a:t>
            </a:r>
            <a:endParaRPr lang="en-US" altLang="ja-JP" sz="1200" b="1" dirty="0">
              <a:solidFill>
                <a:srgbClr val="FF0066"/>
              </a:solidFill>
              <a:latin typeface="メイリオ" panose="020B0604030504040204" pitchFamily="50" charset="-128"/>
              <a:ea typeface="メイリオ" panose="020B0604030504040204" pitchFamily="50" charset="-128"/>
            </a:endParaRPr>
          </a:p>
          <a:p>
            <a:endParaRPr lang="en-US" altLang="ja-JP" sz="1200" b="1" dirty="0">
              <a:solidFill>
                <a:srgbClr val="FF0066"/>
              </a:solidFill>
              <a:latin typeface="メイリオ" panose="020B0604030504040204" pitchFamily="50" charset="-128"/>
              <a:ea typeface="メイリオ" panose="020B0604030504040204" pitchFamily="50" charset="-128"/>
            </a:endParaRPr>
          </a:p>
          <a:p>
            <a:r>
              <a:rPr lang="ja-JP" altLang="en-US" sz="1200" b="1" dirty="0">
                <a:latin typeface="メイリオ" panose="020B0604030504040204" pitchFamily="50" charset="-128"/>
                <a:ea typeface="メイリオ" panose="020B0604030504040204" pitchFamily="50" charset="-128"/>
              </a:rPr>
              <a:t>失敗の原因</a:t>
            </a:r>
            <a:endParaRPr lang="en-US" altLang="ja-JP" sz="1200" b="1" dirty="0">
              <a:latin typeface="メイリオ" panose="020B0604030504040204" pitchFamily="50" charset="-128"/>
              <a:ea typeface="メイリオ" panose="020B0604030504040204" pitchFamily="50" charset="-128"/>
            </a:endParaRPr>
          </a:p>
          <a:p>
            <a:r>
              <a:rPr lang="ja-JP" altLang="en-US" sz="1200" dirty="0">
                <a:latin typeface="メイリオ" panose="020B0604030504040204" pitchFamily="50" charset="-128"/>
                <a:ea typeface="メイリオ" panose="020B0604030504040204" pitchFamily="50" charset="-128"/>
              </a:rPr>
              <a:t>　“多くのプロジェクトは、明確なビジネス問題を解決するために始めていない”</a:t>
            </a:r>
            <a:endParaRPr lang="en-US" altLang="ja-JP" sz="1200" dirty="0">
              <a:latin typeface="メイリオ" panose="020B0604030504040204" pitchFamily="50" charset="-128"/>
              <a:ea typeface="メイリオ" panose="020B0604030504040204" pitchFamily="50" charset="-128"/>
            </a:endParaRPr>
          </a:p>
          <a:p>
            <a:r>
              <a:rPr lang="ja-JP" altLang="en-US" sz="1200" dirty="0">
                <a:latin typeface="メイリオ" panose="020B0604030504040204" pitchFamily="50" charset="-128"/>
                <a:ea typeface="メイリオ" panose="020B0604030504040204" pitchFamily="50" charset="-128"/>
              </a:rPr>
              <a:t>　“成果を測る基準がなく、営業・マーケの表面的な指標に流れやすい”</a:t>
            </a:r>
            <a:endParaRPr lang="en-US" altLang="ja-JP" sz="1200" dirty="0">
              <a:latin typeface="メイリオ" panose="020B0604030504040204" pitchFamily="50" charset="-128"/>
              <a:ea typeface="メイリオ" panose="020B0604030504040204" pitchFamily="50" charset="-128"/>
            </a:endParaRPr>
          </a:p>
          <a:p>
            <a:r>
              <a:rPr lang="ja-JP" altLang="en-US" sz="1200" dirty="0">
                <a:latin typeface="メイリオ" panose="020B0604030504040204" pitchFamily="50" charset="-128"/>
                <a:ea typeface="メイリオ" panose="020B0604030504040204" pitchFamily="50" charset="-128"/>
              </a:rPr>
              <a:t>　“実際に価値が出ているのは、業務プロセスに深く統合された領域（バックオフィスなど）”</a:t>
            </a:r>
            <a:endParaRPr lang="en-US" altLang="ja-JP" sz="1200" dirty="0">
              <a:latin typeface="メイリオ" panose="020B0604030504040204" pitchFamily="50" charset="-128"/>
              <a:ea typeface="メイリオ" panose="020B0604030504040204" pitchFamily="50" charset="-128"/>
            </a:endParaRPr>
          </a:p>
          <a:p>
            <a:r>
              <a:rPr lang="ja-JP" altLang="en-US" sz="1200" dirty="0">
                <a:latin typeface="メイリオ" panose="020B0604030504040204" pitchFamily="50" charset="-128"/>
                <a:ea typeface="メイリオ" panose="020B0604030504040204" pitchFamily="50" charset="-128"/>
              </a:rPr>
              <a:t>　“本当に効果を出す企業は、プロセスを理解し、結果を測定し、戦略と結びつけている”</a:t>
            </a:r>
            <a:endParaRPr lang="en-US" altLang="ja-JP" sz="1200" dirty="0">
              <a:latin typeface="メイリオ" panose="020B0604030504040204" pitchFamily="50" charset="-128"/>
              <a:ea typeface="メイリオ" panose="020B0604030504040204" pitchFamily="50" charset="-128"/>
            </a:endParaRPr>
          </a:p>
          <a:p>
            <a:endParaRPr lang="en-US" altLang="ja-JP" sz="1200" dirty="0">
              <a:latin typeface="メイリオ" panose="020B0604030504040204" pitchFamily="50" charset="-128"/>
              <a:ea typeface="メイリオ" panose="020B0604030504040204" pitchFamily="50" charset="-128"/>
            </a:endParaRPr>
          </a:p>
          <a:p>
            <a:r>
              <a:rPr lang="ja-JP" altLang="en-US" sz="1200" b="1" dirty="0">
                <a:solidFill>
                  <a:srgbClr val="FF0066"/>
                </a:solidFill>
                <a:latin typeface="メイリオ" panose="020B0604030504040204" pitchFamily="50" charset="-128"/>
                <a:ea typeface="メイリオ" panose="020B0604030504040204" pitchFamily="50" charset="-128"/>
              </a:rPr>
              <a:t>成功している企業</a:t>
            </a:r>
            <a:endParaRPr lang="en-US" altLang="ja-JP" sz="1200" b="1" dirty="0">
              <a:solidFill>
                <a:srgbClr val="FF0066"/>
              </a:solidFill>
              <a:latin typeface="メイリオ" panose="020B0604030504040204" pitchFamily="50" charset="-128"/>
              <a:ea typeface="メイリオ" panose="020B0604030504040204" pitchFamily="50" charset="-128"/>
            </a:endParaRPr>
          </a:p>
          <a:p>
            <a:r>
              <a:rPr lang="ja-JP" altLang="en-US" sz="1200" dirty="0">
                <a:latin typeface="メイリオ" panose="020B0604030504040204" pitchFamily="50" charset="-128"/>
                <a:ea typeface="メイリオ" panose="020B0604030504040204" pitchFamily="50" charset="-128"/>
              </a:rPr>
              <a:t>成功している企業は、</a:t>
            </a:r>
            <a:endParaRPr lang="en-US" altLang="ja-JP" sz="1200" dirty="0">
              <a:latin typeface="メイリオ" panose="020B0604030504040204" pitchFamily="50" charset="-128"/>
              <a:ea typeface="メイリオ" panose="020B0604030504040204" pitchFamily="50" charset="-128"/>
            </a:endParaRPr>
          </a:p>
          <a:p>
            <a:r>
              <a:rPr lang="ja-JP" altLang="en-US" sz="1200" dirty="0">
                <a:latin typeface="メイリオ" panose="020B0604030504040204" pitchFamily="50" charset="-128"/>
                <a:ea typeface="メイリオ" panose="020B0604030504040204" pitchFamily="50" charset="-128"/>
              </a:rPr>
              <a:t>・</a:t>
            </a:r>
            <a:r>
              <a:rPr lang="ja-JP" altLang="en-US" sz="1200" b="1" dirty="0">
                <a:solidFill>
                  <a:srgbClr val="FF0066"/>
                </a:solidFill>
                <a:latin typeface="メイリオ" panose="020B0604030504040204" pitchFamily="50" charset="-128"/>
                <a:ea typeface="メイリオ" panose="020B0604030504040204" pitchFamily="50" charset="-128"/>
              </a:rPr>
              <a:t>“プロセス固有の課題” を理解し、そこにカスタマイズして導入</a:t>
            </a:r>
            <a:r>
              <a:rPr lang="ja-JP" altLang="en-US" sz="1200" dirty="0">
                <a:latin typeface="メイリオ" panose="020B0604030504040204" pitchFamily="50" charset="-128"/>
                <a:ea typeface="メイリオ" panose="020B0604030504040204" pitchFamily="50" charset="-128"/>
              </a:rPr>
              <a:t>している。</a:t>
            </a:r>
            <a:endParaRPr lang="en-US" altLang="ja-JP" sz="1200" dirty="0">
              <a:latin typeface="メイリオ" panose="020B0604030504040204" pitchFamily="50" charset="-128"/>
              <a:ea typeface="メイリオ" panose="020B0604030504040204" pitchFamily="50" charset="-128"/>
            </a:endParaRPr>
          </a:p>
          <a:p>
            <a:r>
              <a:rPr lang="ja-JP" altLang="en-US" sz="1200" dirty="0">
                <a:latin typeface="メイリオ" panose="020B0604030504040204" pitchFamily="50" charset="-128"/>
                <a:ea typeface="メイリオ" panose="020B0604030504040204" pitchFamily="50" charset="-128"/>
              </a:rPr>
              <a:t>・成果</a:t>
            </a:r>
            <a:r>
              <a:rPr lang="ja-JP" altLang="en-US" sz="1200" b="1" dirty="0">
                <a:solidFill>
                  <a:srgbClr val="FF0066"/>
                </a:solidFill>
                <a:latin typeface="メイリオ" panose="020B0604030504040204" pitchFamily="50" charset="-128"/>
                <a:ea typeface="メイリオ" panose="020B0604030504040204" pitchFamily="50" charset="-128"/>
              </a:rPr>
              <a:t>は “ビジネスアウトカム”で評価 </a:t>
            </a:r>
            <a:r>
              <a:rPr lang="ja-JP" altLang="en-US" sz="1200" dirty="0">
                <a:latin typeface="メイリオ" panose="020B0604030504040204" pitchFamily="50" charset="-128"/>
                <a:ea typeface="メイリオ" panose="020B0604030504040204" pitchFamily="50" charset="-128"/>
              </a:rPr>
              <a:t>している（例：コスト削減、顧客維持、</a:t>
            </a:r>
            <a:r>
              <a:rPr lang="en-US" altLang="ja-JP" sz="1200" dirty="0">
                <a:latin typeface="メイリオ" panose="020B0604030504040204" pitchFamily="50" charset="-128"/>
                <a:ea typeface="メイリオ" panose="020B0604030504040204" pitchFamily="50" charset="-128"/>
              </a:rPr>
              <a:t>BPO</a:t>
            </a:r>
            <a:r>
              <a:rPr lang="ja-JP" altLang="en-US" sz="1200" dirty="0">
                <a:latin typeface="メイリオ" panose="020B0604030504040204" pitchFamily="50" charset="-128"/>
                <a:ea typeface="メイリオ" panose="020B0604030504040204" pitchFamily="50" charset="-128"/>
              </a:rPr>
              <a:t>削減など具体的成果が列挙される）</a:t>
            </a:r>
            <a:endParaRPr lang="en-US" altLang="ja-JP" sz="1200" dirty="0">
              <a:latin typeface="メイリオ" panose="020B0604030504040204" pitchFamily="50" charset="-128"/>
              <a:ea typeface="メイリオ" panose="020B0604030504040204" pitchFamily="50" charset="-128"/>
            </a:endParaRPr>
          </a:p>
          <a:p>
            <a:endParaRPr lang="en-US" altLang="ja-JP" sz="1200" dirty="0">
              <a:latin typeface="メイリオ" panose="020B0604030504040204" pitchFamily="50" charset="-128"/>
              <a:ea typeface="メイリオ" panose="020B0604030504040204" pitchFamily="50" charset="-128"/>
            </a:endParaRPr>
          </a:p>
          <a:p>
            <a:r>
              <a:rPr lang="ja-JP" altLang="en-US" sz="1200" dirty="0">
                <a:latin typeface="メイリオ" panose="020B0604030504040204" pitchFamily="50" charset="-128"/>
                <a:ea typeface="メイリオ" panose="020B0604030504040204" pitchFamily="50" charset="-128"/>
              </a:rPr>
              <a:t>➡つまり、成功企業は </a:t>
            </a:r>
            <a:r>
              <a:rPr lang="ja-JP" altLang="en-US" sz="1200" b="1" dirty="0">
                <a:solidFill>
                  <a:srgbClr val="FF0066"/>
                </a:solidFill>
                <a:latin typeface="メイリオ" panose="020B0604030504040204" pitchFamily="50" charset="-128"/>
                <a:ea typeface="メイリオ" panose="020B0604030504040204" pitchFamily="50" charset="-128"/>
              </a:rPr>
              <a:t>“目的 → 活用領域 → 測定 → </a:t>
            </a:r>
            <a:r>
              <a:rPr lang="en-US" altLang="ja-JP" sz="1200" b="1" dirty="0">
                <a:solidFill>
                  <a:srgbClr val="FF0066"/>
                </a:solidFill>
                <a:latin typeface="メイリオ" panose="020B0604030504040204" pitchFamily="50" charset="-128"/>
                <a:ea typeface="メイリオ" panose="020B0604030504040204" pitchFamily="50" charset="-128"/>
              </a:rPr>
              <a:t>ROI” </a:t>
            </a:r>
            <a:r>
              <a:rPr lang="ja-JP" altLang="en-US" sz="1200" b="1" dirty="0">
                <a:solidFill>
                  <a:srgbClr val="FF0066"/>
                </a:solidFill>
                <a:latin typeface="メイリオ" panose="020B0604030504040204" pitchFamily="50" charset="-128"/>
                <a:ea typeface="メイリオ" panose="020B0604030504040204" pitchFamily="50" charset="-128"/>
              </a:rPr>
              <a:t>の一連の筋道を実行</a:t>
            </a:r>
            <a:r>
              <a:rPr lang="ja-JP" altLang="en-US" sz="1200" dirty="0">
                <a:latin typeface="メイリオ" panose="020B0604030504040204" pitchFamily="50" charset="-128"/>
                <a:ea typeface="メイリオ" panose="020B0604030504040204" pitchFamily="50" charset="-128"/>
              </a:rPr>
              <a:t>している</a:t>
            </a:r>
            <a:endParaRPr lang="en-US" altLang="ja-JP" sz="1200" dirty="0">
              <a:latin typeface="メイリオ" panose="020B0604030504040204" pitchFamily="50" charset="-128"/>
              <a:ea typeface="メイリオ" panose="020B0604030504040204" pitchFamily="50" charset="-128"/>
            </a:endParaRPr>
          </a:p>
        </p:txBody>
      </p:sp>
      <p:sp>
        <p:nvSpPr>
          <p:cNvPr id="8" name="テキスト ボックス 7">
            <a:extLst>
              <a:ext uri="{FF2B5EF4-FFF2-40B4-BE49-F238E27FC236}">
                <a16:creationId xmlns:a16="http://schemas.microsoft.com/office/drawing/2014/main" id="{9F77578D-186F-6F68-2AE9-D6F079BCC9E2}"/>
              </a:ext>
            </a:extLst>
          </p:cNvPr>
          <p:cNvSpPr txBox="1"/>
          <p:nvPr/>
        </p:nvSpPr>
        <p:spPr>
          <a:xfrm>
            <a:off x="315072" y="6418729"/>
            <a:ext cx="11474824" cy="261610"/>
          </a:xfrm>
          <a:prstGeom prst="rect">
            <a:avLst/>
          </a:prstGeom>
          <a:noFill/>
        </p:spPr>
        <p:txBody>
          <a:bodyPr wrap="square">
            <a:spAutoFit/>
          </a:bodyPr>
          <a:lstStyle/>
          <a:p>
            <a:r>
              <a:rPr lang="ja-JP" altLang="en-US" sz="1100" b="1" dirty="0">
                <a:solidFill>
                  <a:schemeClr val="bg1"/>
                </a:solidFill>
                <a:latin typeface="メイリオ" panose="020B0604030504040204" pitchFamily="50" charset="-128"/>
                <a:ea typeface="メイリオ" panose="020B0604030504040204" pitchFamily="50" charset="-128"/>
              </a:rPr>
              <a:t>このレポートは</a:t>
            </a:r>
            <a:r>
              <a:rPr lang="en-US" altLang="ja-JP" sz="1100" b="1" dirty="0">
                <a:solidFill>
                  <a:schemeClr val="bg1"/>
                </a:solidFill>
                <a:latin typeface="メイリオ" panose="020B0604030504040204" pitchFamily="50" charset="-128"/>
                <a:ea typeface="メイリオ" panose="020B0604030504040204" pitchFamily="50" charset="-128"/>
              </a:rPr>
              <a:t>2025/8/21</a:t>
            </a:r>
            <a:r>
              <a:rPr lang="ja-JP" altLang="en-US" sz="1100" b="1" dirty="0">
                <a:solidFill>
                  <a:schemeClr val="bg1"/>
                </a:solidFill>
                <a:latin typeface="メイリオ" panose="020B0604030504040204" pitchFamily="50" charset="-128"/>
                <a:ea typeface="メイリオ" panose="020B0604030504040204" pitchFamily="50" charset="-128"/>
              </a:rPr>
              <a:t>、</a:t>
            </a:r>
            <a:r>
              <a:rPr lang="en-US" altLang="ja-JP" sz="1100" b="1" dirty="0">
                <a:solidFill>
                  <a:schemeClr val="bg1"/>
                </a:solidFill>
                <a:latin typeface="メイリオ" panose="020B0604030504040204" pitchFamily="50" charset="-128"/>
                <a:ea typeface="メイリオ" panose="020B0604030504040204" pitchFamily="50" charset="-128"/>
              </a:rPr>
              <a:t>MIT</a:t>
            </a:r>
            <a:r>
              <a:rPr lang="ja-JP" altLang="en-US" sz="1100" b="1" dirty="0">
                <a:solidFill>
                  <a:schemeClr val="bg1"/>
                </a:solidFill>
                <a:latin typeface="メイリオ" panose="020B0604030504040204" pitchFamily="50" charset="-128"/>
                <a:ea typeface="メイリオ" panose="020B0604030504040204" pitchFamily="50" charset="-128"/>
              </a:rPr>
              <a:t>のレポートを受けて書かれた記事</a:t>
            </a:r>
            <a:endParaRPr lang="ja-JP" altLang="en-US" sz="1100" b="1" dirty="0">
              <a:solidFill>
                <a:schemeClr val="bg1"/>
              </a:solidFill>
            </a:endParaRPr>
          </a:p>
        </p:txBody>
      </p:sp>
    </p:spTree>
    <p:extLst>
      <p:ext uri="{BB962C8B-B14F-4D97-AF65-F5344CB8AC3E}">
        <p14:creationId xmlns:p14="http://schemas.microsoft.com/office/powerpoint/2010/main" val="3928457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1C4F91-D50A-D2E8-DA8C-F19E471B89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5E8181-EE3B-61B9-5174-07EA08F6A25D}"/>
              </a:ext>
            </a:extLst>
          </p:cNvPr>
          <p:cNvSpPr>
            <a:spLocks noGrp="1"/>
          </p:cNvSpPr>
          <p:nvPr>
            <p:ph type="title"/>
          </p:nvPr>
        </p:nvSpPr>
        <p:spPr>
          <a:xfrm>
            <a:off x="1818247" y="2959777"/>
            <a:ext cx="8552329" cy="938446"/>
          </a:xfrm>
        </p:spPr>
        <p:txBody>
          <a:bodyPr>
            <a:noAutofit/>
          </a:bodyPr>
          <a:lstStyle/>
          <a:p>
            <a:r>
              <a:rPr lang="ja-JP" altLang="en-US" sz="3200" b="1" dirty="0"/>
              <a:t>「</a:t>
            </a:r>
            <a:r>
              <a:rPr lang="en-US" altLang="ja-JP" sz="3200" b="1" dirty="0"/>
              <a:t>AI</a:t>
            </a:r>
            <a:r>
              <a:rPr lang="ja-JP" altLang="en-US" sz="3200" b="1" dirty="0"/>
              <a:t>変革」は“新しい産業革命”</a:t>
            </a:r>
            <a:endParaRPr sz="3200" b="1" dirty="0"/>
          </a:p>
        </p:txBody>
      </p:sp>
    </p:spTree>
    <p:extLst>
      <p:ext uri="{BB962C8B-B14F-4D97-AF65-F5344CB8AC3E}">
        <p14:creationId xmlns:p14="http://schemas.microsoft.com/office/powerpoint/2010/main" val="8052881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F0DAD4-3D8C-3064-C7BF-D102F780AF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C7F15C-802E-A409-5A3D-F74C07D0972E}"/>
              </a:ext>
            </a:extLst>
          </p:cNvPr>
          <p:cNvSpPr>
            <a:spLocks noGrp="1"/>
          </p:cNvSpPr>
          <p:nvPr>
            <p:ph type="title"/>
          </p:nvPr>
        </p:nvSpPr>
        <p:spPr>
          <a:xfrm>
            <a:off x="457201" y="274638"/>
            <a:ext cx="11474824" cy="541150"/>
          </a:xfrm>
        </p:spPr>
        <p:txBody>
          <a:bodyPr>
            <a:noAutofit/>
          </a:bodyPr>
          <a:lstStyle/>
          <a:p>
            <a:r>
              <a:rPr lang="ja-JP" altLang="en-US" sz="2400" b="1" dirty="0">
                <a:solidFill>
                  <a:schemeClr val="tx1">
                    <a:lumMod val="75000"/>
                    <a:lumOff val="25000"/>
                  </a:schemeClr>
                </a:solidFill>
                <a:latin typeface="メイリオ" panose="020B0604030504040204" pitchFamily="50" charset="-128"/>
                <a:ea typeface="メイリオ" panose="020B0604030504040204" pitchFamily="50" charset="-128"/>
              </a:rPr>
              <a:t>私たちを取り巻く背景</a:t>
            </a:r>
            <a:endParaRPr sz="24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4" name="直線矢印コネクタ 3">
            <a:extLst>
              <a:ext uri="{FF2B5EF4-FFF2-40B4-BE49-F238E27FC236}">
                <a16:creationId xmlns:a16="http://schemas.microsoft.com/office/drawing/2014/main" id="{8476741B-83C8-6CA5-F11D-CE9EF45A0681}"/>
              </a:ext>
            </a:extLst>
          </p:cNvPr>
          <p:cNvCxnSpPr>
            <a:cxnSpLocks/>
          </p:cNvCxnSpPr>
          <p:nvPr/>
        </p:nvCxnSpPr>
        <p:spPr>
          <a:xfrm flipV="1">
            <a:off x="868605" y="2118467"/>
            <a:ext cx="0" cy="3762380"/>
          </a:xfrm>
          <a:prstGeom prst="straightConnector1">
            <a:avLst/>
          </a:prstGeom>
          <a:ln w="38100">
            <a:solidFill>
              <a:schemeClr val="tx1">
                <a:lumMod val="95000"/>
                <a:lumOff val="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5" name="直線矢印コネクタ 4">
            <a:extLst>
              <a:ext uri="{FF2B5EF4-FFF2-40B4-BE49-F238E27FC236}">
                <a16:creationId xmlns:a16="http://schemas.microsoft.com/office/drawing/2014/main" id="{A481C01C-EFFE-149E-163E-B888F125638D}"/>
              </a:ext>
            </a:extLst>
          </p:cNvPr>
          <p:cNvCxnSpPr>
            <a:cxnSpLocks/>
          </p:cNvCxnSpPr>
          <p:nvPr/>
        </p:nvCxnSpPr>
        <p:spPr>
          <a:xfrm>
            <a:off x="857959" y="5871882"/>
            <a:ext cx="5623388" cy="0"/>
          </a:xfrm>
          <a:prstGeom prst="straightConnector1">
            <a:avLst/>
          </a:prstGeom>
          <a:ln w="38100">
            <a:solidFill>
              <a:schemeClr val="tx1">
                <a:lumMod val="95000"/>
                <a:lumOff val="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7" name="Content Placeholder 2">
            <a:extLst>
              <a:ext uri="{FF2B5EF4-FFF2-40B4-BE49-F238E27FC236}">
                <a16:creationId xmlns:a16="http://schemas.microsoft.com/office/drawing/2014/main" id="{9DAC4319-E617-7764-1C5C-8F5BB3C4A7CF}"/>
              </a:ext>
            </a:extLst>
          </p:cNvPr>
          <p:cNvSpPr>
            <a:spLocks noGrp="1"/>
          </p:cNvSpPr>
          <p:nvPr>
            <p:ph idx="1"/>
          </p:nvPr>
        </p:nvSpPr>
        <p:spPr>
          <a:xfrm>
            <a:off x="515473" y="986118"/>
            <a:ext cx="10995210" cy="753036"/>
          </a:xfrm>
        </p:spPr>
        <p:txBody>
          <a:bodyPr>
            <a:noAutofit/>
          </a:bodyPr>
          <a:lstStyle/>
          <a:p>
            <a:pPr marL="0" indent="0">
              <a:buNone/>
              <a:defRPr sz="1600">
                <a:latin typeface="Meiryo"/>
              </a:defRPr>
            </a:pPr>
            <a:r>
              <a:rPr lang="ja-JP" altLang="en-US" sz="2000" dirty="0">
                <a:solidFill>
                  <a:schemeClr val="tx1">
                    <a:lumMod val="75000"/>
                    <a:lumOff val="25000"/>
                  </a:schemeClr>
                </a:solidFill>
                <a:latin typeface="メイリオ" panose="020B0604030504040204" pitchFamily="50" charset="-128"/>
                <a:ea typeface="メイリオ" panose="020B0604030504040204" pitchFamily="50" charset="-128"/>
              </a:rPr>
              <a:t>世界は「</a:t>
            </a:r>
            <a:r>
              <a:rPr lang="en-US" altLang="ja-JP" sz="2000" dirty="0">
                <a:solidFill>
                  <a:schemeClr val="tx1">
                    <a:lumMod val="75000"/>
                    <a:lumOff val="25000"/>
                  </a:schemeClr>
                </a:solidFill>
                <a:latin typeface="メイリオ" panose="020B0604030504040204" pitchFamily="50" charset="-128"/>
                <a:ea typeface="メイリオ" panose="020B0604030504040204" pitchFamily="50" charset="-128"/>
              </a:rPr>
              <a:t>AI</a:t>
            </a:r>
            <a:r>
              <a:rPr lang="ja-JP" altLang="en-US" sz="2000" dirty="0">
                <a:solidFill>
                  <a:schemeClr val="tx1">
                    <a:lumMod val="75000"/>
                    <a:lumOff val="25000"/>
                  </a:schemeClr>
                </a:solidFill>
                <a:latin typeface="メイリオ" panose="020B0604030504040204" pitchFamily="50" charset="-128"/>
                <a:ea typeface="メイリオ" panose="020B0604030504040204" pitchFamily="50" charset="-128"/>
              </a:rPr>
              <a:t>を使う工場」から「</a:t>
            </a:r>
            <a:r>
              <a:rPr lang="en-US" altLang="ja-JP" sz="2000" dirty="0">
                <a:solidFill>
                  <a:schemeClr val="tx1">
                    <a:lumMod val="75000"/>
                    <a:lumOff val="25000"/>
                  </a:schemeClr>
                </a:solidFill>
                <a:latin typeface="メイリオ" panose="020B0604030504040204" pitchFamily="50" charset="-128"/>
                <a:ea typeface="メイリオ" panose="020B0604030504040204" pitchFamily="50" charset="-128"/>
              </a:rPr>
              <a:t>AI</a:t>
            </a:r>
            <a:r>
              <a:rPr lang="ja-JP" altLang="en-US" sz="2000" dirty="0">
                <a:solidFill>
                  <a:schemeClr val="tx1">
                    <a:lumMod val="75000"/>
                    <a:lumOff val="25000"/>
                  </a:schemeClr>
                </a:solidFill>
                <a:latin typeface="メイリオ" panose="020B0604030504040204" pitchFamily="50" charset="-128"/>
                <a:ea typeface="メイリオ" panose="020B0604030504040204" pitchFamily="50" charset="-128"/>
              </a:rPr>
              <a:t>で動く工場」に移行開始、この動きは指数関数的に進む。</a:t>
            </a:r>
            <a:endParaRPr lang="en-US" altLang="ja-JP" sz="2000" dirty="0">
              <a:solidFill>
                <a:schemeClr val="tx1">
                  <a:lumMod val="75000"/>
                  <a:lumOff val="25000"/>
                </a:schemeClr>
              </a:solidFill>
              <a:latin typeface="メイリオ" panose="020B0604030504040204" pitchFamily="50" charset="-128"/>
              <a:ea typeface="メイリオ" panose="020B0604030504040204" pitchFamily="50" charset="-128"/>
            </a:endParaRPr>
          </a:p>
          <a:p>
            <a:pPr marL="0" indent="0">
              <a:buNone/>
              <a:defRPr sz="1600">
                <a:latin typeface="Meiryo"/>
              </a:defRPr>
            </a:pPr>
            <a:r>
              <a:rPr lang="ja-JP" altLang="en-US" sz="2000" dirty="0">
                <a:solidFill>
                  <a:schemeClr val="tx1">
                    <a:lumMod val="75000"/>
                    <a:lumOff val="25000"/>
                  </a:schemeClr>
                </a:solidFill>
                <a:latin typeface="メイリオ" panose="020B0604030504040204" pitchFamily="50" charset="-128"/>
                <a:ea typeface="メイリオ" panose="020B0604030504040204" pitchFamily="50" charset="-128"/>
              </a:rPr>
              <a:t>新しい産業革命が起きている今</a:t>
            </a:r>
            <a:r>
              <a:rPr lang="en-US" altLang="ja-JP" sz="2000" dirty="0">
                <a:solidFill>
                  <a:schemeClr val="tx1">
                    <a:lumMod val="75000"/>
                    <a:lumOff val="25000"/>
                  </a:schemeClr>
                </a:solidFill>
                <a:latin typeface="メイリオ" panose="020B0604030504040204" pitchFamily="50" charset="-128"/>
                <a:ea typeface="メイリオ" panose="020B0604030504040204" pitchFamily="50" charset="-128"/>
              </a:rPr>
              <a:t>, “AI</a:t>
            </a:r>
            <a:r>
              <a:rPr lang="ja-JP" altLang="en-US" sz="2000" dirty="0">
                <a:solidFill>
                  <a:schemeClr val="tx1">
                    <a:lumMod val="75000"/>
                    <a:lumOff val="25000"/>
                  </a:schemeClr>
                </a:solidFill>
                <a:latin typeface="メイリオ" panose="020B0604030504040204" pitchFamily="50" charset="-128"/>
                <a:ea typeface="メイリオ" panose="020B0604030504040204" pitchFamily="50" charset="-128"/>
              </a:rPr>
              <a:t>前提の製造”へ移行できるかで勝敗が決まる。</a:t>
            </a:r>
            <a:endParaRPr sz="20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9" name="Content Placeholder 2">
            <a:extLst>
              <a:ext uri="{FF2B5EF4-FFF2-40B4-BE49-F238E27FC236}">
                <a16:creationId xmlns:a16="http://schemas.microsoft.com/office/drawing/2014/main" id="{4DB77655-4341-BE4F-1475-2A5343282685}"/>
              </a:ext>
            </a:extLst>
          </p:cNvPr>
          <p:cNvSpPr txBox="1">
            <a:spLocks/>
          </p:cNvSpPr>
          <p:nvPr/>
        </p:nvSpPr>
        <p:spPr>
          <a:xfrm rot="16200000">
            <a:off x="-1202133" y="3865406"/>
            <a:ext cx="3489982" cy="452158"/>
          </a:xfrm>
          <a:prstGeom prst="rect">
            <a:avLst/>
          </a:prstGeom>
        </p:spPr>
        <p:txBody>
          <a:bodyPr vert="horz" lIns="91440" tIns="45720" rIns="91440" bIns="45720" rtlCol="0" anchor="ctr">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buFont typeface="Arial"/>
              <a:buNone/>
              <a:defRPr sz="1600">
                <a:latin typeface="Meiryo"/>
              </a:defRPr>
            </a:pPr>
            <a:r>
              <a:rPr lang="en-US" altLang="ja-JP" sz="1800" dirty="0">
                <a:solidFill>
                  <a:schemeClr val="tx1">
                    <a:lumMod val="75000"/>
                    <a:lumOff val="25000"/>
                  </a:schemeClr>
                </a:solidFill>
                <a:latin typeface="メイリオ" panose="020B0604030504040204" pitchFamily="50" charset="-128"/>
                <a:ea typeface="メイリオ" panose="020B0604030504040204" pitchFamily="50" charset="-128"/>
              </a:rPr>
              <a:t>AI</a:t>
            </a:r>
            <a:r>
              <a:rPr lang="ja-JP" altLang="en-US" sz="1800" dirty="0">
                <a:solidFill>
                  <a:schemeClr val="tx1">
                    <a:lumMod val="75000"/>
                    <a:lumOff val="25000"/>
                  </a:schemeClr>
                </a:solidFill>
                <a:latin typeface="メイリオ" panose="020B0604030504040204" pitchFamily="50" charset="-128"/>
                <a:ea typeface="メイリオ" panose="020B0604030504040204" pitchFamily="50" charset="-128"/>
              </a:rPr>
              <a:t>化効果</a:t>
            </a:r>
            <a:endParaRPr lang="en-US" altLang="ja-JP" sz="1800" dirty="0">
              <a:solidFill>
                <a:schemeClr val="tx1">
                  <a:lumMod val="75000"/>
                  <a:lumOff val="25000"/>
                </a:schemeClr>
              </a:solidFill>
              <a:latin typeface="メイリオ" panose="020B0604030504040204" pitchFamily="50" charset="-128"/>
              <a:ea typeface="メイリオ" panose="020B0604030504040204" pitchFamily="50" charset="-128"/>
            </a:endParaRPr>
          </a:p>
          <a:p>
            <a:pPr marL="0" indent="0" algn="ctr">
              <a:buFont typeface="Arial"/>
              <a:buNone/>
              <a:defRPr sz="1600">
                <a:latin typeface="Meiryo"/>
              </a:defRPr>
            </a:pPr>
            <a:r>
              <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a:t>
            </a:r>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コスト削減</a:t>
            </a:r>
            <a:r>
              <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 </a:t>
            </a:r>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人生産性向上</a:t>
            </a:r>
            <a:r>
              <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 </a:t>
            </a:r>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イノベーション</a:t>
            </a:r>
            <a:r>
              <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a:t>
            </a:r>
            <a:endParaRPr lang="ja-JP" altLang="en-US" sz="18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12" name="直線コネクタ 11">
            <a:extLst>
              <a:ext uri="{FF2B5EF4-FFF2-40B4-BE49-F238E27FC236}">
                <a16:creationId xmlns:a16="http://schemas.microsoft.com/office/drawing/2014/main" id="{7920FCC1-452A-7362-3093-3C201ED76A55}"/>
              </a:ext>
            </a:extLst>
          </p:cNvPr>
          <p:cNvCxnSpPr>
            <a:cxnSpLocks/>
          </p:cNvCxnSpPr>
          <p:nvPr/>
        </p:nvCxnSpPr>
        <p:spPr>
          <a:xfrm flipV="1">
            <a:off x="1020575" y="4573885"/>
            <a:ext cx="2321444" cy="265532"/>
          </a:xfrm>
          <a:prstGeom prst="line">
            <a:avLst/>
          </a:prstGeom>
          <a:ln w="57150">
            <a:solidFill>
              <a:schemeClr val="accent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19" name="フリーフォーム: 図形 18">
            <a:extLst>
              <a:ext uri="{FF2B5EF4-FFF2-40B4-BE49-F238E27FC236}">
                <a16:creationId xmlns:a16="http://schemas.microsoft.com/office/drawing/2014/main" id="{E9A63A71-4B86-E04E-E75C-18D409EDC743}"/>
              </a:ext>
            </a:extLst>
          </p:cNvPr>
          <p:cNvSpPr/>
          <p:nvPr/>
        </p:nvSpPr>
        <p:spPr>
          <a:xfrm>
            <a:off x="3342019" y="2679327"/>
            <a:ext cx="2596493" cy="1889874"/>
          </a:xfrm>
          <a:custGeom>
            <a:avLst/>
            <a:gdLst>
              <a:gd name="connsiteX0" fmla="*/ 0 w 2734235"/>
              <a:gd name="connsiteY0" fmla="*/ 2187388 h 2187388"/>
              <a:gd name="connsiteX1" fmla="*/ 2734235 w 2734235"/>
              <a:gd name="connsiteY1" fmla="*/ 0 h 2187388"/>
              <a:gd name="connsiteX0" fmla="*/ 0 w 2734235"/>
              <a:gd name="connsiteY0" fmla="*/ 2187388 h 2187388"/>
              <a:gd name="connsiteX1" fmla="*/ 2734235 w 2734235"/>
              <a:gd name="connsiteY1" fmla="*/ 0 h 2187388"/>
              <a:gd name="connsiteX0" fmla="*/ 0 w 2734235"/>
              <a:gd name="connsiteY0" fmla="*/ 2187388 h 2187388"/>
              <a:gd name="connsiteX1" fmla="*/ 2734235 w 2734235"/>
              <a:gd name="connsiteY1" fmla="*/ 0 h 2187388"/>
            </a:gdLst>
            <a:ahLst/>
            <a:cxnLst>
              <a:cxn ang="0">
                <a:pos x="connsiteX0" y="connsiteY0"/>
              </a:cxn>
              <a:cxn ang="0">
                <a:pos x="connsiteX1" y="connsiteY1"/>
              </a:cxn>
            </a:cxnLst>
            <a:rect l="l" t="t" r="r" b="b"/>
            <a:pathLst>
              <a:path w="2734235" h="2187388">
                <a:moveTo>
                  <a:pt x="0" y="2187388"/>
                </a:moveTo>
                <a:cubicBezTo>
                  <a:pt x="2005106" y="1969247"/>
                  <a:pt x="2235199" y="953247"/>
                  <a:pt x="2734235" y="0"/>
                </a:cubicBezTo>
              </a:path>
            </a:pathLst>
          </a:custGeom>
          <a:noFill/>
          <a:ln w="57150">
            <a:solidFill>
              <a:schemeClr val="accent2"/>
            </a:solidFill>
            <a:headEnd type="none" w="med" len="med"/>
            <a:tailEnd type="arrow" w="med" len="med"/>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20" name="Content Placeholder 2">
            <a:extLst>
              <a:ext uri="{FF2B5EF4-FFF2-40B4-BE49-F238E27FC236}">
                <a16:creationId xmlns:a16="http://schemas.microsoft.com/office/drawing/2014/main" id="{E04B461A-F688-F9A7-5803-60CB543470AC}"/>
              </a:ext>
            </a:extLst>
          </p:cNvPr>
          <p:cNvSpPr txBox="1">
            <a:spLocks/>
          </p:cNvSpPr>
          <p:nvPr/>
        </p:nvSpPr>
        <p:spPr>
          <a:xfrm>
            <a:off x="1917615" y="5898416"/>
            <a:ext cx="3504075" cy="452158"/>
          </a:xfrm>
          <a:prstGeom prst="rect">
            <a:avLst/>
          </a:prstGeom>
        </p:spPr>
        <p:txBody>
          <a:bodyPr vert="horz" lIns="91440" tIns="45720" rIns="91440" bIns="45720" rtlCol="0" anchor="ctr">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buFont typeface="Arial"/>
              <a:buNone/>
              <a:defRPr sz="1600">
                <a:latin typeface="Meiryo"/>
              </a:defRPr>
            </a:pPr>
            <a:r>
              <a:rPr lang="ja-JP" altLang="en-US" sz="1800" dirty="0">
                <a:solidFill>
                  <a:schemeClr val="tx1">
                    <a:lumMod val="75000"/>
                    <a:lumOff val="25000"/>
                  </a:schemeClr>
                </a:solidFill>
                <a:latin typeface="メイリオ" panose="020B0604030504040204" pitchFamily="50" charset="-128"/>
                <a:ea typeface="メイリオ" panose="020B0604030504040204" pitchFamily="50" charset="-128"/>
              </a:rPr>
              <a:t>時系列</a:t>
            </a:r>
          </a:p>
        </p:txBody>
      </p:sp>
      <p:sp>
        <p:nvSpPr>
          <p:cNvPr id="21" name="Content Placeholder 2">
            <a:extLst>
              <a:ext uri="{FF2B5EF4-FFF2-40B4-BE49-F238E27FC236}">
                <a16:creationId xmlns:a16="http://schemas.microsoft.com/office/drawing/2014/main" id="{5342FA59-2CD9-082B-D2AE-C49066082122}"/>
              </a:ext>
            </a:extLst>
          </p:cNvPr>
          <p:cNvSpPr txBox="1">
            <a:spLocks/>
          </p:cNvSpPr>
          <p:nvPr/>
        </p:nvSpPr>
        <p:spPr>
          <a:xfrm>
            <a:off x="6817857" y="4846684"/>
            <a:ext cx="4212467" cy="318807"/>
          </a:xfrm>
          <a:prstGeom prst="rect">
            <a:avLst/>
          </a:prstGeom>
        </p:spPr>
        <p:txBody>
          <a:bodyPr vert="horz" lIns="91440" tIns="45720" rIns="91440" bIns="45720" rtlCol="0" anchor="ctr">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defRPr sz="1600">
                <a:latin typeface="Meiryo"/>
              </a:defRPr>
            </a:pPr>
            <a:r>
              <a:rPr lang="en-US" altLang="ja-JP" sz="1400" b="1" dirty="0">
                <a:solidFill>
                  <a:schemeClr val="tx1">
                    <a:lumMod val="75000"/>
                    <a:lumOff val="25000"/>
                  </a:schemeClr>
                </a:solidFill>
                <a:latin typeface="メイリオ" panose="020B0604030504040204" pitchFamily="50" charset="-128"/>
                <a:ea typeface="メイリオ" panose="020B0604030504040204" pitchFamily="50" charset="-128"/>
              </a:rPr>
              <a:t>AI</a:t>
            </a:r>
            <a:r>
              <a:rPr lang="ja-JP" altLang="en-US" sz="1400" b="1" dirty="0">
                <a:solidFill>
                  <a:schemeClr val="tx1">
                    <a:lumMod val="75000"/>
                    <a:lumOff val="25000"/>
                  </a:schemeClr>
                </a:solidFill>
                <a:latin typeface="メイリオ" panose="020B0604030504040204" pitchFamily="50" charset="-128"/>
                <a:ea typeface="メイリオ" panose="020B0604030504040204" pitchFamily="50" charset="-128"/>
              </a:rPr>
              <a:t>メガファクトリー構想発表</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rPr>
              <a:t> </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rPr>
              <a:t>(2025/10</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rPr>
              <a:t>発表</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rPr>
              <a:t>)</a:t>
            </a:r>
            <a:endPar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23" name="テキスト ボックス 22">
            <a:extLst>
              <a:ext uri="{FF2B5EF4-FFF2-40B4-BE49-F238E27FC236}">
                <a16:creationId xmlns:a16="http://schemas.microsoft.com/office/drawing/2014/main" id="{68B645F8-2B98-7AE1-FB55-1FAF47C50195}"/>
              </a:ext>
            </a:extLst>
          </p:cNvPr>
          <p:cNvSpPr txBox="1"/>
          <p:nvPr/>
        </p:nvSpPr>
        <p:spPr>
          <a:xfrm>
            <a:off x="1020575" y="2597710"/>
            <a:ext cx="4052805" cy="954107"/>
          </a:xfrm>
          <a:prstGeom prst="rect">
            <a:avLst/>
          </a:prstGeom>
          <a:solidFill>
            <a:schemeClr val="accent2">
              <a:lumMod val="40000"/>
              <a:lumOff val="60000"/>
            </a:schemeClr>
          </a:solidFill>
          <a:effectLst>
            <a:outerShdw blurRad="50800" dist="38100" dir="2700000" algn="tl" rotWithShape="0">
              <a:prstClr val="black">
                <a:alpha val="40000"/>
              </a:prstClr>
            </a:outerShdw>
          </a:effectLst>
        </p:spPr>
        <p:txBody>
          <a:bodyPr wrap="square" anchor="ctr">
            <a:spAutoFit/>
          </a:bodyPr>
          <a:lstStyle/>
          <a:p>
            <a:r>
              <a:rPr lang="ja-JP" altLang="en-US" sz="1400" b="1" dirty="0">
                <a:solidFill>
                  <a:schemeClr val="tx1">
                    <a:lumMod val="75000"/>
                    <a:lumOff val="25000"/>
                  </a:schemeClr>
                </a:solidFill>
                <a:latin typeface="メイリオ" panose="020B0604030504040204" pitchFamily="50" charset="-128"/>
                <a:ea typeface="メイリオ" panose="020B0604030504040204" pitchFamily="50" charset="-128"/>
              </a:rPr>
              <a:t>加速のきっかけ</a:t>
            </a:r>
            <a:endParaRPr lang="en-US" altLang="ja-JP" sz="1400" b="1"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rPr>
              <a:t>①人手不足・コスト・サプライチェーン</a:t>
            </a:r>
            <a:endPar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rPr>
              <a:t>②技術条件揃い</a:t>
            </a:r>
            <a:r>
              <a:rPr lang="ja-JP" altLang="en-US" sz="1100" dirty="0">
                <a:solidFill>
                  <a:schemeClr val="tx1">
                    <a:lumMod val="75000"/>
                    <a:lumOff val="25000"/>
                  </a:schemeClr>
                </a:solidFill>
                <a:latin typeface="メイリオ" panose="020B0604030504040204" pitchFamily="50" charset="-128"/>
                <a:ea typeface="メイリオ" panose="020B0604030504040204" pitchFamily="50" charset="-128"/>
              </a:rPr>
              <a:t> </a:t>
            </a:r>
            <a:r>
              <a:rPr lang="en-US" altLang="ja-JP" sz="1100" dirty="0">
                <a:solidFill>
                  <a:schemeClr val="tx1">
                    <a:lumMod val="75000"/>
                    <a:lumOff val="25000"/>
                  </a:schemeClr>
                </a:solidFill>
                <a:latin typeface="メイリオ" panose="020B0604030504040204" pitchFamily="50" charset="-128"/>
                <a:ea typeface="メイリオ" panose="020B0604030504040204" pitchFamily="50" charset="-128"/>
              </a:rPr>
              <a:t>(IoT</a:t>
            </a:r>
            <a:r>
              <a:rPr lang="ja-JP" altLang="en-US" sz="1100" dirty="0">
                <a:solidFill>
                  <a:schemeClr val="tx1">
                    <a:lumMod val="75000"/>
                    <a:lumOff val="25000"/>
                  </a:schemeClr>
                </a:solidFill>
                <a:latin typeface="メイリオ" panose="020B0604030504040204" pitchFamily="50" charset="-128"/>
                <a:ea typeface="メイリオ" panose="020B0604030504040204" pitchFamily="50" charset="-128"/>
              </a:rPr>
              <a:t>＋</a:t>
            </a:r>
            <a:r>
              <a:rPr lang="en-US" altLang="ja-JP" sz="1100" dirty="0">
                <a:solidFill>
                  <a:schemeClr val="tx1">
                    <a:lumMod val="75000"/>
                    <a:lumOff val="25000"/>
                  </a:schemeClr>
                </a:solidFill>
                <a:latin typeface="メイリオ" panose="020B0604030504040204" pitchFamily="50" charset="-128"/>
                <a:ea typeface="メイリオ" panose="020B0604030504040204" pitchFamily="50" charset="-128"/>
              </a:rPr>
              <a:t>GPU</a:t>
            </a:r>
            <a:r>
              <a:rPr lang="ja-JP" altLang="en-US" sz="1100" dirty="0">
                <a:solidFill>
                  <a:schemeClr val="tx1">
                    <a:lumMod val="75000"/>
                    <a:lumOff val="25000"/>
                  </a:schemeClr>
                </a:solidFill>
                <a:latin typeface="メイリオ" panose="020B0604030504040204" pitchFamily="50" charset="-128"/>
                <a:ea typeface="メイリオ" panose="020B0604030504040204" pitchFamily="50" charset="-128"/>
              </a:rPr>
              <a:t>＋</a:t>
            </a:r>
            <a:r>
              <a:rPr lang="en-US" altLang="ja-JP" sz="1100" dirty="0">
                <a:solidFill>
                  <a:schemeClr val="tx1">
                    <a:lumMod val="75000"/>
                    <a:lumOff val="25000"/>
                  </a:schemeClr>
                </a:solidFill>
                <a:latin typeface="メイリオ" panose="020B0604030504040204" pitchFamily="50" charset="-128"/>
                <a:ea typeface="メイリオ" panose="020B0604030504040204" pitchFamily="50" charset="-128"/>
              </a:rPr>
              <a:t>GenAI</a:t>
            </a:r>
            <a:r>
              <a:rPr lang="ja-JP" altLang="en-US" sz="1100" dirty="0">
                <a:solidFill>
                  <a:schemeClr val="tx1">
                    <a:lumMod val="75000"/>
                    <a:lumOff val="25000"/>
                  </a:schemeClr>
                </a:solidFill>
                <a:latin typeface="メイリオ" panose="020B0604030504040204" pitchFamily="50" charset="-128"/>
                <a:ea typeface="メイリオ" panose="020B0604030504040204" pitchFamily="50" charset="-128"/>
              </a:rPr>
              <a:t>＋</a:t>
            </a:r>
            <a:r>
              <a:rPr lang="en-US" altLang="ja-JP" sz="1100" dirty="0">
                <a:solidFill>
                  <a:schemeClr val="tx1">
                    <a:lumMod val="75000"/>
                    <a:lumOff val="25000"/>
                  </a:schemeClr>
                </a:solidFill>
                <a:latin typeface="メイリオ" panose="020B0604030504040204" pitchFamily="50" charset="-128"/>
                <a:ea typeface="メイリオ" panose="020B0604030504040204" pitchFamily="50" charset="-128"/>
              </a:rPr>
              <a:t>Digital Twin</a:t>
            </a:r>
            <a:r>
              <a:rPr lang="ja-JP" altLang="en-US" sz="1100" dirty="0">
                <a:solidFill>
                  <a:schemeClr val="tx1">
                    <a:lumMod val="75000"/>
                    <a:lumOff val="25000"/>
                  </a:schemeClr>
                </a:solidFill>
                <a:latin typeface="メイリオ" panose="020B0604030504040204" pitchFamily="50" charset="-128"/>
                <a:ea typeface="メイリオ" panose="020B0604030504040204" pitchFamily="50" charset="-128"/>
              </a:rPr>
              <a:t>）</a:t>
            </a:r>
            <a:endPar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rPr>
              <a:t>③実績が可視化</a:t>
            </a:r>
            <a:r>
              <a:rPr lang="en-US" altLang="ja-JP" sz="1100" dirty="0">
                <a:solidFill>
                  <a:schemeClr val="tx1">
                    <a:lumMod val="75000"/>
                    <a:lumOff val="25000"/>
                  </a:schemeClr>
                </a:solidFill>
                <a:latin typeface="メイリオ" panose="020B0604030504040204" pitchFamily="50" charset="-128"/>
                <a:ea typeface="メイリオ" panose="020B0604030504040204" pitchFamily="50" charset="-128"/>
              </a:rPr>
              <a:t>(</a:t>
            </a:r>
            <a:r>
              <a:rPr lang="ja-JP" altLang="en-US" sz="1100" dirty="0">
                <a:solidFill>
                  <a:schemeClr val="tx1">
                    <a:lumMod val="75000"/>
                    <a:lumOff val="25000"/>
                  </a:schemeClr>
                </a:solidFill>
                <a:latin typeface="メイリオ" panose="020B0604030504040204" pitchFamily="50" charset="-128"/>
                <a:ea typeface="メイリオ" panose="020B0604030504040204" pitchFamily="50" charset="-128"/>
              </a:rPr>
              <a:t>本当に儲かる／コストが下がる</a:t>
            </a:r>
            <a:r>
              <a:rPr lang="en-US" altLang="ja-JP" sz="1100" dirty="0">
                <a:solidFill>
                  <a:schemeClr val="tx1">
                    <a:lumMod val="75000"/>
                    <a:lumOff val="25000"/>
                  </a:schemeClr>
                </a:solidFill>
                <a:latin typeface="メイリオ" panose="020B0604030504040204" pitchFamily="50" charset="-128"/>
                <a:ea typeface="メイリオ" panose="020B0604030504040204" pitchFamily="50" charset="-128"/>
              </a:rPr>
              <a:t>)</a:t>
            </a:r>
            <a:endPar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24" name="テキスト ボックス 23">
            <a:extLst>
              <a:ext uri="{FF2B5EF4-FFF2-40B4-BE49-F238E27FC236}">
                <a16:creationId xmlns:a16="http://schemas.microsoft.com/office/drawing/2014/main" id="{1318DF85-1A83-1259-0A28-56FBC49D7CD4}"/>
              </a:ext>
            </a:extLst>
          </p:cNvPr>
          <p:cNvSpPr txBox="1"/>
          <p:nvPr/>
        </p:nvSpPr>
        <p:spPr>
          <a:xfrm>
            <a:off x="4418941" y="4411231"/>
            <a:ext cx="1522556" cy="338554"/>
          </a:xfrm>
          <a:prstGeom prst="rect">
            <a:avLst/>
          </a:prstGeom>
          <a:noFill/>
        </p:spPr>
        <p:txBody>
          <a:bodyPr wrap="square">
            <a:spAutoFit/>
          </a:bodyPr>
          <a:lstStyle/>
          <a:p>
            <a:pPr algn="ctr"/>
            <a:r>
              <a:rPr lang="ja-JP" altLang="en-US" sz="1600" b="1" dirty="0">
                <a:solidFill>
                  <a:schemeClr val="accent2"/>
                </a:solidFill>
                <a:latin typeface="メイリオ" panose="020B0604030504040204" pitchFamily="50" charset="-128"/>
                <a:ea typeface="メイリオ" panose="020B0604030504040204" pitchFamily="50" charset="-128"/>
              </a:rPr>
              <a:t>複利的に上昇</a:t>
            </a:r>
          </a:p>
        </p:txBody>
      </p:sp>
      <p:cxnSp>
        <p:nvCxnSpPr>
          <p:cNvPr id="29" name="直線コネクタ 28">
            <a:extLst>
              <a:ext uri="{FF2B5EF4-FFF2-40B4-BE49-F238E27FC236}">
                <a16:creationId xmlns:a16="http://schemas.microsoft.com/office/drawing/2014/main" id="{92EFC712-2203-9F1F-327E-030183C2F1F4}"/>
              </a:ext>
            </a:extLst>
          </p:cNvPr>
          <p:cNvCxnSpPr>
            <a:cxnSpLocks/>
          </p:cNvCxnSpPr>
          <p:nvPr/>
        </p:nvCxnSpPr>
        <p:spPr>
          <a:xfrm>
            <a:off x="3331372" y="4164530"/>
            <a:ext cx="1" cy="1495462"/>
          </a:xfrm>
          <a:prstGeom prst="line">
            <a:avLst/>
          </a:prstGeom>
          <a:ln>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sp>
        <p:nvSpPr>
          <p:cNvPr id="32" name="テキスト ボックス 31">
            <a:extLst>
              <a:ext uri="{FF2B5EF4-FFF2-40B4-BE49-F238E27FC236}">
                <a16:creationId xmlns:a16="http://schemas.microsoft.com/office/drawing/2014/main" id="{104A193D-60A9-AEEA-B70D-565AD8CB0C84}"/>
              </a:ext>
            </a:extLst>
          </p:cNvPr>
          <p:cNvSpPr txBox="1"/>
          <p:nvPr/>
        </p:nvSpPr>
        <p:spPr>
          <a:xfrm>
            <a:off x="2897332" y="5411026"/>
            <a:ext cx="868081" cy="338554"/>
          </a:xfrm>
          <a:prstGeom prst="rect">
            <a:avLst/>
          </a:prstGeom>
          <a:solidFill>
            <a:schemeClr val="bg1"/>
          </a:solidFill>
        </p:spPr>
        <p:txBody>
          <a:bodyPr wrap="square">
            <a:spAutoFit/>
          </a:bodyPr>
          <a:lstStyle/>
          <a:p>
            <a:pPr algn="ctr"/>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rPr>
              <a:t>現在</a:t>
            </a:r>
          </a:p>
        </p:txBody>
      </p:sp>
      <p:sp>
        <p:nvSpPr>
          <p:cNvPr id="33" name="テキスト ボックス 32">
            <a:extLst>
              <a:ext uri="{FF2B5EF4-FFF2-40B4-BE49-F238E27FC236}">
                <a16:creationId xmlns:a16="http://schemas.microsoft.com/office/drawing/2014/main" id="{FED3E4B0-3BEE-2D36-355D-E697EA8A24AA}"/>
              </a:ext>
            </a:extLst>
          </p:cNvPr>
          <p:cNvSpPr txBox="1"/>
          <p:nvPr/>
        </p:nvSpPr>
        <p:spPr>
          <a:xfrm>
            <a:off x="1214442" y="5411026"/>
            <a:ext cx="1414836" cy="338554"/>
          </a:xfrm>
          <a:prstGeom prst="rect">
            <a:avLst/>
          </a:prstGeom>
          <a:noFill/>
        </p:spPr>
        <p:txBody>
          <a:bodyPr wrap="square">
            <a:spAutoFit/>
          </a:bodyPr>
          <a:lstStyle/>
          <a:p>
            <a:pPr algn="ctr"/>
            <a:r>
              <a:rPr lang="en-US" altLang="ja-JP" sz="1600" dirty="0">
                <a:solidFill>
                  <a:schemeClr val="tx1">
                    <a:lumMod val="75000"/>
                    <a:lumOff val="25000"/>
                  </a:schemeClr>
                </a:solidFill>
                <a:latin typeface="メイリオ" panose="020B0604030504040204" pitchFamily="50" charset="-128"/>
                <a:ea typeface="メイリオ" panose="020B0604030504040204" pitchFamily="50" charset="-128"/>
              </a:rPr>
              <a:t>AI</a:t>
            </a:r>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rPr>
              <a:t>を使う</a:t>
            </a:r>
          </a:p>
        </p:txBody>
      </p:sp>
      <p:sp>
        <p:nvSpPr>
          <p:cNvPr id="34" name="テキスト ボックス 33">
            <a:extLst>
              <a:ext uri="{FF2B5EF4-FFF2-40B4-BE49-F238E27FC236}">
                <a16:creationId xmlns:a16="http://schemas.microsoft.com/office/drawing/2014/main" id="{E2E656CC-A537-8669-421D-466021D6E973}"/>
              </a:ext>
            </a:extLst>
          </p:cNvPr>
          <p:cNvSpPr txBox="1"/>
          <p:nvPr/>
        </p:nvSpPr>
        <p:spPr>
          <a:xfrm>
            <a:off x="4107750" y="5411026"/>
            <a:ext cx="1620476" cy="338554"/>
          </a:xfrm>
          <a:prstGeom prst="rect">
            <a:avLst/>
          </a:prstGeom>
          <a:noFill/>
        </p:spPr>
        <p:txBody>
          <a:bodyPr wrap="square">
            <a:spAutoFit/>
          </a:bodyPr>
          <a:lstStyle/>
          <a:p>
            <a:pPr algn="ctr"/>
            <a:r>
              <a:rPr lang="en-US" altLang="ja-JP" sz="1600" dirty="0">
                <a:solidFill>
                  <a:schemeClr val="tx1">
                    <a:lumMod val="75000"/>
                    <a:lumOff val="25000"/>
                  </a:schemeClr>
                </a:solidFill>
                <a:latin typeface="メイリオ" panose="020B0604030504040204" pitchFamily="50" charset="-128"/>
                <a:ea typeface="メイリオ" panose="020B0604030504040204" pitchFamily="50" charset="-128"/>
              </a:rPr>
              <a:t>AI</a:t>
            </a:r>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rPr>
              <a:t>で動く</a:t>
            </a:r>
          </a:p>
        </p:txBody>
      </p:sp>
      <p:pic>
        <p:nvPicPr>
          <p:cNvPr id="40" name="図 39">
            <a:extLst>
              <a:ext uri="{FF2B5EF4-FFF2-40B4-BE49-F238E27FC236}">
                <a16:creationId xmlns:a16="http://schemas.microsoft.com/office/drawing/2014/main" id="{FF021EFC-8F50-095A-C1F8-4A30529E4112}"/>
              </a:ext>
            </a:extLst>
          </p:cNvPr>
          <p:cNvPicPr>
            <a:picLocks noChangeAspect="1"/>
          </p:cNvPicPr>
          <p:nvPr/>
        </p:nvPicPr>
        <p:blipFill>
          <a:blip r:embed="rId2"/>
          <a:stretch>
            <a:fillRect/>
          </a:stretch>
        </p:blipFill>
        <p:spPr>
          <a:xfrm>
            <a:off x="6864361" y="5237464"/>
            <a:ext cx="1600377" cy="900212"/>
          </a:xfrm>
          <a:prstGeom prst="rect">
            <a:avLst/>
          </a:prstGeom>
        </p:spPr>
      </p:pic>
      <p:sp>
        <p:nvSpPr>
          <p:cNvPr id="41" name="テキスト ボックス 40">
            <a:extLst>
              <a:ext uri="{FF2B5EF4-FFF2-40B4-BE49-F238E27FC236}">
                <a16:creationId xmlns:a16="http://schemas.microsoft.com/office/drawing/2014/main" id="{55ED630A-D01D-DBB3-969A-F66D79CE29A0}"/>
              </a:ext>
            </a:extLst>
          </p:cNvPr>
          <p:cNvSpPr txBox="1"/>
          <p:nvPr/>
        </p:nvSpPr>
        <p:spPr>
          <a:xfrm>
            <a:off x="8521865" y="5237464"/>
            <a:ext cx="3242646" cy="830997"/>
          </a:xfrm>
          <a:prstGeom prst="rect">
            <a:avLst/>
          </a:prstGeom>
          <a:noFill/>
        </p:spPr>
        <p:txBody>
          <a:bodyPr wrap="square">
            <a:spAutoFit/>
          </a:bodyPr>
          <a:lstStyle/>
          <a:p>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a:t>
            </a:r>
            <a:r>
              <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5</a:t>
            </a:r>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万基以上の</a:t>
            </a:r>
            <a:r>
              <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NVIDIA GPU </a:t>
            </a:r>
          </a:p>
          <a:p>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・製造全体のデジタルツイン構築</a:t>
            </a:r>
            <a:endPar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・設計</a:t>
            </a:r>
            <a:r>
              <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a:t>
            </a:r>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プロセス</a:t>
            </a:r>
            <a:r>
              <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a:t>
            </a:r>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設備</a:t>
            </a:r>
            <a:r>
              <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a:t>
            </a:r>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運用</a:t>
            </a:r>
            <a:r>
              <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a:t>
            </a:r>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品質を単一のインテリジェントネットワーク</a:t>
            </a:r>
          </a:p>
        </p:txBody>
      </p:sp>
      <p:sp>
        <p:nvSpPr>
          <p:cNvPr id="48" name="Content Placeholder 2">
            <a:extLst>
              <a:ext uri="{FF2B5EF4-FFF2-40B4-BE49-F238E27FC236}">
                <a16:creationId xmlns:a16="http://schemas.microsoft.com/office/drawing/2014/main" id="{2D46CFE1-70FB-5A2D-883E-F72756A54D6C}"/>
              </a:ext>
            </a:extLst>
          </p:cNvPr>
          <p:cNvSpPr txBox="1">
            <a:spLocks/>
          </p:cNvSpPr>
          <p:nvPr/>
        </p:nvSpPr>
        <p:spPr>
          <a:xfrm>
            <a:off x="6817858" y="1866731"/>
            <a:ext cx="1043624" cy="318807"/>
          </a:xfrm>
          <a:prstGeom prst="rect">
            <a:avLst/>
          </a:prstGeom>
        </p:spPr>
        <p:txBody>
          <a:bodyPr vert="horz" lIns="91440" tIns="45720" rIns="91440" bIns="45720" rtlCol="0" anchor="ctr">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defRPr sz="1600">
                <a:latin typeface="Meiryo"/>
              </a:defRPr>
            </a:pPr>
            <a:r>
              <a:rPr lang="en-US" altLang="ja-JP" sz="1400" b="1" dirty="0">
                <a:solidFill>
                  <a:schemeClr val="tx1">
                    <a:lumMod val="75000"/>
                    <a:lumOff val="25000"/>
                  </a:schemeClr>
                </a:solidFill>
                <a:latin typeface="メイリオ" panose="020B0604030504040204" pitchFamily="50" charset="-128"/>
                <a:ea typeface="メイリオ" panose="020B0604030504040204" pitchFamily="50" charset="-128"/>
              </a:rPr>
              <a:t>AI</a:t>
            </a:r>
            <a:r>
              <a:rPr lang="ja-JP" altLang="en-US" sz="1400" b="1" dirty="0">
                <a:solidFill>
                  <a:schemeClr val="tx1">
                    <a:lumMod val="75000"/>
                    <a:lumOff val="25000"/>
                  </a:schemeClr>
                </a:solidFill>
                <a:latin typeface="メイリオ" panose="020B0604030504040204" pitchFamily="50" charset="-128"/>
                <a:ea typeface="メイリオ" panose="020B0604030504040204" pitchFamily="50" charset="-128"/>
              </a:rPr>
              <a:t>投資額</a:t>
            </a:r>
          </a:p>
        </p:txBody>
      </p:sp>
      <p:sp>
        <p:nvSpPr>
          <p:cNvPr id="49" name="Content Placeholder 2">
            <a:extLst>
              <a:ext uri="{FF2B5EF4-FFF2-40B4-BE49-F238E27FC236}">
                <a16:creationId xmlns:a16="http://schemas.microsoft.com/office/drawing/2014/main" id="{DEACB90B-CF88-3F34-81CD-F03E51E37FF7}"/>
              </a:ext>
            </a:extLst>
          </p:cNvPr>
          <p:cNvSpPr txBox="1">
            <a:spLocks/>
          </p:cNvSpPr>
          <p:nvPr/>
        </p:nvSpPr>
        <p:spPr>
          <a:xfrm>
            <a:off x="6817858" y="3320863"/>
            <a:ext cx="1704007" cy="318807"/>
          </a:xfrm>
          <a:prstGeom prst="rect">
            <a:avLst/>
          </a:prstGeom>
        </p:spPr>
        <p:txBody>
          <a:bodyPr vert="horz" lIns="91440" tIns="45720" rIns="91440" bIns="45720" rtlCol="0" anchor="ctr">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defRPr sz="1600">
                <a:latin typeface="Meiryo"/>
              </a:defRPr>
            </a:pPr>
            <a:r>
              <a:rPr lang="ja-JP" altLang="en-US" sz="1400" b="1" dirty="0">
                <a:solidFill>
                  <a:schemeClr val="tx1">
                    <a:lumMod val="75000"/>
                    <a:lumOff val="25000"/>
                  </a:schemeClr>
                </a:solidFill>
                <a:latin typeface="メイリオ" panose="020B0604030504040204" pitchFamily="50" charset="-128"/>
                <a:ea typeface="メイリオ" panose="020B0604030504040204" pitchFamily="50" charset="-128"/>
              </a:rPr>
              <a:t>製造業向け</a:t>
            </a:r>
            <a:r>
              <a:rPr lang="en-US" altLang="ja-JP" sz="1400" b="1" dirty="0">
                <a:solidFill>
                  <a:schemeClr val="tx1">
                    <a:lumMod val="75000"/>
                    <a:lumOff val="25000"/>
                  </a:schemeClr>
                </a:solidFill>
                <a:latin typeface="メイリオ" panose="020B0604030504040204" pitchFamily="50" charset="-128"/>
                <a:ea typeface="メイリオ" panose="020B0604030504040204" pitchFamily="50" charset="-128"/>
              </a:rPr>
              <a:t>AI</a:t>
            </a:r>
            <a:r>
              <a:rPr lang="ja-JP" altLang="en-US" sz="1400" b="1" dirty="0">
                <a:solidFill>
                  <a:schemeClr val="tx1">
                    <a:lumMod val="75000"/>
                    <a:lumOff val="25000"/>
                  </a:schemeClr>
                </a:solidFill>
                <a:latin typeface="メイリオ" panose="020B0604030504040204" pitchFamily="50" charset="-128"/>
                <a:ea typeface="メイリオ" panose="020B0604030504040204" pitchFamily="50" charset="-128"/>
              </a:rPr>
              <a:t>市場</a:t>
            </a:r>
          </a:p>
        </p:txBody>
      </p:sp>
      <p:sp>
        <p:nvSpPr>
          <p:cNvPr id="51" name="テキスト ボックス 50">
            <a:hlinkClick r:id="rId3"/>
            <a:extLst>
              <a:ext uri="{FF2B5EF4-FFF2-40B4-BE49-F238E27FC236}">
                <a16:creationId xmlns:a16="http://schemas.microsoft.com/office/drawing/2014/main" id="{A85513C7-9F84-F8B4-A1EC-CE62CD709B40}"/>
              </a:ext>
            </a:extLst>
          </p:cNvPr>
          <p:cNvSpPr txBox="1"/>
          <p:nvPr/>
        </p:nvSpPr>
        <p:spPr>
          <a:xfrm>
            <a:off x="7790329" y="1933801"/>
            <a:ext cx="4141696" cy="184666"/>
          </a:xfrm>
          <a:prstGeom prst="rect">
            <a:avLst/>
          </a:prstGeom>
          <a:noFill/>
        </p:spPr>
        <p:txBody>
          <a:bodyPr wrap="square">
            <a:spAutoFit/>
          </a:bodyPr>
          <a:lstStyle/>
          <a:p>
            <a:r>
              <a:rPr lang="en-US" altLang="ja-JP" sz="600" dirty="0">
                <a:solidFill>
                  <a:schemeClr val="tx1">
                    <a:lumMod val="75000"/>
                    <a:lumOff val="25000"/>
                  </a:schemeClr>
                </a:solidFill>
                <a:latin typeface="メイリオ" panose="020B0604030504040204" pitchFamily="50" charset="-128"/>
                <a:ea typeface="メイリオ" panose="020B0604030504040204" pitchFamily="50" charset="-128"/>
              </a:rPr>
              <a:t>https://hai.stanford.edu/ai-index/2025-ai-index-report/economy?utm_source=chatgpt.com</a:t>
            </a:r>
            <a:endParaRPr lang="ja-JP" altLang="en-US" sz="6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52" name="テキスト ボックス 51">
            <a:hlinkClick r:id="rId4"/>
            <a:extLst>
              <a:ext uri="{FF2B5EF4-FFF2-40B4-BE49-F238E27FC236}">
                <a16:creationId xmlns:a16="http://schemas.microsoft.com/office/drawing/2014/main" id="{1528BA72-7976-A954-F968-F02B7CBA863D}"/>
              </a:ext>
            </a:extLst>
          </p:cNvPr>
          <p:cNvSpPr txBox="1"/>
          <p:nvPr/>
        </p:nvSpPr>
        <p:spPr>
          <a:xfrm>
            <a:off x="8521865" y="3335324"/>
            <a:ext cx="3410160" cy="276999"/>
          </a:xfrm>
          <a:prstGeom prst="rect">
            <a:avLst/>
          </a:prstGeom>
          <a:noFill/>
        </p:spPr>
        <p:txBody>
          <a:bodyPr wrap="square">
            <a:spAutoFit/>
          </a:bodyPr>
          <a:lstStyle/>
          <a:p>
            <a:r>
              <a:rPr lang="en-US" altLang="ja-JP" sz="600" dirty="0">
                <a:solidFill>
                  <a:schemeClr val="tx1">
                    <a:lumMod val="75000"/>
                    <a:lumOff val="25000"/>
                  </a:schemeClr>
                </a:solidFill>
                <a:latin typeface="メイリオ" panose="020B0604030504040204" pitchFamily="50" charset="-128"/>
                <a:ea typeface="メイリオ" panose="020B0604030504040204" pitchFamily="50" charset="-128"/>
              </a:rPr>
              <a:t>https://iot-analytics.com/industrial-ai-market-insights-how-ai-is-transforming-manufacturing/?utm_source=chatgpt.com</a:t>
            </a:r>
            <a:endParaRPr lang="ja-JP" altLang="en-US" sz="6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pic>
        <p:nvPicPr>
          <p:cNvPr id="53" name="図 52">
            <a:extLst>
              <a:ext uri="{FF2B5EF4-FFF2-40B4-BE49-F238E27FC236}">
                <a16:creationId xmlns:a16="http://schemas.microsoft.com/office/drawing/2014/main" id="{006B5597-23DA-6FCD-CBFF-0DD2931DC9B1}"/>
              </a:ext>
            </a:extLst>
          </p:cNvPr>
          <p:cNvPicPr>
            <a:picLocks noChangeAspect="1"/>
          </p:cNvPicPr>
          <p:nvPr/>
        </p:nvPicPr>
        <p:blipFill>
          <a:blip r:embed="rId5"/>
          <a:srcRect t="14178" b="19317"/>
          <a:stretch>
            <a:fillRect/>
          </a:stretch>
        </p:blipFill>
        <p:spPr>
          <a:xfrm>
            <a:off x="6864361" y="2274419"/>
            <a:ext cx="1302485" cy="866222"/>
          </a:xfrm>
          <a:prstGeom prst="rect">
            <a:avLst/>
          </a:prstGeom>
        </p:spPr>
      </p:pic>
      <p:pic>
        <p:nvPicPr>
          <p:cNvPr id="54" name="図 53">
            <a:extLst>
              <a:ext uri="{FF2B5EF4-FFF2-40B4-BE49-F238E27FC236}">
                <a16:creationId xmlns:a16="http://schemas.microsoft.com/office/drawing/2014/main" id="{70898C0A-7580-BFA1-9652-1BD30313BA5C}"/>
              </a:ext>
            </a:extLst>
          </p:cNvPr>
          <p:cNvPicPr>
            <a:picLocks noChangeAspect="1"/>
          </p:cNvPicPr>
          <p:nvPr/>
        </p:nvPicPr>
        <p:blipFill>
          <a:blip r:embed="rId6"/>
          <a:srcRect t="12143" b="8379"/>
          <a:stretch>
            <a:fillRect/>
          </a:stretch>
        </p:blipFill>
        <p:spPr>
          <a:xfrm>
            <a:off x="6892354" y="3669187"/>
            <a:ext cx="1246497" cy="990686"/>
          </a:xfrm>
          <a:prstGeom prst="rect">
            <a:avLst/>
          </a:prstGeom>
          <a:ln>
            <a:noFill/>
          </a:ln>
        </p:spPr>
      </p:pic>
      <p:sp>
        <p:nvSpPr>
          <p:cNvPr id="55" name="テキスト ボックス 54">
            <a:extLst>
              <a:ext uri="{FF2B5EF4-FFF2-40B4-BE49-F238E27FC236}">
                <a16:creationId xmlns:a16="http://schemas.microsoft.com/office/drawing/2014/main" id="{6FBA3DBE-FFBB-5159-1B8E-F344BFB48AAE}"/>
              </a:ext>
            </a:extLst>
          </p:cNvPr>
          <p:cNvSpPr txBox="1"/>
          <p:nvPr/>
        </p:nvSpPr>
        <p:spPr>
          <a:xfrm>
            <a:off x="8521865" y="2389294"/>
            <a:ext cx="3242646" cy="738664"/>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rPr>
              <a:t>世界で</a:t>
            </a:r>
            <a:endPar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rPr>
              <a:t>・</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rPr>
              <a:t>2024</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rPr>
              <a:t>年で約</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rPr>
              <a:t>2.5</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rPr>
              <a:t>兆円</a:t>
            </a:r>
            <a:endPar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rPr>
              <a:t>・生成</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rPr>
              <a:t>AI</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rPr>
              <a:t>のみで</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rPr>
              <a:t>3~4,000</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rPr>
              <a:t>億円</a:t>
            </a:r>
            <a:endPar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56" name="テキスト ボックス 55">
            <a:extLst>
              <a:ext uri="{FF2B5EF4-FFF2-40B4-BE49-F238E27FC236}">
                <a16:creationId xmlns:a16="http://schemas.microsoft.com/office/drawing/2014/main" id="{591A0165-0B83-B29C-AD40-881309B83E38}"/>
              </a:ext>
            </a:extLst>
          </p:cNvPr>
          <p:cNvSpPr txBox="1"/>
          <p:nvPr/>
        </p:nvSpPr>
        <p:spPr>
          <a:xfrm>
            <a:off x="8521865" y="3908731"/>
            <a:ext cx="3242646" cy="523220"/>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rPr>
              <a:t>・年</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rPr>
              <a:t>30~40%</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rPr>
              <a:t>で成長</a:t>
            </a:r>
            <a:endPar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rPr>
              <a:t>・今後</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rPr>
              <a:t>10</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rPr>
              <a:t>年足らずで</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rPr>
              <a:t>10</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rPr>
              <a:t>倍化と予測</a:t>
            </a:r>
          </a:p>
        </p:txBody>
      </p:sp>
      <p:sp>
        <p:nvSpPr>
          <p:cNvPr id="59" name="Content Placeholder 2">
            <a:extLst>
              <a:ext uri="{FF2B5EF4-FFF2-40B4-BE49-F238E27FC236}">
                <a16:creationId xmlns:a16="http://schemas.microsoft.com/office/drawing/2014/main" id="{B708A72E-763E-406B-9EB7-D70DE1756C52}"/>
              </a:ext>
            </a:extLst>
          </p:cNvPr>
          <p:cNvSpPr txBox="1">
            <a:spLocks/>
          </p:cNvSpPr>
          <p:nvPr/>
        </p:nvSpPr>
        <p:spPr>
          <a:xfrm>
            <a:off x="1841077" y="1777176"/>
            <a:ext cx="3504075" cy="318807"/>
          </a:xfrm>
          <a:prstGeom prst="rect">
            <a:avLst/>
          </a:prstGeom>
        </p:spPr>
        <p:txBody>
          <a:bodyPr vert="horz" lIns="91440" tIns="45720" rIns="91440" bIns="45720" rtlCol="0" anchor="ctr">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buFont typeface="Arial"/>
              <a:buNone/>
              <a:defRPr sz="1600">
                <a:latin typeface="Meiryo"/>
              </a:defRPr>
            </a:pPr>
            <a:r>
              <a:rPr lang="en-US" altLang="ja-JP" sz="1400" u="sng" dirty="0">
                <a:solidFill>
                  <a:schemeClr val="tx1">
                    <a:lumMod val="75000"/>
                    <a:lumOff val="25000"/>
                  </a:schemeClr>
                </a:solidFill>
                <a:latin typeface="メイリオ" panose="020B0604030504040204" pitchFamily="50" charset="-128"/>
                <a:ea typeface="メイリオ" panose="020B0604030504040204" pitchFamily="50" charset="-128"/>
              </a:rPr>
              <a:t>AI</a:t>
            </a:r>
            <a:r>
              <a:rPr lang="ja-JP" altLang="en-US" sz="1400" u="sng" dirty="0">
                <a:solidFill>
                  <a:schemeClr val="tx1">
                    <a:lumMod val="75000"/>
                    <a:lumOff val="25000"/>
                  </a:schemeClr>
                </a:solidFill>
                <a:latin typeface="メイリオ" panose="020B0604030504040204" pitchFamily="50" charset="-128"/>
                <a:ea typeface="メイリオ" panose="020B0604030504040204" pitchFamily="50" charset="-128"/>
              </a:rPr>
              <a:t>の成長カーブ</a:t>
            </a:r>
          </a:p>
        </p:txBody>
      </p:sp>
    </p:spTree>
    <p:extLst>
      <p:ext uri="{BB962C8B-B14F-4D97-AF65-F5344CB8AC3E}">
        <p14:creationId xmlns:p14="http://schemas.microsoft.com/office/powerpoint/2010/main" val="27785069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154865-FBA6-892B-811B-5826709721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715912-C1F3-B5CC-1161-C17411A52852}"/>
              </a:ext>
            </a:extLst>
          </p:cNvPr>
          <p:cNvSpPr>
            <a:spLocks noGrp="1"/>
          </p:cNvSpPr>
          <p:nvPr>
            <p:ph type="title"/>
          </p:nvPr>
        </p:nvSpPr>
        <p:spPr>
          <a:xfrm>
            <a:off x="457201" y="274638"/>
            <a:ext cx="11474824" cy="541150"/>
          </a:xfrm>
        </p:spPr>
        <p:txBody>
          <a:bodyPr>
            <a:noAutofit/>
          </a:bodyPr>
          <a:lstStyle/>
          <a:p>
            <a:r>
              <a:rPr lang="ja-JP" altLang="en-US" sz="2400" b="1" dirty="0">
                <a:solidFill>
                  <a:schemeClr val="tx1">
                    <a:lumMod val="75000"/>
                    <a:lumOff val="25000"/>
                  </a:schemeClr>
                </a:solidFill>
                <a:latin typeface="メイリオ" panose="020B0604030504040204" pitchFamily="50" charset="-128"/>
                <a:ea typeface="メイリオ" panose="020B0604030504040204" pitchFamily="50" charset="-128"/>
              </a:rPr>
              <a:t>私たちを取り巻く背景</a:t>
            </a:r>
            <a:endParaRPr sz="24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4" name="直線矢印コネクタ 3">
            <a:extLst>
              <a:ext uri="{FF2B5EF4-FFF2-40B4-BE49-F238E27FC236}">
                <a16:creationId xmlns:a16="http://schemas.microsoft.com/office/drawing/2014/main" id="{CFFC3C02-FA6D-0C39-49ED-A4CE04F67485}"/>
              </a:ext>
            </a:extLst>
          </p:cNvPr>
          <p:cNvCxnSpPr>
            <a:cxnSpLocks/>
          </p:cNvCxnSpPr>
          <p:nvPr/>
        </p:nvCxnSpPr>
        <p:spPr>
          <a:xfrm flipV="1">
            <a:off x="868605" y="2118467"/>
            <a:ext cx="0" cy="3762380"/>
          </a:xfrm>
          <a:prstGeom prst="straightConnector1">
            <a:avLst/>
          </a:prstGeom>
          <a:ln w="38100">
            <a:solidFill>
              <a:schemeClr val="tx1">
                <a:lumMod val="95000"/>
                <a:lumOff val="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5" name="直線矢印コネクタ 4">
            <a:extLst>
              <a:ext uri="{FF2B5EF4-FFF2-40B4-BE49-F238E27FC236}">
                <a16:creationId xmlns:a16="http://schemas.microsoft.com/office/drawing/2014/main" id="{3CD37956-B787-CEB4-D407-80FB199DA7B9}"/>
              </a:ext>
            </a:extLst>
          </p:cNvPr>
          <p:cNvCxnSpPr>
            <a:cxnSpLocks/>
          </p:cNvCxnSpPr>
          <p:nvPr/>
        </p:nvCxnSpPr>
        <p:spPr>
          <a:xfrm>
            <a:off x="857959" y="5871882"/>
            <a:ext cx="5623388" cy="0"/>
          </a:xfrm>
          <a:prstGeom prst="straightConnector1">
            <a:avLst/>
          </a:prstGeom>
          <a:ln w="38100">
            <a:solidFill>
              <a:schemeClr val="tx1">
                <a:lumMod val="95000"/>
                <a:lumOff val="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7" name="Content Placeholder 2">
            <a:extLst>
              <a:ext uri="{FF2B5EF4-FFF2-40B4-BE49-F238E27FC236}">
                <a16:creationId xmlns:a16="http://schemas.microsoft.com/office/drawing/2014/main" id="{EB1AB381-26E2-176C-13AE-AB3CFAC6A99C}"/>
              </a:ext>
            </a:extLst>
          </p:cNvPr>
          <p:cNvSpPr>
            <a:spLocks noGrp="1"/>
          </p:cNvSpPr>
          <p:nvPr>
            <p:ph idx="1"/>
          </p:nvPr>
        </p:nvSpPr>
        <p:spPr>
          <a:xfrm>
            <a:off x="515473" y="986118"/>
            <a:ext cx="10995210" cy="753036"/>
          </a:xfrm>
        </p:spPr>
        <p:txBody>
          <a:bodyPr>
            <a:noAutofit/>
          </a:bodyPr>
          <a:lstStyle/>
          <a:p>
            <a:pPr marL="0" indent="0">
              <a:buNone/>
              <a:defRPr sz="1600">
                <a:latin typeface="Meiryo"/>
              </a:defRPr>
            </a:pPr>
            <a:r>
              <a:rPr lang="ja-JP" altLang="en-US" sz="2000" dirty="0">
                <a:solidFill>
                  <a:schemeClr val="tx1">
                    <a:lumMod val="75000"/>
                    <a:lumOff val="25000"/>
                  </a:schemeClr>
                </a:solidFill>
                <a:latin typeface="メイリオ" panose="020B0604030504040204" pitchFamily="50" charset="-128"/>
                <a:ea typeface="メイリオ" panose="020B0604030504040204" pitchFamily="50" charset="-128"/>
              </a:rPr>
              <a:t>世界は「</a:t>
            </a:r>
            <a:r>
              <a:rPr lang="en-US" altLang="ja-JP" sz="2000" dirty="0">
                <a:solidFill>
                  <a:schemeClr val="tx1">
                    <a:lumMod val="75000"/>
                    <a:lumOff val="25000"/>
                  </a:schemeClr>
                </a:solidFill>
                <a:latin typeface="メイリオ" panose="020B0604030504040204" pitchFamily="50" charset="-128"/>
                <a:ea typeface="メイリオ" panose="020B0604030504040204" pitchFamily="50" charset="-128"/>
              </a:rPr>
              <a:t>AI</a:t>
            </a:r>
            <a:r>
              <a:rPr lang="ja-JP" altLang="en-US" sz="2000" dirty="0">
                <a:solidFill>
                  <a:schemeClr val="tx1">
                    <a:lumMod val="75000"/>
                    <a:lumOff val="25000"/>
                  </a:schemeClr>
                </a:solidFill>
                <a:latin typeface="メイリオ" panose="020B0604030504040204" pitchFamily="50" charset="-128"/>
                <a:ea typeface="メイリオ" panose="020B0604030504040204" pitchFamily="50" charset="-128"/>
              </a:rPr>
              <a:t>を使う工場」から「</a:t>
            </a:r>
            <a:r>
              <a:rPr lang="en-US" altLang="ja-JP" sz="2000" dirty="0">
                <a:solidFill>
                  <a:schemeClr val="tx1">
                    <a:lumMod val="75000"/>
                    <a:lumOff val="25000"/>
                  </a:schemeClr>
                </a:solidFill>
                <a:latin typeface="メイリオ" panose="020B0604030504040204" pitchFamily="50" charset="-128"/>
                <a:ea typeface="メイリオ" panose="020B0604030504040204" pitchFamily="50" charset="-128"/>
              </a:rPr>
              <a:t>AI</a:t>
            </a:r>
            <a:r>
              <a:rPr lang="ja-JP" altLang="en-US" sz="2000" dirty="0">
                <a:solidFill>
                  <a:schemeClr val="tx1">
                    <a:lumMod val="75000"/>
                    <a:lumOff val="25000"/>
                  </a:schemeClr>
                </a:solidFill>
                <a:latin typeface="メイリオ" panose="020B0604030504040204" pitchFamily="50" charset="-128"/>
                <a:ea typeface="メイリオ" panose="020B0604030504040204" pitchFamily="50" charset="-128"/>
              </a:rPr>
              <a:t>で動く工場」に移行開始、この動きは指数関数的に進む。</a:t>
            </a:r>
            <a:endParaRPr lang="en-US" altLang="ja-JP" sz="2000" dirty="0">
              <a:solidFill>
                <a:schemeClr val="tx1">
                  <a:lumMod val="75000"/>
                  <a:lumOff val="25000"/>
                </a:schemeClr>
              </a:solidFill>
              <a:latin typeface="メイリオ" panose="020B0604030504040204" pitchFamily="50" charset="-128"/>
              <a:ea typeface="メイリオ" panose="020B0604030504040204" pitchFamily="50" charset="-128"/>
            </a:endParaRPr>
          </a:p>
          <a:p>
            <a:pPr marL="0" indent="0">
              <a:buNone/>
              <a:defRPr sz="1600">
                <a:latin typeface="Meiryo"/>
              </a:defRPr>
            </a:pPr>
            <a:r>
              <a:rPr lang="ja-JP" altLang="en-US" sz="2000" dirty="0">
                <a:solidFill>
                  <a:schemeClr val="tx1">
                    <a:lumMod val="75000"/>
                    <a:lumOff val="25000"/>
                  </a:schemeClr>
                </a:solidFill>
                <a:latin typeface="メイリオ" panose="020B0604030504040204" pitchFamily="50" charset="-128"/>
                <a:ea typeface="メイリオ" panose="020B0604030504040204" pitchFamily="50" charset="-128"/>
              </a:rPr>
              <a:t>データサイエンス部には会社の</a:t>
            </a:r>
            <a:r>
              <a:rPr lang="en-US" altLang="ja-JP" sz="2000" dirty="0">
                <a:solidFill>
                  <a:schemeClr val="tx1">
                    <a:lumMod val="75000"/>
                    <a:lumOff val="25000"/>
                  </a:schemeClr>
                </a:solidFill>
                <a:latin typeface="メイリオ" panose="020B0604030504040204" pitchFamily="50" charset="-128"/>
                <a:ea typeface="メイリオ" panose="020B0604030504040204" pitchFamily="50" charset="-128"/>
              </a:rPr>
              <a:t>AI</a:t>
            </a:r>
            <a:r>
              <a:rPr lang="ja-JP" altLang="en-US" sz="2000" dirty="0">
                <a:solidFill>
                  <a:schemeClr val="tx1">
                    <a:lumMod val="75000"/>
                    <a:lumOff val="25000"/>
                  </a:schemeClr>
                </a:solidFill>
                <a:latin typeface="メイリオ" panose="020B0604030504040204" pitchFamily="50" charset="-128"/>
                <a:ea typeface="メイリオ" panose="020B0604030504040204" pitchFamily="50" charset="-128"/>
              </a:rPr>
              <a:t>化を成功させる期待を追っている</a:t>
            </a:r>
            <a:r>
              <a:rPr lang="en-US" altLang="ja-JP" sz="2000" dirty="0">
                <a:solidFill>
                  <a:schemeClr val="tx1">
                    <a:lumMod val="75000"/>
                    <a:lumOff val="25000"/>
                  </a:schemeClr>
                </a:solidFill>
                <a:latin typeface="メイリオ" panose="020B0604030504040204" pitchFamily="50" charset="-128"/>
                <a:ea typeface="メイリオ" panose="020B0604030504040204" pitchFamily="50" charset="-128"/>
              </a:rPr>
              <a:t>=</a:t>
            </a:r>
            <a:r>
              <a:rPr lang="ja-JP" altLang="en-US" sz="2000" dirty="0">
                <a:solidFill>
                  <a:schemeClr val="tx1">
                    <a:lumMod val="75000"/>
                    <a:lumOff val="25000"/>
                  </a:schemeClr>
                </a:solidFill>
                <a:latin typeface="メイリオ" panose="020B0604030504040204" pitchFamily="50" charset="-128"/>
                <a:ea typeface="メイリオ" panose="020B0604030504040204" pitchFamily="50" charset="-128"/>
              </a:rPr>
              <a:t>我々の部にかかっている</a:t>
            </a:r>
            <a:endParaRPr lang="en-US" altLang="ja-JP" sz="20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9" name="Content Placeholder 2">
            <a:extLst>
              <a:ext uri="{FF2B5EF4-FFF2-40B4-BE49-F238E27FC236}">
                <a16:creationId xmlns:a16="http://schemas.microsoft.com/office/drawing/2014/main" id="{27783292-9742-D587-8CD7-C7A6B8CBE7B2}"/>
              </a:ext>
            </a:extLst>
          </p:cNvPr>
          <p:cNvSpPr txBox="1">
            <a:spLocks/>
          </p:cNvSpPr>
          <p:nvPr/>
        </p:nvSpPr>
        <p:spPr>
          <a:xfrm rot="16200000">
            <a:off x="-1202133" y="3865406"/>
            <a:ext cx="3489982" cy="452158"/>
          </a:xfrm>
          <a:prstGeom prst="rect">
            <a:avLst/>
          </a:prstGeom>
        </p:spPr>
        <p:txBody>
          <a:bodyPr vert="horz" lIns="91440" tIns="45720" rIns="91440" bIns="45720" rtlCol="0" anchor="ctr">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buFont typeface="Arial"/>
              <a:buNone/>
              <a:defRPr sz="1600">
                <a:latin typeface="Meiryo"/>
              </a:defRPr>
            </a:pPr>
            <a:r>
              <a:rPr lang="en-US" altLang="ja-JP" sz="1800" dirty="0">
                <a:solidFill>
                  <a:schemeClr val="tx1">
                    <a:lumMod val="75000"/>
                    <a:lumOff val="25000"/>
                  </a:schemeClr>
                </a:solidFill>
                <a:latin typeface="メイリオ" panose="020B0604030504040204" pitchFamily="50" charset="-128"/>
                <a:ea typeface="メイリオ" panose="020B0604030504040204" pitchFamily="50" charset="-128"/>
              </a:rPr>
              <a:t>AI</a:t>
            </a:r>
            <a:r>
              <a:rPr lang="ja-JP" altLang="en-US" sz="1800" dirty="0">
                <a:solidFill>
                  <a:schemeClr val="tx1">
                    <a:lumMod val="75000"/>
                    <a:lumOff val="25000"/>
                  </a:schemeClr>
                </a:solidFill>
                <a:latin typeface="メイリオ" panose="020B0604030504040204" pitchFamily="50" charset="-128"/>
                <a:ea typeface="メイリオ" panose="020B0604030504040204" pitchFamily="50" charset="-128"/>
              </a:rPr>
              <a:t>化効果</a:t>
            </a:r>
            <a:endParaRPr lang="en-US" altLang="ja-JP" sz="1800" dirty="0">
              <a:solidFill>
                <a:schemeClr val="tx1">
                  <a:lumMod val="75000"/>
                  <a:lumOff val="25000"/>
                </a:schemeClr>
              </a:solidFill>
              <a:latin typeface="メイリオ" panose="020B0604030504040204" pitchFamily="50" charset="-128"/>
              <a:ea typeface="メイリオ" panose="020B0604030504040204" pitchFamily="50" charset="-128"/>
            </a:endParaRPr>
          </a:p>
          <a:p>
            <a:pPr marL="0" indent="0" algn="ctr">
              <a:buFont typeface="Arial"/>
              <a:buNone/>
              <a:defRPr sz="1600">
                <a:latin typeface="Meiryo"/>
              </a:defRPr>
            </a:pPr>
            <a:r>
              <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a:t>
            </a:r>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コスト削減</a:t>
            </a:r>
            <a:r>
              <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 </a:t>
            </a:r>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人生産性向上</a:t>
            </a:r>
            <a:r>
              <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 </a:t>
            </a:r>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イノベーション</a:t>
            </a:r>
            <a:r>
              <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a:t>
            </a:r>
            <a:endParaRPr lang="ja-JP" altLang="en-US" sz="18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12" name="直線コネクタ 11">
            <a:extLst>
              <a:ext uri="{FF2B5EF4-FFF2-40B4-BE49-F238E27FC236}">
                <a16:creationId xmlns:a16="http://schemas.microsoft.com/office/drawing/2014/main" id="{F8C8DB1E-739C-D4E2-CE99-DA63321D270C}"/>
              </a:ext>
            </a:extLst>
          </p:cNvPr>
          <p:cNvCxnSpPr>
            <a:cxnSpLocks/>
          </p:cNvCxnSpPr>
          <p:nvPr/>
        </p:nvCxnSpPr>
        <p:spPr>
          <a:xfrm flipV="1">
            <a:off x="1020575" y="4573885"/>
            <a:ext cx="2321444" cy="265532"/>
          </a:xfrm>
          <a:prstGeom prst="line">
            <a:avLst/>
          </a:prstGeom>
          <a:ln w="57150">
            <a:solidFill>
              <a:schemeClr val="accent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19" name="フリーフォーム: 図形 18">
            <a:extLst>
              <a:ext uri="{FF2B5EF4-FFF2-40B4-BE49-F238E27FC236}">
                <a16:creationId xmlns:a16="http://schemas.microsoft.com/office/drawing/2014/main" id="{CD67349C-B9A6-3F8F-41E3-D3038803A5F9}"/>
              </a:ext>
            </a:extLst>
          </p:cNvPr>
          <p:cNvSpPr/>
          <p:nvPr/>
        </p:nvSpPr>
        <p:spPr>
          <a:xfrm>
            <a:off x="3342019" y="2679327"/>
            <a:ext cx="2596493" cy="1889874"/>
          </a:xfrm>
          <a:custGeom>
            <a:avLst/>
            <a:gdLst>
              <a:gd name="connsiteX0" fmla="*/ 0 w 2734235"/>
              <a:gd name="connsiteY0" fmla="*/ 2187388 h 2187388"/>
              <a:gd name="connsiteX1" fmla="*/ 2734235 w 2734235"/>
              <a:gd name="connsiteY1" fmla="*/ 0 h 2187388"/>
              <a:gd name="connsiteX0" fmla="*/ 0 w 2734235"/>
              <a:gd name="connsiteY0" fmla="*/ 2187388 h 2187388"/>
              <a:gd name="connsiteX1" fmla="*/ 2734235 w 2734235"/>
              <a:gd name="connsiteY1" fmla="*/ 0 h 2187388"/>
              <a:gd name="connsiteX0" fmla="*/ 0 w 2734235"/>
              <a:gd name="connsiteY0" fmla="*/ 2187388 h 2187388"/>
              <a:gd name="connsiteX1" fmla="*/ 2734235 w 2734235"/>
              <a:gd name="connsiteY1" fmla="*/ 0 h 2187388"/>
            </a:gdLst>
            <a:ahLst/>
            <a:cxnLst>
              <a:cxn ang="0">
                <a:pos x="connsiteX0" y="connsiteY0"/>
              </a:cxn>
              <a:cxn ang="0">
                <a:pos x="connsiteX1" y="connsiteY1"/>
              </a:cxn>
            </a:cxnLst>
            <a:rect l="l" t="t" r="r" b="b"/>
            <a:pathLst>
              <a:path w="2734235" h="2187388">
                <a:moveTo>
                  <a:pt x="0" y="2187388"/>
                </a:moveTo>
                <a:cubicBezTo>
                  <a:pt x="2005106" y="1969247"/>
                  <a:pt x="2235199" y="953247"/>
                  <a:pt x="2734235" y="0"/>
                </a:cubicBezTo>
              </a:path>
            </a:pathLst>
          </a:custGeom>
          <a:noFill/>
          <a:ln w="57150">
            <a:solidFill>
              <a:schemeClr val="accent2"/>
            </a:solidFill>
            <a:headEnd type="none" w="med" len="med"/>
            <a:tailEnd type="arrow" w="med" len="med"/>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20" name="Content Placeholder 2">
            <a:extLst>
              <a:ext uri="{FF2B5EF4-FFF2-40B4-BE49-F238E27FC236}">
                <a16:creationId xmlns:a16="http://schemas.microsoft.com/office/drawing/2014/main" id="{669FD462-A53D-F1C5-C370-731E73345100}"/>
              </a:ext>
            </a:extLst>
          </p:cNvPr>
          <p:cNvSpPr txBox="1">
            <a:spLocks/>
          </p:cNvSpPr>
          <p:nvPr/>
        </p:nvSpPr>
        <p:spPr>
          <a:xfrm>
            <a:off x="1917615" y="5898416"/>
            <a:ext cx="3504075" cy="452158"/>
          </a:xfrm>
          <a:prstGeom prst="rect">
            <a:avLst/>
          </a:prstGeom>
        </p:spPr>
        <p:txBody>
          <a:bodyPr vert="horz" lIns="91440" tIns="45720" rIns="91440" bIns="45720" rtlCol="0" anchor="ctr">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buFont typeface="Arial"/>
              <a:buNone/>
              <a:defRPr sz="1600">
                <a:latin typeface="Meiryo"/>
              </a:defRPr>
            </a:pPr>
            <a:r>
              <a:rPr lang="ja-JP" altLang="en-US" sz="1800" dirty="0">
                <a:solidFill>
                  <a:schemeClr val="tx1">
                    <a:lumMod val="75000"/>
                    <a:lumOff val="25000"/>
                  </a:schemeClr>
                </a:solidFill>
                <a:latin typeface="メイリオ" panose="020B0604030504040204" pitchFamily="50" charset="-128"/>
                <a:ea typeface="メイリオ" panose="020B0604030504040204" pitchFamily="50" charset="-128"/>
              </a:rPr>
              <a:t>時系列</a:t>
            </a:r>
          </a:p>
        </p:txBody>
      </p:sp>
      <p:sp>
        <p:nvSpPr>
          <p:cNvPr id="24" name="テキスト ボックス 23">
            <a:extLst>
              <a:ext uri="{FF2B5EF4-FFF2-40B4-BE49-F238E27FC236}">
                <a16:creationId xmlns:a16="http://schemas.microsoft.com/office/drawing/2014/main" id="{064C323D-5A8E-513D-F6AF-31ECDC900FB8}"/>
              </a:ext>
            </a:extLst>
          </p:cNvPr>
          <p:cNvSpPr txBox="1"/>
          <p:nvPr/>
        </p:nvSpPr>
        <p:spPr>
          <a:xfrm>
            <a:off x="5289407" y="2284684"/>
            <a:ext cx="1522556" cy="338554"/>
          </a:xfrm>
          <a:prstGeom prst="rect">
            <a:avLst/>
          </a:prstGeom>
          <a:noFill/>
        </p:spPr>
        <p:txBody>
          <a:bodyPr wrap="square">
            <a:spAutoFit/>
          </a:bodyPr>
          <a:lstStyle/>
          <a:p>
            <a:pPr algn="ctr"/>
            <a:r>
              <a:rPr lang="ja-JP" altLang="en-US" sz="1600" b="1" dirty="0">
                <a:solidFill>
                  <a:schemeClr val="accent2"/>
                </a:solidFill>
                <a:latin typeface="メイリオ" panose="020B0604030504040204" pitchFamily="50" charset="-128"/>
                <a:ea typeface="メイリオ" panose="020B0604030504040204" pitchFamily="50" charset="-128"/>
              </a:rPr>
              <a:t>複利的に上昇</a:t>
            </a:r>
          </a:p>
        </p:txBody>
      </p:sp>
      <p:sp>
        <p:nvSpPr>
          <p:cNvPr id="33" name="テキスト ボックス 32">
            <a:extLst>
              <a:ext uri="{FF2B5EF4-FFF2-40B4-BE49-F238E27FC236}">
                <a16:creationId xmlns:a16="http://schemas.microsoft.com/office/drawing/2014/main" id="{0E1571D9-08F3-870C-E314-101A45A25788}"/>
              </a:ext>
            </a:extLst>
          </p:cNvPr>
          <p:cNvSpPr txBox="1"/>
          <p:nvPr/>
        </p:nvSpPr>
        <p:spPr>
          <a:xfrm>
            <a:off x="1101886" y="3452183"/>
            <a:ext cx="1414836" cy="338554"/>
          </a:xfrm>
          <a:prstGeom prst="rect">
            <a:avLst/>
          </a:prstGeom>
          <a:noFill/>
        </p:spPr>
        <p:txBody>
          <a:bodyPr wrap="square">
            <a:spAutoFit/>
          </a:bodyPr>
          <a:lstStyle/>
          <a:p>
            <a:pPr algn="ctr"/>
            <a:r>
              <a:rPr lang="en-US" altLang="ja-JP" sz="1600" dirty="0">
                <a:solidFill>
                  <a:schemeClr val="tx1">
                    <a:lumMod val="75000"/>
                    <a:lumOff val="25000"/>
                  </a:schemeClr>
                </a:solidFill>
                <a:latin typeface="メイリオ" panose="020B0604030504040204" pitchFamily="50" charset="-128"/>
                <a:ea typeface="メイリオ" panose="020B0604030504040204" pitchFamily="50" charset="-128"/>
              </a:rPr>
              <a:t>AI</a:t>
            </a:r>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rPr>
              <a:t>を使う</a:t>
            </a:r>
          </a:p>
        </p:txBody>
      </p:sp>
      <p:sp>
        <p:nvSpPr>
          <p:cNvPr id="34" name="テキスト ボックス 33">
            <a:extLst>
              <a:ext uri="{FF2B5EF4-FFF2-40B4-BE49-F238E27FC236}">
                <a16:creationId xmlns:a16="http://schemas.microsoft.com/office/drawing/2014/main" id="{CAB0247A-F64A-4F74-F60A-AB60BAA1E26B}"/>
              </a:ext>
            </a:extLst>
          </p:cNvPr>
          <p:cNvSpPr txBox="1"/>
          <p:nvPr/>
        </p:nvSpPr>
        <p:spPr>
          <a:xfrm>
            <a:off x="3576262" y="3452183"/>
            <a:ext cx="1620476" cy="338554"/>
          </a:xfrm>
          <a:prstGeom prst="rect">
            <a:avLst/>
          </a:prstGeom>
          <a:noFill/>
        </p:spPr>
        <p:txBody>
          <a:bodyPr wrap="square">
            <a:spAutoFit/>
          </a:bodyPr>
          <a:lstStyle/>
          <a:p>
            <a:pPr algn="ctr"/>
            <a:r>
              <a:rPr lang="en-US" altLang="ja-JP" sz="1600" dirty="0">
                <a:solidFill>
                  <a:schemeClr val="tx1">
                    <a:lumMod val="75000"/>
                    <a:lumOff val="25000"/>
                  </a:schemeClr>
                </a:solidFill>
                <a:latin typeface="メイリオ" panose="020B0604030504040204" pitchFamily="50" charset="-128"/>
                <a:ea typeface="メイリオ" panose="020B0604030504040204" pitchFamily="50" charset="-128"/>
              </a:rPr>
              <a:t>AI</a:t>
            </a:r>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rPr>
              <a:t>で動く</a:t>
            </a:r>
          </a:p>
        </p:txBody>
      </p:sp>
      <p:pic>
        <p:nvPicPr>
          <p:cNvPr id="40" name="図 39">
            <a:extLst>
              <a:ext uri="{FF2B5EF4-FFF2-40B4-BE49-F238E27FC236}">
                <a16:creationId xmlns:a16="http://schemas.microsoft.com/office/drawing/2014/main" id="{B0D06F78-3A1A-6422-A90E-3A5FA9962F08}"/>
              </a:ext>
            </a:extLst>
          </p:cNvPr>
          <p:cNvPicPr>
            <a:picLocks noChangeAspect="1"/>
          </p:cNvPicPr>
          <p:nvPr/>
        </p:nvPicPr>
        <p:blipFill>
          <a:blip r:embed="rId2"/>
          <a:stretch>
            <a:fillRect/>
          </a:stretch>
        </p:blipFill>
        <p:spPr>
          <a:xfrm>
            <a:off x="4597833" y="4325475"/>
            <a:ext cx="1163246" cy="654326"/>
          </a:xfrm>
          <a:prstGeom prst="rect">
            <a:avLst/>
          </a:prstGeom>
        </p:spPr>
      </p:pic>
      <p:sp>
        <p:nvSpPr>
          <p:cNvPr id="59" name="Content Placeholder 2">
            <a:extLst>
              <a:ext uri="{FF2B5EF4-FFF2-40B4-BE49-F238E27FC236}">
                <a16:creationId xmlns:a16="http://schemas.microsoft.com/office/drawing/2014/main" id="{2BE2CC1E-658E-7555-1596-2F834CC68FF6}"/>
              </a:ext>
            </a:extLst>
          </p:cNvPr>
          <p:cNvSpPr txBox="1">
            <a:spLocks/>
          </p:cNvSpPr>
          <p:nvPr/>
        </p:nvSpPr>
        <p:spPr>
          <a:xfrm>
            <a:off x="1841077" y="1777176"/>
            <a:ext cx="3504075" cy="318807"/>
          </a:xfrm>
          <a:prstGeom prst="rect">
            <a:avLst/>
          </a:prstGeom>
        </p:spPr>
        <p:txBody>
          <a:bodyPr vert="horz" lIns="91440" tIns="45720" rIns="91440" bIns="45720" rtlCol="0" anchor="ctr">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buFont typeface="Arial"/>
              <a:buNone/>
              <a:defRPr sz="1600">
                <a:latin typeface="Meiryo"/>
              </a:defRPr>
            </a:pPr>
            <a:r>
              <a:rPr lang="en-US" altLang="ja-JP" sz="1400" u="sng" dirty="0">
                <a:solidFill>
                  <a:schemeClr val="tx1">
                    <a:lumMod val="75000"/>
                    <a:lumOff val="25000"/>
                  </a:schemeClr>
                </a:solidFill>
                <a:latin typeface="メイリオ" panose="020B0604030504040204" pitchFamily="50" charset="-128"/>
                <a:ea typeface="メイリオ" panose="020B0604030504040204" pitchFamily="50" charset="-128"/>
              </a:rPr>
              <a:t>AI</a:t>
            </a:r>
            <a:r>
              <a:rPr lang="ja-JP" altLang="en-US" sz="1400" u="sng" dirty="0">
                <a:solidFill>
                  <a:schemeClr val="tx1">
                    <a:lumMod val="75000"/>
                    <a:lumOff val="25000"/>
                  </a:schemeClr>
                </a:solidFill>
                <a:latin typeface="メイリオ" panose="020B0604030504040204" pitchFamily="50" charset="-128"/>
                <a:ea typeface="メイリオ" panose="020B0604030504040204" pitchFamily="50" charset="-128"/>
              </a:rPr>
              <a:t>の成長カーブ</a:t>
            </a:r>
          </a:p>
        </p:txBody>
      </p:sp>
      <p:sp>
        <p:nvSpPr>
          <p:cNvPr id="3" name="Content Placeholder 2">
            <a:extLst>
              <a:ext uri="{FF2B5EF4-FFF2-40B4-BE49-F238E27FC236}">
                <a16:creationId xmlns:a16="http://schemas.microsoft.com/office/drawing/2014/main" id="{32858ACB-FE7D-5221-CE68-4298FA67D317}"/>
              </a:ext>
            </a:extLst>
          </p:cNvPr>
          <p:cNvSpPr txBox="1">
            <a:spLocks/>
          </p:cNvSpPr>
          <p:nvPr/>
        </p:nvSpPr>
        <p:spPr>
          <a:xfrm>
            <a:off x="4547865" y="5007799"/>
            <a:ext cx="2326143" cy="753035"/>
          </a:xfrm>
          <a:prstGeom prst="rect">
            <a:avLst/>
          </a:prstGeom>
        </p:spPr>
        <p:txBody>
          <a:bodyPr vert="horz" lIns="91440" tIns="45720" rIns="91440" bIns="45720" rtlCol="0" anchor="ctr">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defRPr sz="1600">
                <a:latin typeface="Meiryo"/>
              </a:defRPr>
            </a:pPr>
            <a:r>
              <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AI</a:t>
            </a:r>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メガファクトリー構想発表</a:t>
            </a:r>
            <a:endPar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marL="0" indent="0">
              <a:buFont typeface="Arial"/>
              <a:buNone/>
              <a:defRPr sz="1600">
                <a:latin typeface="Meiryo"/>
              </a:defRPr>
            </a:pPr>
            <a:r>
              <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(2025/10</a:t>
            </a:r>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発表</a:t>
            </a:r>
            <a:r>
              <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a:t>
            </a:r>
          </a:p>
          <a:p>
            <a:pPr marL="0" indent="0">
              <a:buFont typeface="Arial"/>
              <a:buNone/>
              <a:defRPr sz="1600">
                <a:latin typeface="Meiryo"/>
              </a:defRPr>
            </a:pPr>
            <a:r>
              <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5</a:t>
            </a:r>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万基以上の</a:t>
            </a:r>
            <a:r>
              <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NVIDIA GPU </a:t>
            </a:r>
          </a:p>
        </p:txBody>
      </p:sp>
      <p:cxnSp>
        <p:nvCxnSpPr>
          <p:cNvPr id="6" name="直線コネクタ 5">
            <a:extLst>
              <a:ext uri="{FF2B5EF4-FFF2-40B4-BE49-F238E27FC236}">
                <a16:creationId xmlns:a16="http://schemas.microsoft.com/office/drawing/2014/main" id="{668A05A3-9668-078E-07DC-1AD00F6E4E43}"/>
              </a:ext>
            </a:extLst>
          </p:cNvPr>
          <p:cNvCxnSpPr>
            <a:cxnSpLocks/>
          </p:cNvCxnSpPr>
          <p:nvPr/>
        </p:nvCxnSpPr>
        <p:spPr>
          <a:xfrm>
            <a:off x="3331372" y="2679327"/>
            <a:ext cx="1" cy="2980665"/>
          </a:xfrm>
          <a:prstGeom prst="line">
            <a:avLst/>
          </a:prstGeom>
          <a:ln>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sp>
        <p:nvSpPr>
          <p:cNvPr id="23" name="テキスト ボックス 22">
            <a:extLst>
              <a:ext uri="{FF2B5EF4-FFF2-40B4-BE49-F238E27FC236}">
                <a16:creationId xmlns:a16="http://schemas.microsoft.com/office/drawing/2014/main" id="{45080FE6-CAD6-AFFF-71CE-72D8B1AA46B0}"/>
              </a:ext>
            </a:extLst>
          </p:cNvPr>
          <p:cNvSpPr txBox="1"/>
          <p:nvPr/>
        </p:nvSpPr>
        <p:spPr>
          <a:xfrm>
            <a:off x="1358175" y="2346494"/>
            <a:ext cx="3622963" cy="861774"/>
          </a:xfrm>
          <a:prstGeom prst="rect">
            <a:avLst/>
          </a:prstGeom>
          <a:solidFill>
            <a:schemeClr val="accent2">
              <a:lumMod val="40000"/>
              <a:lumOff val="60000"/>
            </a:schemeClr>
          </a:solidFill>
          <a:effectLst>
            <a:outerShdw blurRad="50800" dist="38100" dir="2700000" algn="tl" rotWithShape="0">
              <a:prstClr val="black">
                <a:alpha val="40000"/>
              </a:prstClr>
            </a:outerShdw>
          </a:effectLst>
        </p:spPr>
        <p:txBody>
          <a:bodyPr wrap="square" anchor="ctr">
            <a:spAutoFit/>
          </a:bodyPr>
          <a:lstStyle/>
          <a:p>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加速のきっかけ</a:t>
            </a:r>
            <a:endPar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①人手不足・コスト・サプライチェーン</a:t>
            </a:r>
            <a:endPar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②技術条件揃い</a:t>
            </a:r>
            <a:r>
              <a:rPr lang="ja-JP" altLang="en-US" sz="1050" dirty="0">
                <a:solidFill>
                  <a:schemeClr val="tx1">
                    <a:lumMod val="75000"/>
                    <a:lumOff val="25000"/>
                  </a:schemeClr>
                </a:solidFill>
                <a:latin typeface="メイリオ" panose="020B0604030504040204" pitchFamily="50" charset="-128"/>
                <a:ea typeface="メイリオ" panose="020B0604030504040204" pitchFamily="50" charset="-128"/>
              </a:rPr>
              <a:t> </a:t>
            </a:r>
            <a:r>
              <a:rPr lang="en-US" altLang="ja-JP" sz="1050" dirty="0">
                <a:solidFill>
                  <a:schemeClr val="tx1">
                    <a:lumMod val="75000"/>
                    <a:lumOff val="25000"/>
                  </a:schemeClr>
                </a:solidFill>
                <a:latin typeface="メイリオ" panose="020B0604030504040204" pitchFamily="50" charset="-128"/>
                <a:ea typeface="メイリオ" panose="020B0604030504040204" pitchFamily="50" charset="-128"/>
              </a:rPr>
              <a:t>(IoT</a:t>
            </a:r>
            <a:r>
              <a:rPr lang="ja-JP" altLang="en-US" sz="1050" dirty="0">
                <a:solidFill>
                  <a:schemeClr val="tx1">
                    <a:lumMod val="75000"/>
                    <a:lumOff val="25000"/>
                  </a:schemeClr>
                </a:solidFill>
                <a:latin typeface="メイリオ" panose="020B0604030504040204" pitchFamily="50" charset="-128"/>
                <a:ea typeface="メイリオ" panose="020B0604030504040204" pitchFamily="50" charset="-128"/>
              </a:rPr>
              <a:t>＋</a:t>
            </a:r>
            <a:r>
              <a:rPr lang="en-US" altLang="ja-JP" sz="1050" dirty="0">
                <a:solidFill>
                  <a:schemeClr val="tx1">
                    <a:lumMod val="75000"/>
                    <a:lumOff val="25000"/>
                  </a:schemeClr>
                </a:solidFill>
                <a:latin typeface="メイリオ" panose="020B0604030504040204" pitchFamily="50" charset="-128"/>
                <a:ea typeface="メイリオ" panose="020B0604030504040204" pitchFamily="50" charset="-128"/>
              </a:rPr>
              <a:t>GPU</a:t>
            </a:r>
            <a:r>
              <a:rPr lang="ja-JP" altLang="en-US" sz="1050" dirty="0">
                <a:solidFill>
                  <a:schemeClr val="tx1">
                    <a:lumMod val="75000"/>
                    <a:lumOff val="25000"/>
                  </a:schemeClr>
                </a:solidFill>
                <a:latin typeface="メイリオ" panose="020B0604030504040204" pitchFamily="50" charset="-128"/>
                <a:ea typeface="メイリオ" panose="020B0604030504040204" pitchFamily="50" charset="-128"/>
              </a:rPr>
              <a:t>＋</a:t>
            </a:r>
            <a:r>
              <a:rPr lang="en-US" altLang="ja-JP" sz="1050" dirty="0">
                <a:solidFill>
                  <a:schemeClr val="tx1">
                    <a:lumMod val="75000"/>
                    <a:lumOff val="25000"/>
                  </a:schemeClr>
                </a:solidFill>
                <a:latin typeface="メイリオ" panose="020B0604030504040204" pitchFamily="50" charset="-128"/>
                <a:ea typeface="メイリオ" panose="020B0604030504040204" pitchFamily="50" charset="-128"/>
              </a:rPr>
              <a:t>GenAI</a:t>
            </a:r>
            <a:r>
              <a:rPr lang="ja-JP" altLang="en-US" sz="1050" dirty="0">
                <a:solidFill>
                  <a:schemeClr val="tx1">
                    <a:lumMod val="75000"/>
                    <a:lumOff val="25000"/>
                  </a:schemeClr>
                </a:solidFill>
                <a:latin typeface="メイリオ" panose="020B0604030504040204" pitchFamily="50" charset="-128"/>
                <a:ea typeface="メイリオ" panose="020B0604030504040204" pitchFamily="50" charset="-128"/>
              </a:rPr>
              <a:t>＋</a:t>
            </a:r>
            <a:r>
              <a:rPr lang="en-US" altLang="ja-JP" sz="1050" dirty="0">
                <a:solidFill>
                  <a:schemeClr val="tx1">
                    <a:lumMod val="75000"/>
                    <a:lumOff val="25000"/>
                  </a:schemeClr>
                </a:solidFill>
                <a:latin typeface="メイリオ" panose="020B0604030504040204" pitchFamily="50" charset="-128"/>
                <a:ea typeface="メイリオ" panose="020B0604030504040204" pitchFamily="50" charset="-128"/>
              </a:rPr>
              <a:t>Digital Twin</a:t>
            </a:r>
            <a:r>
              <a:rPr lang="ja-JP" altLang="en-US" sz="1050" dirty="0">
                <a:solidFill>
                  <a:schemeClr val="tx1">
                    <a:lumMod val="75000"/>
                    <a:lumOff val="25000"/>
                  </a:schemeClr>
                </a:solidFill>
                <a:latin typeface="メイリオ" panose="020B0604030504040204" pitchFamily="50" charset="-128"/>
                <a:ea typeface="メイリオ" panose="020B0604030504040204" pitchFamily="50" charset="-128"/>
              </a:rPr>
              <a:t>）</a:t>
            </a:r>
            <a:endPar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③実績が可視化</a:t>
            </a:r>
            <a:r>
              <a:rPr lang="en-US" altLang="ja-JP" sz="1050" dirty="0">
                <a:solidFill>
                  <a:schemeClr val="tx1">
                    <a:lumMod val="75000"/>
                    <a:lumOff val="25000"/>
                  </a:schemeClr>
                </a:solidFill>
                <a:latin typeface="メイリオ" panose="020B0604030504040204" pitchFamily="50" charset="-128"/>
                <a:ea typeface="メイリオ" panose="020B0604030504040204" pitchFamily="50" charset="-128"/>
              </a:rPr>
              <a:t>(</a:t>
            </a:r>
            <a:r>
              <a:rPr lang="ja-JP" altLang="en-US" sz="1050" dirty="0">
                <a:solidFill>
                  <a:schemeClr val="tx1">
                    <a:lumMod val="75000"/>
                    <a:lumOff val="25000"/>
                  </a:schemeClr>
                </a:solidFill>
                <a:latin typeface="メイリオ" panose="020B0604030504040204" pitchFamily="50" charset="-128"/>
                <a:ea typeface="メイリオ" panose="020B0604030504040204" pitchFamily="50" charset="-128"/>
              </a:rPr>
              <a:t>本当に儲かる／コストが下がる</a:t>
            </a:r>
            <a:r>
              <a:rPr lang="en-US" altLang="ja-JP" sz="1050" dirty="0">
                <a:solidFill>
                  <a:schemeClr val="tx1">
                    <a:lumMod val="75000"/>
                    <a:lumOff val="25000"/>
                  </a:schemeClr>
                </a:solidFill>
                <a:latin typeface="メイリオ" panose="020B0604030504040204" pitchFamily="50" charset="-128"/>
                <a:ea typeface="メイリオ" panose="020B0604030504040204" pitchFamily="50" charset="-128"/>
              </a:rPr>
              <a:t>)</a:t>
            </a:r>
            <a:endPar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pic>
        <p:nvPicPr>
          <p:cNvPr id="10" name="図 9">
            <a:extLst>
              <a:ext uri="{FF2B5EF4-FFF2-40B4-BE49-F238E27FC236}">
                <a16:creationId xmlns:a16="http://schemas.microsoft.com/office/drawing/2014/main" id="{D877EC81-3866-9F19-8138-D8F27B591B70}"/>
              </a:ext>
            </a:extLst>
          </p:cNvPr>
          <p:cNvPicPr>
            <a:picLocks noChangeAspect="1"/>
          </p:cNvPicPr>
          <p:nvPr/>
        </p:nvPicPr>
        <p:blipFill>
          <a:blip r:embed="rId3"/>
          <a:srcRect t="14178" b="19317"/>
          <a:stretch>
            <a:fillRect/>
          </a:stretch>
        </p:blipFill>
        <p:spPr>
          <a:xfrm>
            <a:off x="1077177" y="3861577"/>
            <a:ext cx="795078" cy="528769"/>
          </a:xfrm>
          <a:prstGeom prst="rect">
            <a:avLst/>
          </a:prstGeom>
        </p:spPr>
      </p:pic>
      <p:pic>
        <p:nvPicPr>
          <p:cNvPr id="11" name="図 10">
            <a:extLst>
              <a:ext uri="{FF2B5EF4-FFF2-40B4-BE49-F238E27FC236}">
                <a16:creationId xmlns:a16="http://schemas.microsoft.com/office/drawing/2014/main" id="{BC26379B-E0DE-11D9-8F99-253D665B2E9F}"/>
              </a:ext>
            </a:extLst>
          </p:cNvPr>
          <p:cNvPicPr>
            <a:picLocks noChangeAspect="1"/>
          </p:cNvPicPr>
          <p:nvPr/>
        </p:nvPicPr>
        <p:blipFill>
          <a:blip r:embed="rId4"/>
          <a:srcRect t="12143" b="8379"/>
          <a:stretch>
            <a:fillRect/>
          </a:stretch>
        </p:blipFill>
        <p:spPr>
          <a:xfrm>
            <a:off x="2124435" y="4843955"/>
            <a:ext cx="912144" cy="724950"/>
          </a:xfrm>
          <a:prstGeom prst="rect">
            <a:avLst/>
          </a:prstGeom>
          <a:ln>
            <a:noFill/>
          </a:ln>
        </p:spPr>
      </p:pic>
      <p:sp>
        <p:nvSpPr>
          <p:cNvPr id="13" name="Content Placeholder 2">
            <a:extLst>
              <a:ext uri="{FF2B5EF4-FFF2-40B4-BE49-F238E27FC236}">
                <a16:creationId xmlns:a16="http://schemas.microsoft.com/office/drawing/2014/main" id="{F6B86564-5AF4-79F3-1572-07830B736DCC}"/>
              </a:ext>
            </a:extLst>
          </p:cNvPr>
          <p:cNvSpPr txBox="1">
            <a:spLocks/>
          </p:cNvSpPr>
          <p:nvPr/>
        </p:nvSpPr>
        <p:spPr>
          <a:xfrm>
            <a:off x="2843858" y="4924362"/>
            <a:ext cx="1704007" cy="564342"/>
          </a:xfrm>
          <a:prstGeom prst="rect">
            <a:avLst/>
          </a:prstGeom>
          <a:solidFill>
            <a:schemeClr val="bg1"/>
          </a:solidFill>
        </p:spPr>
        <p:txBody>
          <a:bodyPr vert="horz" lIns="91440" tIns="45720" rIns="91440" bIns="45720" rtlCol="0" anchor="ctr">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defRPr sz="1600">
                <a:latin typeface="Meiryo"/>
              </a:defRPr>
            </a:pPr>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製造業向け</a:t>
            </a:r>
            <a:r>
              <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AI</a:t>
            </a:r>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市場</a:t>
            </a:r>
            <a:endPar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marL="0" indent="0">
              <a:buNone/>
              <a:defRPr sz="1600">
                <a:latin typeface="Meiryo"/>
              </a:defRPr>
            </a:pPr>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年</a:t>
            </a:r>
            <a:r>
              <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30~40%</a:t>
            </a:r>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で成長</a:t>
            </a:r>
            <a:endPar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14" name="Content Placeholder 2">
            <a:extLst>
              <a:ext uri="{FF2B5EF4-FFF2-40B4-BE49-F238E27FC236}">
                <a16:creationId xmlns:a16="http://schemas.microsoft.com/office/drawing/2014/main" id="{1F487E4C-FDA9-43A3-F913-9CF1ABF77595}"/>
              </a:ext>
            </a:extLst>
          </p:cNvPr>
          <p:cNvSpPr txBox="1">
            <a:spLocks/>
          </p:cNvSpPr>
          <p:nvPr/>
        </p:nvSpPr>
        <p:spPr>
          <a:xfrm>
            <a:off x="1872255" y="3866115"/>
            <a:ext cx="1704007" cy="564342"/>
          </a:xfrm>
          <a:prstGeom prst="rect">
            <a:avLst/>
          </a:prstGeom>
          <a:solidFill>
            <a:schemeClr val="bg1"/>
          </a:solidFill>
        </p:spPr>
        <p:txBody>
          <a:bodyPr vert="horz" lIns="91440" tIns="45720" rIns="91440" bIns="45720" rtlCol="0" anchor="ctr">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defRPr sz="1600">
                <a:latin typeface="Meiryo"/>
              </a:defRPr>
            </a:pPr>
            <a:r>
              <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AI</a:t>
            </a:r>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投資額</a:t>
            </a:r>
            <a:endPar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marL="0" indent="0">
              <a:buFont typeface="Arial"/>
              <a:buNone/>
              <a:defRPr sz="1600">
                <a:latin typeface="Meiryo"/>
              </a:defRPr>
            </a:pPr>
            <a:r>
              <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2024</a:t>
            </a:r>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年で約</a:t>
            </a:r>
            <a:r>
              <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2.5</a:t>
            </a:r>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兆円</a:t>
            </a:r>
          </a:p>
        </p:txBody>
      </p:sp>
      <p:sp>
        <p:nvSpPr>
          <p:cNvPr id="15" name="Content Placeholder 2">
            <a:extLst>
              <a:ext uri="{FF2B5EF4-FFF2-40B4-BE49-F238E27FC236}">
                <a16:creationId xmlns:a16="http://schemas.microsoft.com/office/drawing/2014/main" id="{70009980-BAE0-5D14-D4C8-95071D11D1BA}"/>
              </a:ext>
            </a:extLst>
          </p:cNvPr>
          <p:cNvSpPr txBox="1">
            <a:spLocks/>
          </p:cNvSpPr>
          <p:nvPr/>
        </p:nvSpPr>
        <p:spPr>
          <a:xfrm>
            <a:off x="7488841" y="1779485"/>
            <a:ext cx="3504075" cy="318807"/>
          </a:xfrm>
          <a:prstGeom prst="rect">
            <a:avLst/>
          </a:prstGeom>
        </p:spPr>
        <p:txBody>
          <a:bodyPr vert="horz" lIns="91440" tIns="45720" rIns="91440" bIns="45720" rtlCol="0" anchor="ctr">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buFont typeface="Arial"/>
              <a:buNone/>
              <a:defRPr sz="1600">
                <a:latin typeface="Meiryo"/>
              </a:defRPr>
            </a:pPr>
            <a:r>
              <a:rPr lang="en-US" altLang="ja-JP" sz="1400" u="sng" dirty="0">
                <a:solidFill>
                  <a:schemeClr val="tx1">
                    <a:lumMod val="75000"/>
                    <a:lumOff val="25000"/>
                  </a:schemeClr>
                </a:solidFill>
                <a:latin typeface="メイリオ" panose="020B0604030504040204" pitchFamily="50" charset="-128"/>
                <a:ea typeface="メイリオ" panose="020B0604030504040204" pitchFamily="50" charset="-128"/>
              </a:rPr>
              <a:t>AI</a:t>
            </a:r>
            <a:r>
              <a:rPr lang="ja-JP" altLang="en-US" sz="1400" u="sng" dirty="0">
                <a:solidFill>
                  <a:schemeClr val="tx1">
                    <a:lumMod val="75000"/>
                    <a:lumOff val="25000"/>
                  </a:schemeClr>
                </a:solidFill>
                <a:latin typeface="メイリオ" panose="020B0604030504040204" pitchFamily="50" charset="-128"/>
                <a:ea typeface="メイリオ" panose="020B0604030504040204" pitchFamily="50" charset="-128"/>
              </a:rPr>
              <a:t>化における会社の期待</a:t>
            </a:r>
          </a:p>
        </p:txBody>
      </p:sp>
    </p:spTree>
    <p:extLst>
      <p:ext uri="{BB962C8B-B14F-4D97-AF65-F5344CB8AC3E}">
        <p14:creationId xmlns:p14="http://schemas.microsoft.com/office/powerpoint/2010/main" val="9248593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4F17CE-F85A-7064-5AA4-3BEA743590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997FB9-5388-74AA-F108-E94AA1A14467}"/>
              </a:ext>
            </a:extLst>
          </p:cNvPr>
          <p:cNvSpPr>
            <a:spLocks noGrp="1"/>
          </p:cNvSpPr>
          <p:nvPr>
            <p:ph type="title"/>
          </p:nvPr>
        </p:nvSpPr>
        <p:spPr>
          <a:xfrm>
            <a:off x="457201" y="274638"/>
            <a:ext cx="11474824" cy="541150"/>
          </a:xfrm>
        </p:spPr>
        <p:txBody>
          <a:bodyPr>
            <a:noAutofit/>
          </a:bodyPr>
          <a:lstStyle/>
          <a:p>
            <a:r>
              <a:rPr lang="en-US" altLang="ja-JP" sz="2400" b="1" dirty="0">
                <a:solidFill>
                  <a:schemeClr val="tx1">
                    <a:lumMod val="75000"/>
                    <a:lumOff val="25000"/>
                  </a:schemeClr>
                </a:solidFill>
                <a:latin typeface="メイリオ" panose="020B0604030504040204" pitchFamily="50" charset="-128"/>
                <a:ea typeface="メイリオ" panose="020B0604030504040204" pitchFamily="50" charset="-128"/>
              </a:rPr>
              <a:t>AI</a:t>
            </a:r>
            <a:r>
              <a:rPr lang="ja-JP" altLang="en-US" sz="2400" b="1" dirty="0">
                <a:solidFill>
                  <a:schemeClr val="tx1">
                    <a:lumMod val="75000"/>
                    <a:lumOff val="25000"/>
                  </a:schemeClr>
                </a:solidFill>
                <a:latin typeface="メイリオ" panose="020B0604030504040204" pitchFamily="50" charset="-128"/>
                <a:ea typeface="メイリオ" panose="020B0604030504040204" pitchFamily="50" charset="-128"/>
              </a:rPr>
              <a:t>化を進める課題</a:t>
            </a:r>
            <a:endParaRPr sz="24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7" name="Content Placeholder 2">
            <a:extLst>
              <a:ext uri="{FF2B5EF4-FFF2-40B4-BE49-F238E27FC236}">
                <a16:creationId xmlns:a16="http://schemas.microsoft.com/office/drawing/2014/main" id="{BC23414C-254A-1DB7-80B8-A44A1CE4526F}"/>
              </a:ext>
            </a:extLst>
          </p:cNvPr>
          <p:cNvSpPr>
            <a:spLocks noGrp="1"/>
          </p:cNvSpPr>
          <p:nvPr>
            <p:ph idx="1"/>
          </p:nvPr>
        </p:nvSpPr>
        <p:spPr>
          <a:xfrm>
            <a:off x="515473" y="986118"/>
            <a:ext cx="11330500" cy="753036"/>
          </a:xfrm>
        </p:spPr>
        <p:txBody>
          <a:bodyPr>
            <a:noAutofit/>
          </a:bodyPr>
          <a:lstStyle/>
          <a:p>
            <a:pPr marL="0" indent="0">
              <a:buNone/>
              <a:defRPr sz="1600">
                <a:latin typeface="Meiryo"/>
              </a:defRPr>
            </a:pPr>
            <a:r>
              <a:rPr lang="ja-JP" altLang="en-US" sz="2000" dirty="0">
                <a:solidFill>
                  <a:schemeClr val="tx1">
                    <a:lumMod val="75000"/>
                    <a:lumOff val="25000"/>
                  </a:schemeClr>
                </a:solidFill>
                <a:latin typeface="メイリオ" panose="020B0604030504040204" pitchFamily="50" charset="-128"/>
                <a:ea typeface="メイリオ" panose="020B0604030504040204" pitchFamily="50" charset="-128"/>
              </a:rPr>
              <a:t>しかし</a:t>
            </a:r>
            <a:r>
              <a:rPr lang="en-US" altLang="ja-JP" sz="2000" dirty="0">
                <a:solidFill>
                  <a:schemeClr val="tx1">
                    <a:lumMod val="75000"/>
                    <a:lumOff val="25000"/>
                  </a:schemeClr>
                </a:solidFill>
                <a:latin typeface="メイリオ" panose="020B0604030504040204" pitchFamily="50" charset="-128"/>
                <a:ea typeface="メイリオ" panose="020B0604030504040204" pitchFamily="50" charset="-128"/>
              </a:rPr>
              <a:t>AI</a:t>
            </a:r>
            <a:r>
              <a:rPr lang="ja-JP" altLang="en-US" sz="2000" dirty="0">
                <a:solidFill>
                  <a:schemeClr val="tx1">
                    <a:lumMod val="75000"/>
                    <a:lumOff val="25000"/>
                  </a:schemeClr>
                </a:solidFill>
                <a:latin typeface="メイリオ" panose="020B0604030504040204" pitchFamily="50" charset="-128"/>
                <a:ea typeface="メイリオ" panose="020B0604030504040204" pitchFamily="50" charset="-128"/>
              </a:rPr>
              <a:t>導入の</a:t>
            </a:r>
            <a:r>
              <a:rPr lang="en-US" altLang="ja-JP" sz="2000" dirty="0">
                <a:solidFill>
                  <a:schemeClr val="tx1">
                    <a:lumMod val="75000"/>
                    <a:lumOff val="25000"/>
                  </a:schemeClr>
                </a:solidFill>
                <a:latin typeface="メイリオ" panose="020B0604030504040204" pitchFamily="50" charset="-128"/>
                <a:ea typeface="メイリオ" panose="020B0604030504040204" pitchFamily="50" charset="-128"/>
              </a:rPr>
              <a:t>95%</a:t>
            </a:r>
            <a:r>
              <a:rPr lang="ja-JP" altLang="en-US" sz="2000" dirty="0">
                <a:solidFill>
                  <a:schemeClr val="tx1">
                    <a:lumMod val="75000"/>
                    <a:lumOff val="25000"/>
                  </a:schemeClr>
                </a:solidFill>
                <a:latin typeface="メイリオ" panose="020B0604030504040204" pitchFamily="50" charset="-128"/>
                <a:ea typeface="メイリオ" panose="020B0604030504040204" pitchFamily="50" charset="-128"/>
              </a:rPr>
              <a:t>は</a:t>
            </a:r>
            <a:r>
              <a:rPr lang="en-US" altLang="ja-JP" sz="2000" dirty="0">
                <a:solidFill>
                  <a:schemeClr val="tx1">
                    <a:lumMod val="75000"/>
                    <a:lumOff val="25000"/>
                  </a:schemeClr>
                </a:solidFill>
                <a:latin typeface="メイリオ" panose="020B0604030504040204" pitchFamily="50" charset="-128"/>
                <a:ea typeface="メイリオ" panose="020B0604030504040204" pitchFamily="50" charset="-128"/>
              </a:rPr>
              <a:t>ROI</a:t>
            </a:r>
            <a:r>
              <a:rPr lang="ja-JP" altLang="en-US" sz="2000" dirty="0">
                <a:solidFill>
                  <a:schemeClr val="tx1">
                    <a:lumMod val="75000"/>
                    <a:lumOff val="25000"/>
                  </a:schemeClr>
                </a:solidFill>
                <a:latin typeface="メイリオ" panose="020B0604030504040204" pitchFamily="50" charset="-128"/>
                <a:ea typeface="メイリオ" panose="020B0604030504040204" pitchFamily="50" charset="-128"/>
              </a:rPr>
              <a:t>到達できていないという現実あり </a:t>
            </a:r>
            <a:r>
              <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(MIT,</a:t>
            </a:r>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 </a:t>
            </a:r>
            <a:r>
              <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State of AI in Business 2025, The GenAI Divide)</a:t>
            </a:r>
          </a:p>
          <a:p>
            <a:pPr marL="0" indent="0">
              <a:buNone/>
              <a:defRPr sz="1600">
                <a:latin typeface="Meiryo"/>
              </a:defRPr>
            </a:pPr>
            <a:r>
              <a:rPr lang="ja-JP" altLang="en-US" sz="2000" dirty="0">
                <a:solidFill>
                  <a:schemeClr val="tx1">
                    <a:lumMod val="75000"/>
                    <a:lumOff val="25000"/>
                  </a:schemeClr>
                </a:solidFill>
                <a:latin typeface="メイリオ" panose="020B0604030504040204" pitchFamily="50" charset="-128"/>
                <a:ea typeface="メイリオ" panose="020B0604030504040204" pitchFamily="50" charset="-128"/>
              </a:rPr>
              <a:t>課題と対比、「業務プロセスを</a:t>
            </a:r>
            <a:r>
              <a:rPr lang="en-US" altLang="ja-JP" sz="2000" dirty="0">
                <a:solidFill>
                  <a:schemeClr val="tx1">
                    <a:lumMod val="75000"/>
                    <a:lumOff val="25000"/>
                  </a:schemeClr>
                </a:solidFill>
                <a:latin typeface="メイリオ" panose="020B0604030504040204" pitchFamily="50" charset="-128"/>
                <a:ea typeface="メイリオ" panose="020B0604030504040204" pitchFamily="50" charset="-128"/>
              </a:rPr>
              <a:t>AI</a:t>
            </a:r>
            <a:r>
              <a:rPr lang="ja-JP" altLang="en-US" sz="2000" dirty="0">
                <a:solidFill>
                  <a:schemeClr val="tx1">
                    <a:lumMod val="75000"/>
                    <a:lumOff val="25000"/>
                  </a:schemeClr>
                </a:solidFill>
                <a:latin typeface="メイリオ" panose="020B0604030504040204" pitchFamily="50" charset="-128"/>
                <a:ea typeface="メイリオ" panose="020B0604030504040204" pitchFamily="50" charset="-128"/>
              </a:rPr>
              <a:t>中心に再設計」と「運用と改善ループ構築」はすぐ先の課題</a:t>
            </a:r>
            <a:endParaRPr sz="20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graphicFrame>
        <p:nvGraphicFramePr>
          <p:cNvPr id="6" name="表 5">
            <a:extLst>
              <a:ext uri="{FF2B5EF4-FFF2-40B4-BE49-F238E27FC236}">
                <a16:creationId xmlns:a16="http://schemas.microsoft.com/office/drawing/2014/main" id="{24469BBD-C655-49AC-D916-6D080B3B67D6}"/>
              </a:ext>
            </a:extLst>
          </p:cNvPr>
          <p:cNvGraphicFramePr>
            <a:graphicFrameLocks noGrp="1"/>
          </p:cNvGraphicFramePr>
          <p:nvPr>
            <p:extLst>
              <p:ext uri="{D42A27DB-BD31-4B8C-83A1-F6EECF244321}">
                <p14:modId xmlns:p14="http://schemas.microsoft.com/office/powerpoint/2010/main" val="3411341280"/>
              </p:ext>
            </p:extLst>
          </p:nvPr>
        </p:nvGraphicFramePr>
        <p:xfrm>
          <a:off x="552636" y="2139843"/>
          <a:ext cx="6143999" cy="4025475"/>
        </p:xfrm>
        <a:graphic>
          <a:graphicData uri="http://schemas.openxmlformats.org/drawingml/2006/table">
            <a:tbl>
              <a:tblPr firstRow="1" bandRow="1">
                <a:tableStyleId>{2D5ABB26-0587-4C30-8999-92F81FD0307C}</a:tableStyleId>
              </a:tblPr>
              <a:tblGrid>
                <a:gridCol w="3284258">
                  <a:extLst>
                    <a:ext uri="{9D8B030D-6E8A-4147-A177-3AD203B41FA5}">
                      <a16:colId xmlns:a16="http://schemas.microsoft.com/office/drawing/2014/main" val="2067463726"/>
                    </a:ext>
                  </a:extLst>
                </a:gridCol>
                <a:gridCol w="2859741">
                  <a:extLst>
                    <a:ext uri="{9D8B030D-6E8A-4147-A177-3AD203B41FA5}">
                      <a16:colId xmlns:a16="http://schemas.microsoft.com/office/drawing/2014/main" val="1738535413"/>
                    </a:ext>
                  </a:extLst>
                </a:gridCol>
              </a:tblGrid>
              <a:tr h="297442">
                <a:tc>
                  <a:txBody>
                    <a:bodyPr/>
                    <a:lstStyle/>
                    <a:p>
                      <a:r>
                        <a:rPr kumimoji="1" lang="ja-JP" altLang="en-US" sz="1400" dirty="0">
                          <a:solidFill>
                            <a:srgbClr val="FFFFFF"/>
                          </a:solidFill>
                          <a:latin typeface="メイリオ" panose="020B0604030504040204" pitchFamily="50" charset="-128"/>
                          <a:ea typeface="メイリオ" panose="020B0604030504040204" pitchFamily="50" charset="-128"/>
                        </a:rPr>
                        <a:t>課題</a:t>
                      </a:r>
                      <a:r>
                        <a:rPr kumimoji="1" lang="ja-JP" altLang="en-US" sz="1050" dirty="0">
                          <a:solidFill>
                            <a:srgbClr val="FFFFFF"/>
                          </a:solidFill>
                          <a:latin typeface="メイリオ" panose="020B0604030504040204" pitchFamily="50" charset="-128"/>
                          <a:ea typeface="メイリオ" panose="020B0604030504040204" pitchFamily="50" charset="-128"/>
                        </a:rPr>
                        <a:t> </a:t>
                      </a:r>
                      <a:r>
                        <a:rPr kumimoji="1" lang="en-US" altLang="ja-JP" sz="1050" dirty="0">
                          <a:solidFill>
                            <a:srgbClr val="FFFFFF"/>
                          </a:solidFill>
                          <a:latin typeface="メイリオ" panose="020B0604030504040204" pitchFamily="50" charset="-128"/>
                          <a:ea typeface="メイリオ" panose="020B0604030504040204" pitchFamily="50" charset="-128"/>
                        </a:rPr>
                        <a:t>(</a:t>
                      </a:r>
                      <a:r>
                        <a:rPr kumimoji="1" lang="ja-JP" altLang="en-US" sz="1050" dirty="0">
                          <a:solidFill>
                            <a:srgbClr val="FFFFFF"/>
                          </a:solidFill>
                          <a:latin typeface="メイリオ" panose="020B0604030504040204" pitchFamily="50" charset="-128"/>
                          <a:ea typeface="メイリオ" panose="020B0604030504040204" pitchFamily="50" charset="-128"/>
                        </a:rPr>
                        <a:t>参考 </a:t>
                      </a:r>
                      <a:r>
                        <a:rPr kumimoji="1" lang="en-US" altLang="ja-JP" sz="1050" dirty="0">
                          <a:solidFill>
                            <a:srgbClr val="FFFFFF"/>
                          </a:solidFill>
                          <a:latin typeface="メイリオ" panose="020B0604030504040204" pitchFamily="50" charset="-128"/>
                          <a:ea typeface="メイリオ" panose="020B0604030504040204" pitchFamily="50" charset="-128"/>
                        </a:rPr>
                        <a:t>McKinsey, MIT</a:t>
                      </a:r>
                      <a:r>
                        <a:rPr kumimoji="1" lang="ja-JP" altLang="en-US" sz="1050" dirty="0">
                          <a:solidFill>
                            <a:srgbClr val="FFFFFF"/>
                          </a:solidFill>
                          <a:latin typeface="メイリオ" panose="020B0604030504040204" pitchFamily="50" charset="-128"/>
                          <a:ea typeface="メイリオ" panose="020B0604030504040204" pitchFamily="50" charset="-128"/>
                        </a:rPr>
                        <a:t>のレポート</a:t>
                      </a:r>
                      <a:r>
                        <a:rPr kumimoji="1" lang="en-US" altLang="ja-JP" sz="1050" dirty="0">
                          <a:solidFill>
                            <a:srgbClr val="FFFFFF"/>
                          </a:solidFill>
                          <a:latin typeface="メイリオ" panose="020B0604030504040204" pitchFamily="50" charset="-128"/>
                          <a:ea typeface="メイリオ" panose="020B0604030504040204" pitchFamily="50" charset="-128"/>
                        </a:rPr>
                        <a:t>)</a:t>
                      </a:r>
                      <a:endParaRPr kumimoji="1" lang="ja-JP" altLang="en-US" sz="1400" dirty="0">
                        <a:solidFill>
                          <a:srgbClr val="FFFFFF"/>
                        </a:solidFill>
                        <a:latin typeface="メイリオ" panose="020B0604030504040204" pitchFamily="50" charset="-128"/>
                        <a:ea typeface="メイリオ" panose="020B0604030504040204" pitchFamily="50" charset="-128"/>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1"/>
                    </a:solidFill>
                  </a:tcPr>
                </a:tc>
                <a:tc>
                  <a:txBody>
                    <a:bodyPr/>
                    <a:lstStyle/>
                    <a:p>
                      <a:r>
                        <a:rPr kumimoji="1" lang="ja-JP" altLang="en-US" sz="1400" dirty="0">
                          <a:solidFill>
                            <a:srgbClr val="FFFFFF"/>
                          </a:solidFill>
                          <a:latin typeface="メイリオ" panose="020B0604030504040204" pitchFamily="50" charset="-128"/>
                          <a:ea typeface="メイリオ" panose="020B0604030504040204" pitchFamily="50" charset="-128"/>
                        </a:rPr>
                        <a:t>会社</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3626129970"/>
                  </a:ext>
                </a:extLst>
              </a:tr>
              <a:tr h="744135">
                <a:tc>
                  <a:txBody>
                    <a:bodyPr/>
                    <a:lstStyle/>
                    <a:p>
                      <a:r>
                        <a:rPr kumimoji="1" lang="ja-JP" altLang="en-US" sz="1400" dirty="0">
                          <a:latin typeface="メイリオ" panose="020B0604030504040204" pitchFamily="50" charset="-128"/>
                          <a:ea typeface="メイリオ" panose="020B0604030504040204" pitchFamily="50" charset="-128"/>
                        </a:rPr>
                        <a:t>ワークフロー／業務プロセス</a:t>
                      </a:r>
                      <a:endParaRPr kumimoji="1" lang="en-US" altLang="ja-JP" sz="1400" dirty="0">
                        <a:latin typeface="メイリオ" panose="020B0604030504040204" pitchFamily="50" charset="-128"/>
                        <a:ea typeface="メイリオ" panose="020B0604030504040204" pitchFamily="50" charset="-128"/>
                      </a:endParaRPr>
                    </a:p>
                    <a:p>
                      <a:r>
                        <a:rPr kumimoji="1" lang="ja-JP" altLang="en-US" sz="1400" dirty="0">
                          <a:latin typeface="メイリオ" panose="020B0604030504040204" pitchFamily="50" charset="-128"/>
                          <a:ea typeface="メイリオ" panose="020B0604030504040204" pitchFamily="50" charset="-128"/>
                        </a:rPr>
                        <a:t>の再設計</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tc>
                  <a:txBody>
                    <a:bodyPr/>
                    <a:lstStyle/>
                    <a:p>
                      <a:r>
                        <a:rPr kumimoji="1" lang="ja-JP" altLang="en-US" sz="1400" dirty="0">
                          <a:latin typeface="メイリオ" panose="020B0604030504040204" pitchFamily="50" charset="-128"/>
                          <a:ea typeface="メイリオ" panose="020B0604030504040204" pitchFamily="50" charset="-128"/>
                        </a:rPr>
                        <a:t>現状業務の自動化</a:t>
                      </a:r>
                      <a:endParaRPr kumimoji="1" lang="en-US" altLang="ja-JP" sz="1400" dirty="0">
                        <a:latin typeface="メイリオ" panose="020B0604030504040204" pitchFamily="50" charset="-128"/>
                        <a:ea typeface="メイリオ" panose="020B0604030504040204" pitchFamily="50" charset="-128"/>
                      </a:endParaRPr>
                    </a:p>
                    <a:p>
                      <a:r>
                        <a:rPr kumimoji="1" lang="en-US" altLang="ja-JP" sz="1400" dirty="0">
                          <a:latin typeface="メイリオ" panose="020B0604030504040204" pitchFamily="50" charset="-128"/>
                          <a:ea typeface="メイリオ" panose="020B0604030504040204" pitchFamily="50" charset="-128"/>
                        </a:rPr>
                        <a:t>AI</a:t>
                      </a:r>
                      <a:r>
                        <a:rPr kumimoji="1" lang="ja-JP" altLang="en-US" sz="1400" dirty="0">
                          <a:latin typeface="メイリオ" panose="020B0604030504040204" pitchFamily="50" charset="-128"/>
                          <a:ea typeface="メイリオ" panose="020B0604030504040204" pitchFamily="50" charset="-128"/>
                        </a:rPr>
                        <a:t>化後の業務つながり未設計</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3159157487"/>
                  </a:ext>
                </a:extLst>
              </a:tr>
              <a:tr h="744135">
                <a:tc>
                  <a:txBody>
                    <a:bodyPr/>
                    <a:lstStyle/>
                    <a:p>
                      <a:r>
                        <a:rPr kumimoji="1" lang="ja-JP" altLang="en-US" sz="1400" dirty="0">
                          <a:latin typeface="メイリオ" panose="020B0604030504040204" pitchFamily="50" charset="-128"/>
                          <a:ea typeface="メイリオ" panose="020B0604030504040204" pitchFamily="50" charset="-128"/>
                        </a:rPr>
                        <a:t>経営／現場の強いリーダーシップ</a:t>
                      </a:r>
                      <a:endParaRPr kumimoji="1" lang="en-US" altLang="ja-JP" sz="1400" dirty="0">
                        <a:latin typeface="メイリオ" panose="020B0604030504040204" pitchFamily="50" charset="-128"/>
                        <a:ea typeface="メイリオ" panose="020B0604030504040204" pitchFamily="50" charset="-128"/>
                      </a:endParaRPr>
                    </a:p>
                    <a:p>
                      <a:r>
                        <a:rPr kumimoji="1" lang="ja-JP" altLang="en-US" sz="1400" dirty="0">
                          <a:latin typeface="メイリオ" panose="020B0604030504040204" pitchFamily="50" charset="-128"/>
                          <a:ea typeface="メイリオ" panose="020B0604030504040204" pitchFamily="50" charset="-128"/>
                        </a:rPr>
                        <a:t>とガバナンス</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tc>
                  <a:txBody>
                    <a:bodyPr/>
                    <a:lstStyle/>
                    <a:p>
                      <a:r>
                        <a:rPr kumimoji="1" lang="en-US" altLang="ja-JP" sz="1400" dirty="0">
                          <a:latin typeface="メイリオ" panose="020B0604030504040204" pitchFamily="50" charset="-128"/>
                          <a:ea typeface="メイリオ" panose="020B0604030504040204" pitchFamily="50" charset="-128"/>
                        </a:rPr>
                        <a:t>Smart Factory</a:t>
                      </a:r>
                      <a:r>
                        <a:rPr kumimoji="1" lang="ja-JP" altLang="en-US" sz="1400" dirty="0">
                          <a:latin typeface="メイリオ" panose="020B0604030504040204" pitchFamily="50" charset="-128"/>
                          <a:ea typeface="メイリオ" panose="020B0604030504040204" pitchFamily="50" charset="-128"/>
                        </a:rPr>
                        <a:t>体制</a:t>
                      </a:r>
                      <a:endParaRPr kumimoji="1" lang="en-US" altLang="ja-JP" sz="1400" dirty="0">
                        <a:latin typeface="メイリオ" panose="020B0604030504040204" pitchFamily="50" charset="-128"/>
                        <a:ea typeface="メイリオ" panose="020B0604030504040204" pitchFamily="50" charset="-128"/>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273250444"/>
                  </a:ext>
                </a:extLst>
              </a:tr>
              <a:tr h="744135">
                <a:tc>
                  <a:txBody>
                    <a:bodyPr/>
                    <a:lstStyle/>
                    <a:p>
                      <a:r>
                        <a:rPr kumimoji="1" lang="ja-JP" altLang="en-US" sz="1400" dirty="0">
                          <a:latin typeface="メイリオ" panose="020B0604030504040204" pitchFamily="50" charset="-128"/>
                          <a:ea typeface="メイリオ" panose="020B0604030504040204" pitchFamily="50" charset="-128"/>
                        </a:rPr>
                        <a:t>スモールスケールからの</a:t>
                      </a:r>
                      <a:endParaRPr kumimoji="1" lang="en-US" altLang="ja-JP" sz="1400" dirty="0">
                        <a:latin typeface="メイリオ" panose="020B0604030504040204" pitchFamily="50" charset="-128"/>
                        <a:ea typeface="メイリオ" panose="020B0604030504040204" pitchFamily="50" charset="-128"/>
                      </a:endParaRPr>
                    </a:p>
                    <a:p>
                      <a:r>
                        <a:rPr kumimoji="1" lang="ja-JP" altLang="en-US" sz="1400" dirty="0">
                          <a:latin typeface="メイリオ" panose="020B0604030504040204" pitchFamily="50" charset="-128"/>
                          <a:ea typeface="メイリオ" panose="020B0604030504040204" pitchFamily="50" charset="-128"/>
                        </a:rPr>
                        <a:t>スケーラブル実装</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1" lang="en-US" altLang="ja-JP" sz="1400" dirty="0">
                          <a:latin typeface="メイリオ" panose="020B0604030504040204" pitchFamily="50" charset="-128"/>
                          <a:ea typeface="メイリオ" panose="020B0604030504040204" pitchFamily="50" charset="-128"/>
                        </a:rPr>
                        <a:t>Smart Factory</a:t>
                      </a:r>
                      <a:r>
                        <a:rPr kumimoji="1" lang="ja-JP" altLang="en-US" sz="1400" dirty="0">
                          <a:latin typeface="メイリオ" panose="020B0604030504040204" pitchFamily="50" charset="-128"/>
                          <a:ea typeface="メイリオ" panose="020B0604030504040204" pitchFamily="50" charset="-128"/>
                        </a:rPr>
                        <a:t>組織</a:t>
                      </a:r>
                      <a:endParaRPr kumimoji="1" lang="en-US" altLang="ja-JP" sz="1400" dirty="0">
                        <a:latin typeface="メイリオ" panose="020B0604030504040204" pitchFamily="50" charset="-128"/>
                        <a:ea typeface="メイリオ" panose="020B0604030504040204" pitchFamily="50" charset="-128"/>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1" lang="en-US" altLang="ja-JP" sz="1400" dirty="0">
                          <a:latin typeface="メイリオ" panose="020B0604030504040204" pitchFamily="50" charset="-128"/>
                          <a:ea typeface="メイリオ" panose="020B0604030504040204" pitchFamily="50" charset="-128"/>
                        </a:rPr>
                        <a:t>D1~C5</a:t>
                      </a:r>
                      <a:r>
                        <a:rPr kumimoji="1" lang="ja-JP" altLang="en-US" sz="1400" dirty="0">
                          <a:latin typeface="メイリオ" panose="020B0604030504040204" pitchFamily="50" charset="-128"/>
                          <a:ea typeface="メイリオ" panose="020B0604030504040204" pitchFamily="50" charset="-128"/>
                        </a:rPr>
                        <a:t>までの分離</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3061754477"/>
                  </a:ext>
                </a:extLst>
              </a:tr>
              <a:tr h="744135">
                <a:tc>
                  <a:txBody>
                    <a:bodyPr/>
                    <a:lstStyle/>
                    <a:p>
                      <a:r>
                        <a:rPr kumimoji="1" lang="ja-JP" altLang="en-US" sz="1400" dirty="0">
                          <a:latin typeface="メイリオ" panose="020B0604030504040204" pitchFamily="50" charset="-128"/>
                          <a:ea typeface="メイリオ" panose="020B0604030504040204" pitchFamily="50" charset="-128"/>
                        </a:rPr>
                        <a:t>データ・モデル運用</a:t>
                      </a:r>
                      <a:endParaRPr kumimoji="1" lang="en-US" altLang="ja-JP" sz="1400" dirty="0">
                        <a:latin typeface="メイリオ" panose="020B0604030504040204" pitchFamily="50" charset="-128"/>
                        <a:ea typeface="メイリオ" panose="020B0604030504040204" pitchFamily="50" charset="-128"/>
                      </a:endParaRPr>
                    </a:p>
                    <a:p>
                      <a:r>
                        <a:rPr kumimoji="1" lang="ja-JP" altLang="en-US" sz="1400" dirty="0">
                          <a:latin typeface="メイリオ" panose="020B0604030504040204" pitchFamily="50" charset="-128"/>
                          <a:ea typeface="メイリオ" panose="020B0604030504040204" pitchFamily="50" charset="-128"/>
                        </a:rPr>
                        <a:t>と改善ループ構築</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tc>
                  <a:txBody>
                    <a:bodyPr/>
                    <a:lstStyle/>
                    <a:p>
                      <a:r>
                        <a:rPr kumimoji="1" lang="ja-JP" altLang="en-US" sz="1400" dirty="0">
                          <a:latin typeface="メイリオ" panose="020B0604030504040204" pitchFamily="50" charset="-128"/>
                          <a:ea typeface="メイリオ" panose="020B0604030504040204" pitchFamily="50" charset="-128"/>
                        </a:rPr>
                        <a:t>個別</a:t>
                      </a:r>
                      <a:r>
                        <a:rPr kumimoji="1" lang="en-US" altLang="ja-JP" sz="1400" dirty="0">
                          <a:latin typeface="メイリオ" panose="020B0604030504040204" pitchFamily="50" charset="-128"/>
                          <a:ea typeface="メイリオ" panose="020B0604030504040204" pitchFamily="50" charset="-128"/>
                        </a:rPr>
                        <a:t>AI</a:t>
                      </a:r>
                      <a:r>
                        <a:rPr kumimoji="1" lang="ja-JP" altLang="en-US" sz="1400" dirty="0">
                          <a:latin typeface="メイリオ" panose="020B0604030504040204" pitchFamily="50" charset="-128"/>
                          <a:ea typeface="メイリオ" panose="020B0604030504040204" pitchFamily="50" charset="-128"/>
                        </a:rPr>
                        <a:t>用のデータ</a:t>
                      </a:r>
                      <a:endParaRPr kumimoji="1" lang="en-US" altLang="ja-JP" sz="1400" dirty="0">
                        <a:latin typeface="メイリオ" panose="020B0604030504040204" pitchFamily="50" charset="-128"/>
                        <a:ea typeface="メイリオ" panose="020B0604030504040204" pitchFamily="50" charset="-128"/>
                      </a:endParaRPr>
                    </a:p>
                    <a:p>
                      <a:r>
                        <a:rPr kumimoji="1" lang="en-US" altLang="ja-JP" sz="1400" dirty="0">
                          <a:latin typeface="メイリオ" panose="020B0604030504040204" pitchFamily="50" charset="-128"/>
                          <a:ea typeface="メイリオ" panose="020B0604030504040204" pitchFamily="50" charset="-128"/>
                        </a:rPr>
                        <a:t>LLM</a:t>
                      </a:r>
                      <a:r>
                        <a:rPr kumimoji="1" lang="ja-JP" altLang="en-US" sz="1400" dirty="0">
                          <a:latin typeface="メイリオ" panose="020B0604030504040204" pitchFamily="50" charset="-128"/>
                          <a:ea typeface="メイリオ" panose="020B0604030504040204" pitchFamily="50" charset="-128"/>
                        </a:rPr>
                        <a:t>系はスタート地点</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293040517"/>
                  </a:ext>
                </a:extLst>
              </a:tr>
              <a:tr h="744135">
                <a:tc>
                  <a:txBody>
                    <a:bodyPr/>
                    <a:lstStyle/>
                    <a:p>
                      <a:r>
                        <a:rPr kumimoji="1" lang="ja-JP" altLang="en-US" sz="1400" dirty="0">
                          <a:latin typeface="メイリオ" panose="020B0604030504040204" pitchFamily="50" charset="-128"/>
                          <a:ea typeface="メイリオ" panose="020B0604030504040204" pitchFamily="50" charset="-128"/>
                        </a:rPr>
                        <a:t>適用領域・目的の明確化</a:t>
                      </a:r>
                      <a:endParaRPr kumimoji="1" lang="en-US" altLang="ja-JP" sz="1400" dirty="0">
                        <a:latin typeface="メイリオ" panose="020B0604030504040204" pitchFamily="50" charset="-128"/>
                        <a:ea typeface="メイリオ" panose="020B0604030504040204" pitchFamily="50" charset="-128"/>
                      </a:endParaRPr>
                    </a:p>
                    <a:p>
                      <a:r>
                        <a:rPr kumimoji="1" lang="ja-JP" altLang="en-US" sz="1400" dirty="0">
                          <a:latin typeface="メイリオ" panose="020B0604030504040204" pitchFamily="50" charset="-128"/>
                          <a:ea typeface="メイリオ" panose="020B0604030504040204" pitchFamily="50" charset="-128"/>
                        </a:rPr>
                        <a:t>と</a:t>
                      </a:r>
                      <a:r>
                        <a:rPr kumimoji="1" lang="en-US" altLang="ja-JP" sz="1400" dirty="0">
                          <a:latin typeface="メイリオ" panose="020B0604030504040204" pitchFamily="50" charset="-128"/>
                          <a:ea typeface="メイリオ" panose="020B0604030504040204" pitchFamily="50" charset="-128"/>
                        </a:rPr>
                        <a:t>KPI</a:t>
                      </a:r>
                      <a:r>
                        <a:rPr kumimoji="1" lang="ja-JP" altLang="en-US" sz="1400" dirty="0">
                          <a:latin typeface="メイリオ" panose="020B0604030504040204" pitchFamily="50" charset="-128"/>
                          <a:ea typeface="メイリオ" panose="020B0604030504040204" pitchFamily="50" charset="-128"/>
                        </a:rPr>
                        <a:t>設計</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1" lang="en-US" altLang="ja-JP" sz="1400" dirty="0">
                          <a:latin typeface="メイリオ" panose="020B0604030504040204" pitchFamily="50" charset="-128"/>
                          <a:ea typeface="メイリオ" panose="020B0604030504040204" pitchFamily="50" charset="-128"/>
                        </a:rPr>
                        <a:t>Smart Factory</a:t>
                      </a:r>
                      <a:r>
                        <a:rPr kumimoji="1" lang="ja-JP" altLang="en-US" sz="1400" dirty="0">
                          <a:latin typeface="メイリオ" panose="020B0604030504040204" pitchFamily="50" charset="-128"/>
                          <a:ea typeface="メイリオ" panose="020B0604030504040204" pitchFamily="50" charset="-128"/>
                        </a:rPr>
                        <a:t>各種</a:t>
                      </a:r>
                      <a:r>
                        <a:rPr kumimoji="1" lang="en-US" altLang="ja-JP" sz="1400" dirty="0">
                          <a:latin typeface="メイリオ" panose="020B0604030504040204" pitchFamily="50" charset="-128"/>
                          <a:ea typeface="メイリオ" panose="020B0604030504040204" pitchFamily="50" charset="-128"/>
                        </a:rPr>
                        <a:t>KPI</a:t>
                      </a:r>
                      <a:r>
                        <a:rPr kumimoji="1" lang="ja-JP" altLang="en-US" sz="1400" dirty="0">
                          <a:latin typeface="メイリオ" panose="020B0604030504040204" pitchFamily="50" charset="-128"/>
                          <a:ea typeface="メイリオ" panose="020B0604030504040204" pitchFamily="50" charset="-128"/>
                        </a:rPr>
                        <a:t>化活動</a:t>
                      </a:r>
                      <a:endParaRPr kumimoji="1" lang="en-US" altLang="ja-JP" sz="1400" dirty="0">
                        <a:latin typeface="メイリオ" panose="020B0604030504040204" pitchFamily="50" charset="-128"/>
                        <a:ea typeface="メイリオ" panose="020B0604030504040204" pitchFamily="50" charset="-128"/>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1" lang="en-US" altLang="ja-JP" sz="1400" dirty="0">
                          <a:latin typeface="メイリオ" panose="020B0604030504040204" pitchFamily="50" charset="-128"/>
                          <a:ea typeface="メイリオ" panose="020B0604030504040204" pitchFamily="50" charset="-128"/>
                        </a:rPr>
                        <a:t>(=</a:t>
                      </a:r>
                      <a:r>
                        <a:rPr kumimoji="1" lang="ja-JP" altLang="en-US" sz="1400" dirty="0">
                          <a:latin typeface="メイリオ" panose="020B0604030504040204" pitchFamily="50" charset="-128"/>
                          <a:ea typeface="メイリオ" panose="020B0604030504040204" pitchFamily="50" charset="-128"/>
                        </a:rPr>
                        <a:t>歩留まり</a:t>
                      </a:r>
                      <a:r>
                        <a:rPr kumimoji="1" lang="en-US" altLang="ja-JP" sz="1400" dirty="0">
                          <a:latin typeface="メイリオ" panose="020B0604030504040204" pitchFamily="50" charset="-128"/>
                          <a:ea typeface="メイリオ" panose="020B0604030504040204" pitchFamily="50" charset="-128"/>
                        </a:rPr>
                        <a:t>)</a:t>
                      </a:r>
                      <a:endParaRPr kumimoji="1" lang="ja-JP" altLang="en-US" sz="1400" dirty="0">
                        <a:latin typeface="メイリオ" panose="020B0604030504040204" pitchFamily="50" charset="-128"/>
                        <a:ea typeface="メイリオ" panose="020B0604030504040204" pitchFamily="50" charset="-128"/>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256593549"/>
                  </a:ext>
                </a:extLst>
              </a:tr>
            </a:tbl>
          </a:graphicData>
        </a:graphic>
      </p:graphicFrame>
      <p:sp>
        <p:nvSpPr>
          <p:cNvPr id="8" name="楕円 7">
            <a:extLst>
              <a:ext uri="{FF2B5EF4-FFF2-40B4-BE49-F238E27FC236}">
                <a16:creationId xmlns:a16="http://schemas.microsoft.com/office/drawing/2014/main" id="{B85AB3F5-A476-498A-CFE2-9BCE3E1B4CCE}"/>
              </a:ext>
            </a:extLst>
          </p:cNvPr>
          <p:cNvSpPr/>
          <p:nvPr/>
        </p:nvSpPr>
        <p:spPr>
          <a:xfrm>
            <a:off x="7777295" y="2191869"/>
            <a:ext cx="2160495" cy="671638"/>
          </a:xfrm>
          <a:prstGeom prst="ellipse">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ja-JP" altLang="en-US" dirty="0"/>
              <a:t>業務</a:t>
            </a:r>
            <a:endParaRPr kumimoji="1" lang="en-US" altLang="ja-JP" dirty="0"/>
          </a:p>
          <a:p>
            <a:pPr algn="ctr"/>
            <a:r>
              <a:rPr kumimoji="1" lang="ja-JP" altLang="en-US" dirty="0"/>
              <a:t>プロセス</a:t>
            </a:r>
          </a:p>
        </p:txBody>
      </p:sp>
      <p:sp>
        <p:nvSpPr>
          <p:cNvPr id="10" name="楕円 9">
            <a:extLst>
              <a:ext uri="{FF2B5EF4-FFF2-40B4-BE49-F238E27FC236}">
                <a16:creationId xmlns:a16="http://schemas.microsoft.com/office/drawing/2014/main" id="{C686DD10-84E4-6890-10D9-5AF1C25B7268}"/>
              </a:ext>
            </a:extLst>
          </p:cNvPr>
          <p:cNvSpPr/>
          <p:nvPr/>
        </p:nvSpPr>
        <p:spPr>
          <a:xfrm>
            <a:off x="9399907" y="3803756"/>
            <a:ext cx="2160495" cy="671638"/>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ja-JP" dirty="0"/>
              <a:t>AI</a:t>
            </a:r>
          </a:p>
          <a:p>
            <a:pPr algn="ctr"/>
            <a:r>
              <a:rPr kumimoji="1" lang="en-US" altLang="ja-JP" dirty="0"/>
              <a:t>(</a:t>
            </a:r>
            <a:r>
              <a:rPr kumimoji="1" lang="ja-JP" altLang="en-US" dirty="0"/>
              <a:t>エージェント</a:t>
            </a:r>
            <a:r>
              <a:rPr kumimoji="1" lang="en-US" altLang="ja-JP" dirty="0"/>
              <a:t>)</a:t>
            </a:r>
          </a:p>
        </p:txBody>
      </p:sp>
      <p:sp>
        <p:nvSpPr>
          <p:cNvPr id="11" name="楕円 10">
            <a:extLst>
              <a:ext uri="{FF2B5EF4-FFF2-40B4-BE49-F238E27FC236}">
                <a16:creationId xmlns:a16="http://schemas.microsoft.com/office/drawing/2014/main" id="{6C9255BD-8E10-213C-D219-9383B82D7BF9}"/>
              </a:ext>
            </a:extLst>
          </p:cNvPr>
          <p:cNvSpPr/>
          <p:nvPr/>
        </p:nvSpPr>
        <p:spPr>
          <a:xfrm>
            <a:off x="7777294" y="5415643"/>
            <a:ext cx="2160495" cy="671638"/>
          </a:xfrm>
          <a:prstGeom prst="ellipse">
            <a:avLst/>
          </a:prstGeom>
          <a:solidFill>
            <a:schemeClr val="accent6">
              <a:lumMod val="7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ja-JP" altLang="en-US" dirty="0"/>
              <a:t>データ</a:t>
            </a:r>
            <a:endParaRPr kumimoji="1" lang="en-US" altLang="ja-JP" dirty="0"/>
          </a:p>
          <a:p>
            <a:pPr algn="ctr"/>
            <a:r>
              <a:rPr kumimoji="1" lang="ja-JP" altLang="en-US" dirty="0"/>
              <a:t>モデル運用</a:t>
            </a:r>
          </a:p>
        </p:txBody>
      </p:sp>
      <p:cxnSp>
        <p:nvCxnSpPr>
          <p:cNvPr id="15" name="コネクタ: 曲線 14">
            <a:extLst>
              <a:ext uri="{FF2B5EF4-FFF2-40B4-BE49-F238E27FC236}">
                <a16:creationId xmlns:a16="http://schemas.microsoft.com/office/drawing/2014/main" id="{8F372403-F9A5-8D92-2AD9-F5F2BA939D9E}"/>
              </a:ext>
            </a:extLst>
          </p:cNvPr>
          <p:cNvCxnSpPr>
            <a:cxnSpLocks/>
            <a:stCxn id="8" idx="4"/>
            <a:endCxn id="10" idx="2"/>
          </p:cNvCxnSpPr>
          <p:nvPr/>
        </p:nvCxnSpPr>
        <p:spPr>
          <a:xfrm rot="16200000" flipH="1">
            <a:off x="8490691" y="3230359"/>
            <a:ext cx="1276068" cy="542364"/>
          </a:xfrm>
          <a:prstGeom prst="curvedConnector2">
            <a:avLst/>
          </a:prstGeom>
          <a:ln w="38100">
            <a:solidFill>
              <a:schemeClr val="tx1">
                <a:lumMod val="75000"/>
                <a:lumOff val="2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6" name="コネクタ: 曲線 15">
            <a:extLst>
              <a:ext uri="{FF2B5EF4-FFF2-40B4-BE49-F238E27FC236}">
                <a16:creationId xmlns:a16="http://schemas.microsoft.com/office/drawing/2014/main" id="{816AF303-F744-A4DA-A5E3-19EB2B3A51AE}"/>
              </a:ext>
            </a:extLst>
          </p:cNvPr>
          <p:cNvCxnSpPr>
            <a:cxnSpLocks/>
            <a:stCxn id="10" idx="0"/>
            <a:endCxn id="8" idx="6"/>
          </p:cNvCxnSpPr>
          <p:nvPr/>
        </p:nvCxnSpPr>
        <p:spPr>
          <a:xfrm rot="16200000" flipV="1">
            <a:off x="9570939" y="2894539"/>
            <a:ext cx="1276068" cy="542365"/>
          </a:xfrm>
          <a:prstGeom prst="curvedConnector2">
            <a:avLst/>
          </a:prstGeom>
          <a:ln w="38100">
            <a:solidFill>
              <a:schemeClr val="tx1">
                <a:lumMod val="75000"/>
                <a:lumOff val="2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2" name="コネクタ: 曲線 21">
            <a:extLst>
              <a:ext uri="{FF2B5EF4-FFF2-40B4-BE49-F238E27FC236}">
                <a16:creationId xmlns:a16="http://schemas.microsoft.com/office/drawing/2014/main" id="{57D8E7A1-7286-889A-A0A4-430BB25F2E5B}"/>
              </a:ext>
            </a:extLst>
          </p:cNvPr>
          <p:cNvCxnSpPr>
            <a:cxnSpLocks/>
            <a:stCxn id="11" idx="6"/>
            <a:endCxn id="10" idx="4"/>
          </p:cNvCxnSpPr>
          <p:nvPr/>
        </p:nvCxnSpPr>
        <p:spPr>
          <a:xfrm flipV="1">
            <a:off x="9937789" y="4475394"/>
            <a:ext cx="542366" cy="1276068"/>
          </a:xfrm>
          <a:prstGeom prst="curvedConnector2">
            <a:avLst/>
          </a:prstGeom>
          <a:ln w="38100">
            <a:solidFill>
              <a:schemeClr val="tx1">
                <a:lumMod val="75000"/>
                <a:lumOff val="2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7" name="コネクタ: 曲線 26">
            <a:extLst>
              <a:ext uri="{FF2B5EF4-FFF2-40B4-BE49-F238E27FC236}">
                <a16:creationId xmlns:a16="http://schemas.microsoft.com/office/drawing/2014/main" id="{8EF722C3-8BBC-E8F4-FE63-B313FA83D26B}"/>
              </a:ext>
            </a:extLst>
          </p:cNvPr>
          <p:cNvCxnSpPr>
            <a:cxnSpLocks/>
            <a:stCxn id="11" idx="0"/>
            <a:endCxn id="10" idx="2"/>
          </p:cNvCxnSpPr>
          <p:nvPr/>
        </p:nvCxnSpPr>
        <p:spPr>
          <a:xfrm rot="5400000" flipH="1" flipV="1">
            <a:off x="8490690" y="4506427"/>
            <a:ext cx="1276068" cy="542365"/>
          </a:xfrm>
          <a:prstGeom prst="curvedConnector2">
            <a:avLst/>
          </a:prstGeom>
          <a:ln w="38100">
            <a:solidFill>
              <a:schemeClr val="tx1">
                <a:lumMod val="75000"/>
                <a:lumOff val="25000"/>
              </a:schemeClr>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35" name="コネクタ: 曲線 34">
            <a:extLst>
              <a:ext uri="{FF2B5EF4-FFF2-40B4-BE49-F238E27FC236}">
                <a16:creationId xmlns:a16="http://schemas.microsoft.com/office/drawing/2014/main" id="{38A2D8A1-00F8-E4F7-6480-4164F2530FD6}"/>
              </a:ext>
            </a:extLst>
          </p:cNvPr>
          <p:cNvCxnSpPr>
            <a:cxnSpLocks/>
            <a:stCxn id="11" idx="2"/>
            <a:endCxn id="8" idx="2"/>
          </p:cNvCxnSpPr>
          <p:nvPr/>
        </p:nvCxnSpPr>
        <p:spPr>
          <a:xfrm rot="10800000" flipH="1">
            <a:off x="7777293" y="2527688"/>
            <a:ext cx="1" cy="3223774"/>
          </a:xfrm>
          <a:prstGeom prst="curvedConnector3">
            <a:avLst>
              <a:gd name="adj1" fmla="val -22860000000"/>
            </a:avLst>
          </a:prstGeom>
          <a:ln w="38100">
            <a:solidFill>
              <a:schemeClr val="tx1">
                <a:lumMod val="75000"/>
                <a:lumOff val="25000"/>
              </a:schemeClr>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sp>
        <p:nvSpPr>
          <p:cNvPr id="43" name="Content Placeholder 2">
            <a:extLst>
              <a:ext uri="{FF2B5EF4-FFF2-40B4-BE49-F238E27FC236}">
                <a16:creationId xmlns:a16="http://schemas.microsoft.com/office/drawing/2014/main" id="{1B8F99C4-C2A0-854F-9703-717E378F8AB6}"/>
              </a:ext>
            </a:extLst>
          </p:cNvPr>
          <p:cNvSpPr txBox="1">
            <a:spLocks/>
          </p:cNvSpPr>
          <p:nvPr/>
        </p:nvSpPr>
        <p:spPr>
          <a:xfrm>
            <a:off x="1841077" y="1777176"/>
            <a:ext cx="3504075" cy="318807"/>
          </a:xfrm>
          <a:prstGeom prst="rect">
            <a:avLst/>
          </a:prstGeom>
        </p:spPr>
        <p:txBody>
          <a:bodyPr vert="horz" lIns="91440" tIns="45720" rIns="91440" bIns="45720" rtlCol="0" anchor="ctr">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buFont typeface="Arial"/>
              <a:buNone/>
              <a:defRPr sz="1600">
                <a:latin typeface="Meiryo"/>
              </a:defRPr>
            </a:pPr>
            <a:r>
              <a:rPr lang="en-US" altLang="ja-JP" sz="1400" u="sng" dirty="0">
                <a:solidFill>
                  <a:schemeClr val="tx1">
                    <a:lumMod val="75000"/>
                    <a:lumOff val="25000"/>
                  </a:schemeClr>
                </a:solidFill>
                <a:latin typeface="メイリオ" panose="020B0604030504040204" pitchFamily="50" charset="-128"/>
                <a:ea typeface="メイリオ" panose="020B0604030504040204" pitchFamily="50" charset="-128"/>
              </a:rPr>
              <a:t>AI</a:t>
            </a:r>
            <a:r>
              <a:rPr lang="ja-JP" altLang="en-US" sz="1400" u="sng" dirty="0">
                <a:solidFill>
                  <a:schemeClr val="tx1">
                    <a:lumMod val="75000"/>
                    <a:lumOff val="25000"/>
                  </a:schemeClr>
                </a:solidFill>
                <a:latin typeface="メイリオ" panose="020B0604030504040204" pitchFamily="50" charset="-128"/>
                <a:ea typeface="メイリオ" panose="020B0604030504040204" pitchFamily="50" charset="-128"/>
              </a:rPr>
              <a:t>の成長カーブ</a:t>
            </a:r>
          </a:p>
        </p:txBody>
      </p:sp>
      <p:sp>
        <p:nvSpPr>
          <p:cNvPr id="58" name="正方形/長方形 57">
            <a:extLst>
              <a:ext uri="{FF2B5EF4-FFF2-40B4-BE49-F238E27FC236}">
                <a16:creationId xmlns:a16="http://schemas.microsoft.com/office/drawing/2014/main" id="{ED1063D7-D309-1357-FD70-670FBD8C477C}"/>
              </a:ext>
            </a:extLst>
          </p:cNvPr>
          <p:cNvSpPr/>
          <p:nvPr/>
        </p:nvSpPr>
        <p:spPr>
          <a:xfrm>
            <a:off x="506508" y="2411505"/>
            <a:ext cx="6243911" cy="793378"/>
          </a:xfrm>
          <a:prstGeom prst="rect">
            <a:avLst/>
          </a:prstGeom>
          <a:noFill/>
          <a:ln w="38100">
            <a:solidFill>
              <a:schemeClr val="accent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sp>
        <p:nvSpPr>
          <p:cNvPr id="59" name="正方形/長方形 58">
            <a:extLst>
              <a:ext uri="{FF2B5EF4-FFF2-40B4-BE49-F238E27FC236}">
                <a16:creationId xmlns:a16="http://schemas.microsoft.com/office/drawing/2014/main" id="{6F0BEFD1-558F-F6BC-7EDA-284F0E92D4BC}"/>
              </a:ext>
            </a:extLst>
          </p:cNvPr>
          <p:cNvSpPr/>
          <p:nvPr/>
        </p:nvSpPr>
        <p:spPr>
          <a:xfrm>
            <a:off x="506508" y="4643716"/>
            <a:ext cx="6243911" cy="811307"/>
          </a:xfrm>
          <a:prstGeom prst="rect">
            <a:avLst/>
          </a:prstGeom>
          <a:noFill/>
          <a:ln w="38100">
            <a:solidFill>
              <a:schemeClr val="accent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sp>
        <p:nvSpPr>
          <p:cNvPr id="60" name="テキスト ボックス 59">
            <a:extLst>
              <a:ext uri="{FF2B5EF4-FFF2-40B4-BE49-F238E27FC236}">
                <a16:creationId xmlns:a16="http://schemas.microsoft.com/office/drawing/2014/main" id="{9330B860-2845-E083-9746-8B4630A0D07E}"/>
              </a:ext>
            </a:extLst>
          </p:cNvPr>
          <p:cNvSpPr txBox="1"/>
          <p:nvPr/>
        </p:nvSpPr>
        <p:spPr>
          <a:xfrm>
            <a:off x="6865138" y="3894265"/>
            <a:ext cx="1376080" cy="523220"/>
          </a:xfrm>
          <a:prstGeom prst="rect">
            <a:avLst/>
          </a:prstGeom>
          <a:solidFill>
            <a:schemeClr val="bg1"/>
          </a:solidFill>
        </p:spPr>
        <p:txBody>
          <a:bodyPr wrap="square">
            <a:spAutoFit/>
          </a:bodyPr>
          <a:lstStyle/>
          <a:p>
            <a:pPr algn="ct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rPr>
              <a:t>データ整備</a:t>
            </a:r>
            <a:endPar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rPr>
              <a:t>ドメイン適用</a:t>
            </a:r>
            <a:endPar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61" name="テキスト ボックス 60">
            <a:extLst>
              <a:ext uri="{FF2B5EF4-FFF2-40B4-BE49-F238E27FC236}">
                <a16:creationId xmlns:a16="http://schemas.microsoft.com/office/drawing/2014/main" id="{E5B8E346-C10B-C91E-3D25-E3540173A332}"/>
              </a:ext>
            </a:extLst>
          </p:cNvPr>
          <p:cNvSpPr txBox="1"/>
          <p:nvPr/>
        </p:nvSpPr>
        <p:spPr>
          <a:xfrm>
            <a:off x="9719480" y="2944972"/>
            <a:ext cx="1521347" cy="523220"/>
          </a:xfrm>
          <a:prstGeom prst="rect">
            <a:avLst/>
          </a:prstGeom>
          <a:solidFill>
            <a:schemeClr val="bg1"/>
          </a:solidFill>
        </p:spPr>
        <p:txBody>
          <a:bodyPr wrap="square">
            <a:spAutoFit/>
          </a:bodyPr>
          <a:lstStyle/>
          <a:p>
            <a:pPr algn="ct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rPr>
              <a:t>利用可能な品質</a:t>
            </a:r>
            <a:endPar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rPr>
              <a:t>実利用</a:t>
            </a:r>
            <a:endPar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62" name="テキスト ボックス 61">
            <a:extLst>
              <a:ext uri="{FF2B5EF4-FFF2-40B4-BE49-F238E27FC236}">
                <a16:creationId xmlns:a16="http://schemas.microsoft.com/office/drawing/2014/main" id="{1D0D6FA5-2ABD-CD8F-EC01-7290BD956F36}"/>
              </a:ext>
            </a:extLst>
          </p:cNvPr>
          <p:cNvSpPr txBox="1"/>
          <p:nvPr/>
        </p:nvSpPr>
        <p:spPr>
          <a:xfrm>
            <a:off x="8052042" y="3215293"/>
            <a:ext cx="1521347" cy="523220"/>
          </a:xfrm>
          <a:prstGeom prst="rect">
            <a:avLst/>
          </a:prstGeom>
          <a:solidFill>
            <a:schemeClr val="bg1"/>
          </a:solidFill>
        </p:spPr>
        <p:txBody>
          <a:bodyPr wrap="square">
            <a:spAutoFit/>
          </a:bodyPr>
          <a:lstStyle/>
          <a:p>
            <a:pPr algn="ct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rPr>
              <a:t>業務反映</a:t>
            </a:r>
            <a:endPar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rPr>
              <a:t>フィードバック</a:t>
            </a:r>
            <a:endPar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63" name="テキスト ボックス 62">
            <a:extLst>
              <a:ext uri="{FF2B5EF4-FFF2-40B4-BE49-F238E27FC236}">
                <a16:creationId xmlns:a16="http://schemas.microsoft.com/office/drawing/2014/main" id="{616B2E3E-6DA7-A209-A725-FA2E60CC736C}"/>
              </a:ext>
            </a:extLst>
          </p:cNvPr>
          <p:cNvSpPr txBox="1"/>
          <p:nvPr/>
        </p:nvSpPr>
        <p:spPr>
          <a:xfrm>
            <a:off x="9747289" y="4979802"/>
            <a:ext cx="1376080" cy="307777"/>
          </a:xfrm>
          <a:prstGeom prst="rect">
            <a:avLst/>
          </a:prstGeom>
          <a:solidFill>
            <a:schemeClr val="bg1"/>
          </a:solidFill>
        </p:spPr>
        <p:txBody>
          <a:bodyPr wrap="square">
            <a:spAutoFit/>
          </a:bodyPr>
          <a:lstStyle/>
          <a:p>
            <a:pPr algn="ct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rPr>
              <a:t>スケーリング</a:t>
            </a:r>
            <a:endPar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64" name="テキスト ボックス 63">
            <a:extLst>
              <a:ext uri="{FF2B5EF4-FFF2-40B4-BE49-F238E27FC236}">
                <a16:creationId xmlns:a16="http://schemas.microsoft.com/office/drawing/2014/main" id="{41CE471D-325D-1860-7E0A-2A47BF961D99}"/>
              </a:ext>
            </a:extLst>
          </p:cNvPr>
          <p:cNvSpPr txBox="1"/>
          <p:nvPr/>
        </p:nvSpPr>
        <p:spPr>
          <a:xfrm>
            <a:off x="8241218" y="4466428"/>
            <a:ext cx="1376080" cy="523220"/>
          </a:xfrm>
          <a:prstGeom prst="rect">
            <a:avLst/>
          </a:prstGeom>
          <a:solidFill>
            <a:schemeClr val="bg1"/>
          </a:solidFill>
        </p:spPr>
        <p:txBody>
          <a:bodyPr wrap="square">
            <a:spAutoFit/>
          </a:bodyPr>
          <a:lstStyle/>
          <a:p>
            <a:pPr algn="ct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rPr>
              <a:t>必要データ</a:t>
            </a:r>
            <a:endPar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rPr>
              <a:t>AI</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rPr>
              <a:t>用データ化</a:t>
            </a:r>
            <a:endPar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70" name="テキスト ボックス 69">
            <a:extLst>
              <a:ext uri="{FF2B5EF4-FFF2-40B4-BE49-F238E27FC236}">
                <a16:creationId xmlns:a16="http://schemas.microsoft.com/office/drawing/2014/main" id="{878CE088-3139-F223-703D-67BF2DF6A633}"/>
              </a:ext>
            </a:extLst>
          </p:cNvPr>
          <p:cNvSpPr txBox="1"/>
          <p:nvPr/>
        </p:nvSpPr>
        <p:spPr>
          <a:xfrm>
            <a:off x="9827972" y="5903852"/>
            <a:ext cx="2018005" cy="369332"/>
          </a:xfrm>
          <a:prstGeom prst="rect">
            <a:avLst/>
          </a:prstGeom>
          <a:solidFill>
            <a:schemeClr val="bg1"/>
          </a:solidFill>
        </p:spPr>
        <p:txBody>
          <a:bodyPr wrap="square">
            <a:spAutoFit/>
          </a:bodyPr>
          <a:lstStyle/>
          <a:p>
            <a:r>
              <a:rPr lang="ja-JP" altLang="en-US" b="1" dirty="0">
                <a:solidFill>
                  <a:schemeClr val="accent6">
                    <a:lumMod val="75000"/>
                  </a:schemeClr>
                </a:solidFill>
                <a:latin typeface="メイリオ" panose="020B0604030504040204" pitchFamily="50" charset="-128"/>
                <a:ea typeface="メイリオ" panose="020B0604030504040204" pitchFamily="50" charset="-128"/>
              </a:rPr>
              <a:t>好循環の起点</a:t>
            </a:r>
            <a:endParaRPr lang="en-US" altLang="ja-JP" b="1" dirty="0">
              <a:solidFill>
                <a:schemeClr val="accent6">
                  <a:lumMod val="75000"/>
                </a:schemeClr>
              </a:solidFill>
              <a:latin typeface="メイリオ" panose="020B0604030504040204" pitchFamily="50" charset="-128"/>
              <a:ea typeface="メイリオ" panose="020B0604030504040204" pitchFamily="50" charset="-128"/>
            </a:endParaRPr>
          </a:p>
        </p:txBody>
      </p:sp>
      <p:sp>
        <p:nvSpPr>
          <p:cNvPr id="71" name="Content Placeholder 2">
            <a:extLst>
              <a:ext uri="{FF2B5EF4-FFF2-40B4-BE49-F238E27FC236}">
                <a16:creationId xmlns:a16="http://schemas.microsoft.com/office/drawing/2014/main" id="{9DC38DA8-21DC-A8FC-215C-F67343366814}"/>
              </a:ext>
            </a:extLst>
          </p:cNvPr>
          <p:cNvSpPr txBox="1">
            <a:spLocks/>
          </p:cNvSpPr>
          <p:nvPr/>
        </p:nvSpPr>
        <p:spPr>
          <a:xfrm>
            <a:off x="7647868" y="1749364"/>
            <a:ext cx="3504075" cy="318807"/>
          </a:xfrm>
          <a:prstGeom prst="rect">
            <a:avLst/>
          </a:prstGeom>
        </p:spPr>
        <p:txBody>
          <a:bodyPr vert="horz" lIns="91440" tIns="45720" rIns="91440" bIns="45720" rtlCol="0" anchor="ctr">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buFont typeface="Arial"/>
              <a:buNone/>
              <a:defRPr sz="1600">
                <a:latin typeface="Meiryo"/>
              </a:defRPr>
            </a:pPr>
            <a:r>
              <a:rPr lang="en-US" altLang="ja-JP" sz="1400" u="sng" dirty="0">
                <a:solidFill>
                  <a:schemeClr val="tx1">
                    <a:lumMod val="75000"/>
                    <a:lumOff val="25000"/>
                  </a:schemeClr>
                </a:solidFill>
                <a:latin typeface="メイリオ" panose="020B0604030504040204" pitchFamily="50" charset="-128"/>
                <a:ea typeface="メイリオ" panose="020B0604030504040204" pitchFamily="50" charset="-128"/>
              </a:rPr>
              <a:t>AI</a:t>
            </a:r>
            <a:r>
              <a:rPr lang="ja-JP" altLang="en-US" sz="1400" u="sng" dirty="0">
                <a:solidFill>
                  <a:schemeClr val="tx1">
                    <a:lumMod val="75000"/>
                    <a:lumOff val="25000"/>
                  </a:schemeClr>
                </a:solidFill>
                <a:latin typeface="メイリオ" panose="020B0604030504040204" pitchFamily="50" charset="-128"/>
                <a:ea typeface="メイリオ" panose="020B0604030504040204" pitchFamily="50" charset="-128"/>
              </a:rPr>
              <a:t>導入成功の好循環づくり</a:t>
            </a:r>
          </a:p>
        </p:txBody>
      </p:sp>
    </p:spTree>
    <p:extLst>
      <p:ext uri="{BB962C8B-B14F-4D97-AF65-F5344CB8AC3E}">
        <p14:creationId xmlns:p14="http://schemas.microsoft.com/office/powerpoint/2010/main" val="259760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8B5AB8-6B6F-578B-0508-4C903CBF09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C2B038-56E7-F042-60A0-2E58746857A3}"/>
              </a:ext>
            </a:extLst>
          </p:cNvPr>
          <p:cNvSpPr>
            <a:spLocks noGrp="1"/>
          </p:cNvSpPr>
          <p:nvPr>
            <p:ph type="title"/>
          </p:nvPr>
        </p:nvSpPr>
        <p:spPr>
          <a:xfrm>
            <a:off x="457201" y="274638"/>
            <a:ext cx="11474824" cy="541150"/>
          </a:xfrm>
        </p:spPr>
        <p:txBody>
          <a:bodyPr>
            <a:noAutofit/>
          </a:bodyPr>
          <a:lstStyle/>
          <a:p>
            <a:r>
              <a:rPr lang="ja-JP" altLang="en-US" sz="2400" b="1" dirty="0">
                <a:solidFill>
                  <a:schemeClr val="tx1">
                    <a:lumMod val="75000"/>
                    <a:lumOff val="25000"/>
                  </a:schemeClr>
                </a:solidFill>
                <a:latin typeface="メイリオ" panose="020B0604030504040204" pitchFamily="50" charset="-128"/>
                <a:ea typeface="メイリオ" panose="020B0604030504040204" pitchFamily="50" charset="-128"/>
              </a:rPr>
              <a:t>取り組み</a:t>
            </a:r>
            <a:r>
              <a:rPr lang="en-US" altLang="ja-JP" sz="2400" b="1" dirty="0">
                <a:solidFill>
                  <a:schemeClr val="tx1">
                    <a:lumMod val="75000"/>
                    <a:lumOff val="25000"/>
                  </a:schemeClr>
                </a:solidFill>
                <a:latin typeface="メイリオ" panose="020B0604030504040204" pitchFamily="50" charset="-128"/>
                <a:ea typeface="メイリオ" panose="020B0604030504040204" pitchFamily="50" charset="-128"/>
              </a:rPr>
              <a:t>, </a:t>
            </a:r>
            <a:r>
              <a:rPr lang="ja-JP" altLang="en-US" sz="2400" b="1" dirty="0">
                <a:solidFill>
                  <a:schemeClr val="tx1">
                    <a:lumMod val="75000"/>
                    <a:lumOff val="25000"/>
                  </a:schemeClr>
                </a:solidFill>
                <a:latin typeface="メイリオ" panose="020B0604030504040204" pitchFamily="50" charset="-128"/>
                <a:ea typeface="メイリオ" panose="020B0604030504040204" pitchFamily="50" charset="-128"/>
              </a:rPr>
              <a:t>実行計画</a:t>
            </a:r>
            <a:endParaRPr sz="24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7" name="Content Placeholder 2">
            <a:extLst>
              <a:ext uri="{FF2B5EF4-FFF2-40B4-BE49-F238E27FC236}">
                <a16:creationId xmlns:a16="http://schemas.microsoft.com/office/drawing/2014/main" id="{1C0E7D7A-806F-1422-9E39-A7F29A8B24C5}"/>
              </a:ext>
            </a:extLst>
          </p:cNvPr>
          <p:cNvSpPr>
            <a:spLocks noGrp="1"/>
          </p:cNvSpPr>
          <p:nvPr>
            <p:ph idx="1"/>
          </p:nvPr>
        </p:nvSpPr>
        <p:spPr>
          <a:xfrm>
            <a:off x="515473" y="986118"/>
            <a:ext cx="11559986" cy="753036"/>
          </a:xfrm>
        </p:spPr>
        <p:txBody>
          <a:bodyPr>
            <a:noAutofit/>
          </a:bodyPr>
          <a:lstStyle/>
          <a:p>
            <a:pPr marL="0" indent="0">
              <a:buNone/>
              <a:defRPr sz="1600">
                <a:latin typeface="Meiryo"/>
              </a:defRPr>
            </a:pPr>
            <a:r>
              <a:rPr lang="ja-JP" altLang="en-US" sz="2000" dirty="0">
                <a:solidFill>
                  <a:schemeClr val="tx1">
                    <a:lumMod val="75000"/>
                    <a:lumOff val="25000"/>
                  </a:schemeClr>
                </a:solidFill>
                <a:latin typeface="メイリオ" panose="020B0604030504040204" pitchFamily="50" charset="-128"/>
                <a:ea typeface="メイリオ" panose="020B0604030504040204" pitchFamily="50" charset="-128"/>
              </a:rPr>
              <a:t>成功の起点はデータ、社内に散逸している生のデータを</a:t>
            </a:r>
            <a:r>
              <a:rPr lang="en-US" altLang="ja-JP" sz="2000" dirty="0">
                <a:solidFill>
                  <a:schemeClr val="tx1">
                    <a:lumMod val="75000"/>
                    <a:lumOff val="25000"/>
                  </a:schemeClr>
                </a:solidFill>
                <a:latin typeface="メイリオ" panose="020B0604030504040204" pitchFamily="50" charset="-128"/>
                <a:ea typeface="メイリオ" panose="020B0604030504040204" pitchFamily="50" charset="-128"/>
              </a:rPr>
              <a:t>AI</a:t>
            </a:r>
            <a:r>
              <a:rPr lang="ja-JP" altLang="en-US" sz="2000" dirty="0">
                <a:solidFill>
                  <a:schemeClr val="tx1">
                    <a:lumMod val="75000"/>
                    <a:lumOff val="25000"/>
                  </a:schemeClr>
                </a:solidFill>
                <a:latin typeface="メイリオ" panose="020B0604030504040204" pitchFamily="50" charset="-128"/>
                <a:ea typeface="メイリオ" panose="020B0604030504040204" pitchFamily="50" charset="-128"/>
              </a:rPr>
              <a:t>が利用可能に整備する。</a:t>
            </a:r>
            <a:endParaRPr lang="en-US" altLang="ja-JP" sz="2000" dirty="0">
              <a:solidFill>
                <a:schemeClr val="tx1">
                  <a:lumMod val="75000"/>
                  <a:lumOff val="25000"/>
                </a:schemeClr>
              </a:solidFill>
              <a:latin typeface="メイリオ" panose="020B0604030504040204" pitchFamily="50" charset="-128"/>
              <a:ea typeface="メイリオ" panose="020B0604030504040204" pitchFamily="50" charset="-128"/>
            </a:endParaRPr>
          </a:p>
          <a:p>
            <a:pPr marL="0" indent="0">
              <a:buNone/>
              <a:defRPr sz="1600">
                <a:latin typeface="Meiryo"/>
              </a:defRPr>
            </a:pPr>
            <a:r>
              <a:rPr lang="ja-JP" altLang="en-US" sz="2000" dirty="0">
                <a:solidFill>
                  <a:schemeClr val="tx1">
                    <a:lumMod val="75000"/>
                    <a:lumOff val="25000"/>
                  </a:schemeClr>
                </a:solidFill>
                <a:latin typeface="メイリオ" panose="020B0604030504040204" pitchFamily="50" charset="-128"/>
                <a:ea typeface="メイリオ" panose="020B0604030504040204" pitchFamily="50" charset="-128"/>
              </a:rPr>
              <a:t>エンジニアと</a:t>
            </a:r>
            <a:r>
              <a:rPr lang="en-US" altLang="ja-JP" sz="2000" dirty="0">
                <a:solidFill>
                  <a:schemeClr val="tx1">
                    <a:lumMod val="75000"/>
                    <a:lumOff val="25000"/>
                  </a:schemeClr>
                </a:solidFill>
                <a:latin typeface="メイリオ" panose="020B0604030504040204" pitchFamily="50" charset="-128"/>
                <a:ea typeface="メイリオ" panose="020B0604030504040204" pitchFamily="50" charset="-128"/>
              </a:rPr>
              <a:t>AI</a:t>
            </a:r>
            <a:r>
              <a:rPr lang="ja-JP" altLang="en-US" sz="2000" dirty="0">
                <a:solidFill>
                  <a:schemeClr val="tx1">
                    <a:lumMod val="75000"/>
                    <a:lumOff val="25000"/>
                  </a:schemeClr>
                </a:solidFill>
                <a:latin typeface="メイリオ" panose="020B0604030504040204" pitchFamily="50" charset="-128"/>
                <a:ea typeface="メイリオ" panose="020B0604030504040204" pitchFamily="50" charset="-128"/>
              </a:rPr>
              <a:t>時代の新たな仕事の形作りに取組み、ものづくり企業</a:t>
            </a:r>
            <a:r>
              <a:rPr lang="en-US" altLang="ja-JP" sz="2000" dirty="0">
                <a:solidFill>
                  <a:schemeClr val="tx1">
                    <a:lumMod val="75000"/>
                    <a:lumOff val="25000"/>
                  </a:schemeClr>
                </a:solidFill>
                <a:latin typeface="メイリオ" panose="020B0604030504040204" pitchFamily="50" charset="-128"/>
                <a:ea typeface="メイリオ" panose="020B0604030504040204" pitchFamily="50" charset="-128"/>
              </a:rPr>
              <a:t>No.1</a:t>
            </a:r>
            <a:r>
              <a:rPr lang="ja-JP" altLang="en-US" sz="2000" dirty="0">
                <a:solidFill>
                  <a:schemeClr val="tx1">
                    <a:lumMod val="75000"/>
                    <a:lumOff val="25000"/>
                  </a:schemeClr>
                </a:solidFill>
                <a:latin typeface="メイリオ" panose="020B0604030504040204" pitchFamily="50" charset="-128"/>
                <a:ea typeface="メイリオ" panose="020B0604030504040204" pitchFamily="50" charset="-128"/>
              </a:rPr>
              <a:t>となる事に貢献します</a:t>
            </a:r>
            <a:endParaRPr sz="20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3" name="Content Placeholder 2">
            <a:extLst>
              <a:ext uri="{FF2B5EF4-FFF2-40B4-BE49-F238E27FC236}">
                <a16:creationId xmlns:a16="http://schemas.microsoft.com/office/drawing/2014/main" id="{D2536211-33EA-FF12-89CF-D7D39ACBE537}"/>
              </a:ext>
            </a:extLst>
          </p:cNvPr>
          <p:cNvSpPr txBox="1">
            <a:spLocks/>
          </p:cNvSpPr>
          <p:nvPr/>
        </p:nvSpPr>
        <p:spPr>
          <a:xfrm>
            <a:off x="1841077" y="1777176"/>
            <a:ext cx="3504075" cy="318807"/>
          </a:xfrm>
          <a:prstGeom prst="rect">
            <a:avLst/>
          </a:prstGeom>
        </p:spPr>
        <p:txBody>
          <a:bodyPr vert="horz" lIns="91440" tIns="45720" rIns="91440" bIns="45720" rtlCol="0" anchor="ctr">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buFont typeface="Arial"/>
              <a:buNone/>
              <a:defRPr sz="1600">
                <a:latin typeface="Meiryo"/>
              </a:defRPr>
            </a:pPr>
            <a:r>
              <a:rPr lang="ja-JP" altLang="en-US" sz="1400" u="sng" dirty="0">
                <a:solidFill>
                  <a:schemeClr val="tx1">
                    <a:lumMod val="75000"/>
                    <a:lumOff val="25000"/>
                  </a:schemeClr>
                </a:solidFill>
                <a:latin typeface="メイリオ" panose="020B0604030504040204" pitchFamily="50" charset="-128"/>
                <a:ea typeface="メイリオ" panose="020B0604030504040204" pitchFamily="50" charset="-128"/>
              </a:rPr>
              <a:t>私の取り組み</a:t>
            </a:r>
          </a:p>
        </p:txBody>
      </p:sp>
      <p:sp>
        <p:nvSpPr>
          <p:cNvPr id="4" name="Content Placeholder 2">
            <a:extLst>
              <a:ext uri="{FF2B5EF4-FFF2-40B4-BE49-F238E27FC236}">
                <a16:creationId xmlns:a16="http://schemas.microsoft.com/office/drawing/2014/main" id="{BBBEDDF9-4082-02FA-9B7C-D65473C6A889}"/>
              </a:ext>
            </a:extLst>
          </p:cNvPr>
          <p:cNvSpPr txBox="1">
            <a:spLocks/>
          </p:cNvSpPr>
          <p:nvPr/>
        </p:nvSpPr>
        <p:spPr>
          <a:xfrm>
            <a:off x="7647868" y="1749364"/>
            <a:ext cx="3504075" cy="318807"/>
          </a:xfrm>
          <a:prstGeom prst="rect">
            <a:avLst/>
          </a:prstGeom>
        </p:spPr>
        <p:txBody>
          <a:bodyPr vert="horz" lIns="91440" tIns="45720" rIns="91440" bIns="45720" rtlCol="0" anchor="ctr">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buFont typeface="Arial"/>
              <a:buNone/>
              <a:defRPr sz="1600">
                <a:latin typeface="Meiryo"/>
              </a:defRPr>
            </a:pPr>
            <a:r>
              <a:rPr lang="ja-JP" altLang="en-US" sz="1400" u="sng" dirty="0">
                <a:solidFill>
                  <a:schemeClr val="tx1">
                    <a:lumMod val="75000"/>
                    <a:lumOff val="25000"/>
                  </a:schemeClr>
                </a:solidFill>
                <a:latin typeface="メイリオ" panose="020B0604030504040204" pitchFamily="50" charset="-128"/>
                <a:ea typeface="メイリオ" panose="020B0604030504040204" pitchFamily="50" charset="-128"/>
              </a:rPr>
              <a:t>将来のエンジニアリング</a:t>
            </a:r>
          </a:p>
        </p:txBody>
      </p:sp>
      <p:sp>
        <p:nvSpPr>
          <p:cNvPr id="5" name="テキスト ボックス 4">
            <a:extLst>
              <a:ext uri="{FF2B5EF4-FFF2-40B4-BE49-F238E27FC236}">
                <a16:creationId xmlns:a16="http://schemas.microsoft.com/office/drawing/2014/main" id="{E72502A5-87D4-97B9-7F7D-E7D5601583AF}"/>
              </a:ext>
            </a:extLst>
          </p:cNvPr>
          <p:cNvSpPr txBox="1"/>
          <p:nvPr/>
        </p:nvSpPr>
        <p:spPr>
          <a:xfrm>
            <a:off x="6481482" y="2066413"/>
            <a:ext cx="5360895" cy="1754326"/>
          </a:xfrm>
          <a:prstGeom prst="rect">
            <a:avLst/>
          </a:prstGeom>
          <a:solidFill>
            <a:schemeClr val="bg1"/>
          </a:solidFill>
        </p:spPr>
        <p:txBody>
          <a:bodyPr wrap="square">
            <a:spAutoFit/>
          </a:bodyPr>
          <a:lstStyle/>
          <a:p>
            <a:r>
              <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AI</a:t>
            </a:r>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の仕事</a:t>
            </a:r>
            <a:endPar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定常業務：「状態把握」「一次解析」「標準的な判断」</a:t>
            </a:r>
            <a:endPar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・異常検知（</a:t>
            </a:r>
            <a:r>
              <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FDC</a:t>
            </a:r>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、品質、設備の多変量監視）</a:t>
            </a:r>
            <a:endPar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・不良予兆の事前通知（</a:t>
            </a:r>
            <a:r>
              <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SPC</a:t>
            </a:r>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＋ディープラーニング予測）</a:t>
            </a:r>
            <a:endPar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・立上げ条件の自動推薦レシピ調整提案（</a:t>
            </a:r>
            <a:r>
              <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AI</a:t>
            </a:r>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最適化・ベイズ最適化）</a:t>
            </a:r>
            <a:endPar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・リアルタイムの歩留まり予測変動因子の自動特定（</a:t>
            </a:r>
            <a:r>
              <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SHAP, </a:t>
            </a:r>
            <a:r>
              <a:rPr lang="en-US" altLang="ja-JP" sz="1200" dirty="0" err="1">
                <a:solidFill>
                  <a:schemeClr val="tx1">
                    <a:lumMod val="75000"/>
                    <a:lumOff val="25000"/>
                  </a:schemeClr>
                </a:solidFill>
                <a:latin typeface="メイリオ" panose="020B0604030504040204" pitchFamily="50" charset="-128"/>
                <a:ea typeface="メイリオ" panose="020B0604030504040204" pitchFamily="50" charset="-128"/>
              </a:rPr>
              <a:t>AutoCausal</a:t>
            </a:r>
            <a:r>
              <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 </a:t>
            </a:r>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など）</a:t>
            </a:r>
            <a:endPar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・スケジューリング最適化（装置・</a:t>
            </a:r>
            <a:r>
              <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WIP</a:t>
            </a:r>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の自律制御）</a:t>
            </a:r>
            <a:endPar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・不具合再現シミュレーション（デジタルツイン）</a:t>
            </a:r>
            <a:endPar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6" name="テキスト ボックス 5">
            <a:extLst>
              <a:ext uri="{FF2B5EF4-FFF2-40B4-BE49-F238E27FC236}">
                <a16:creationId xmlns:a16="http://schemas.microsoft.com/office/drawing/2014/main" id="{641FCA07-5786-731D-5A0C-76DEB6C502B1}"/>
              </a:ext>
            </a:extLst>
          </p:cNvPr>
          <p:cNvSpPr txBox="1"/>
          <p:nvPr/>
        </p:nvSpPr>
        <p:spPr>
          <a:xfrm>
            <a:off x="833718" y="2066412"/>
            <a:ext cx="5360895" cy="4708981"/>
          </a:xfrm>
          <a:prstGeom prst="rect">
            <a:avLst/>
          </a:prstGeom>
          <a:solidFill>
            <a:schemeClr val="bg1"/>
          </a:solidFill>
        </p:spPr>
        <p:txBody>
          <a:bodyPr wrap="square">
            <a:spAutoFit/>
          </a:bodyPr>
          <a:lstStyle/>
          <a:p>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エンジニアの仕事</a:t>
            </a:r>
            <a:endPar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“例外判断＋改善＋再設計”へ移行する</a:t>
            </a:r>
            <a:endPar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endParaRPr>
          </a:p>
          <a:p>
            <a:endPar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AI</a:t>
            </a:r>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時代に価値が高まるエンジニアの役割</a:t>
            </a:r>
            <a:endPar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a:t>
            </a:r>
            <a:r>
              <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AI</a:t>
            </a:r>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が出した判断の妥当性を評価する</a:t>
            </a:r>
            <a:endPar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AI</a:t>
            </a:r>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の予測が正しいか、どのケースで誤検知か</a:t>
            </a:r>
            <a:endPar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AI</a:t>
            </a:r>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が苦手なパターンを発見する → 次のモデル改善へ</a:t>
            </a:r>
            <a:endPar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a:t>
            </a:r>
            <a:r>
              <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AI</a:t>
            </a:r>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に対して「ルール」を作る（業務フローの設計者になる）</a:t>
            </a:r>
            <a:endPar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どの閾値で停止するか？</a:t>
            </a:r>
            <a:endPar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何分以内なら自動復帰を許容するか？</a:t>
            </a:r>
            <a:endPar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どの条件は必ず人が確認するか？</a:t>
            </a:r>
            <a:endPar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 これはエンジニアがやらないと事故になる領域。</a:t>
            </a:r>
            <a:endPar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・“例外処理”に集中する</a:t>
            </a:r>
            <a:endPar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AI</a:t>
            </a:r>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が判断できない特殊事象</a:t>
            </a:r>
            <a:endPar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装置の根本不具合</a:t>
            </a:r>
            <a:endPar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工程変更や材料変更など</a:t>
            </a:r>
            <a:endPar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・プロセス改善の高速</a:t>
            </a:r>
            <a:r>
              <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PDCA</a:t>
            </a:r>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を回す</a:t>
            </a:r>
            <a:endPar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a:t>
            </a:r>
            <a:r>
              <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AI</a:t>
            </a:r>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が示した因子を検証し、設備改善や設計変更につなぐ</a:t>
            </a:r>
            <a:endPar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a:t>
            </a:r>
            <a:r>
              <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AI</a:t>
            </a:r>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によって“原因当たりの情報量”が増えるので改善速度が上がる</a:t>
            </a:r>
            <a:endPar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・工場データの品質を管理する（データステュワードとしての役割）</a:t>
            </a:r>
            <a:endPar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センサー精度、欠損、異常タグ、スキーマ管理</a:t>
            </a:r>
            <a:endPar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モデルの前提条件を維持する “</a:t>
            </a:r>
            <a:r>
              <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AI</a:t>
            </a:r>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の飼育係” 的存在</a:t>
            </a:r>
            <a:endPar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・デジタルツインを使った仮想試作（</a:t>
            </a:r>
            <a:r>
              <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Virtual DOE</a:t>
            </a:r>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）の実施</a:t>
            </a:r>
            <a:endPar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実物を動かさず工程変更のシミュレーション</a:t>
            </a:r>
            <a:endPar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コスト削減・迅速化の中核</a:t>
            </a:r>
            <a:endPar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3354489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F6590E-0455-AD22-2FFF-9A250E1802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90DDDF-E960-8D06-1AF2-41FE2502516C}"/>
              </a:ext>
            </a:extLst>
          </p:cNvPr>
          <p:cNvSpPr>
            <a:spLocks noGrp="1"/>
          </p:cNvSpPr>
          <p:nvPr>
            <p:ph type="title"/>
          </p:nvPr>
        </p:nvSpPr>
        <p:spPr>
          <a:xfrm>
            <a:off x="457201" y="274638"/>
            <a:ext cx="11474824" cy="541150"/>
          </a:xfrm>
        </p:spPr>
        <p:txBody>
          <a:bodyPr>
            <a:noAutofit/>
          </a:bodyPr>
          <a:lstStyle/>
          <a:p>
            <a:r>
              <a:rPr lang="en-US" altLang="ja-JP" sz="2400" b="1" dirty="0">
                <a:solidFill>
                  <a:schemeClr val="tx1">
                    <a:lumMod val="75000"/>
                    <a:lumOff val="25000"/>
                  </a:schemeClr>
                </a:solidFill>
              </a:rPr>
              <a:t>(</a:t>
            </a:r>
            <a:r>
              <a:rPr lang="ja-JP" altLang="en-US" sz="2400" b="1" dirty="0">
                <a:solidFill>
                  <a:schemeClr val="tx1">
                    <a:lumMod val="75000"/>
                    <a:lumOff val="25000"/>
                  </a:schemeClr>
                </a:solidFill>
              </a:rPr>
              <a:t>参考</a:t>
            </a:r>
            <a:r>
              <a:rPr lang="en-US" altLang="ja-JP" sz="2400" b="1" dirty="0">
                <a:solidFill>
                  <a:schemeClr val="tx1">
                    <a:lumMod val="75000"/>
                    <a:lumOff val="25000"/>
                  </a:schemeClr>
                </a:solidFill>
              </a:rPr>
              <a:t>) </a:t>
            </a:r>
            <a:r>
              <a:rPr lang="ja-JP" altLang="en-US" sz="2400" b="1" dirty="0">
                <a:solidFill>
                  <a:schemeClr val="tx1">
                    <a:lumMod val="75000"/>
                    <a:lumOff val="25000"/>
                  </a:schemeClr>
                </a:solidFill>
              </a:rPr>
              <a:t>世界のスマートファクトリー・</a:t>
            </a:r>
            <a:r>
              <a:rPr lang="en-US" altLang="ja-JP" sz="2400" b="1" dirty="0">
                <a:solidFill>
                  <a:schemeClr val="tx1">
                    <a:lumMod val="75000"/>
                    <a:lumOff val="25000"/>
                  </a:schemeClr>
                </a:solidFill>
              </a:rPr>
              <a:t>AI</a:t>
            </a:r>
            <a:r>
              <a:rPr lang="ja-JP" altLang="en-US" sz="2400" b="1" dirty="0">
                <a:solidFill>
                  <a:schemeClr val="tx1">
                    <a:lumMod val="75000"/>
                    <a:lumOff val="25000"/>
                  </a:schemeClr>
                </a:solidFill>
              </a:rPr>
              <a:t>年表</a:t>
            </a:r>
            <a:endParaRPr sz="2400" b="1" dirty="0">
              <a:solidFill>
                <a:schemeClr val="tx1">
                  <a:lumMod val="75000"/>
                  <a:lumOff val="25000"/>
                </a:schemeClr>
              </a:solidFill>
            </a:endParaRPr>
          </a:p>
        </p:txBody>
      </p:sp>
      <p:graphicFrame>
        <p:nvGraphicFramePr>
          <p:cNvPr id="8" name="表 7">
            <a:extLst>
              <a:ext uri="{FF2B5EF4-FFF2-40B4-BE49-F238E27FC236}">
                <a16:creationId xmlns:a16="http://schemas.microsoft.com/office/drawing/2014/main" id="{744ABE21-11AB-5184-E420-BB591F24854E}"/>
              </a:ext>
            </a:extLst>
          </p:cNvPr>
          <p:cNvGraphicFramePr>
            <a:graphicFrameLocks noGrp="1"/>
          </p:cNvGraphicFramePr>
          <p:nvPr>
            <p:extLst>
              <p:ext uri="{D42A27DB-BD31-4B8C-83A1-F6EECF244321}">
                <p14:modId xmlns:p14="http://schemas.microsoft.com/office/powerpoint/2010/main" val="1859676160"/>
              </p:ext>
            </p:extLst>
          </p:nvPr>
        </p:nvGraphicFramePr>
        <p:xfrm>
          <a:off x="291581" y="913713"/>
          <a:ext cx="11605661" cy="5364480"/>
        </p:xfrm>
        <a:graphic>
          <a:graphicData uri="http://schemas.openxmlformats.org/drawingml/2006/table">
            <a:tbl>
              <a:tblPr/>
              <a:tblGrid>
                <a:gridCol w="1045238">
                  <a:extLst>
                    <a:ext uri="{9D8B030D-6E8A-4147-A177-3AD203B41FA5}">
                      <a16:colId xmlns:a16="http://schemas.microsoft.com/office/drawing/2014/main" val="520853400"/>
                    </a:ext>
                  </a:extLst>
                </a:gridCol>
                <a:gridCol w="3520141">
                  <a:extLst>
                    <a:ext uri="{9D8B030D-6E8A-4147-A177-3AD203B41FA5}">
                      <a16:colId xmlns:a16="http://schemas.microsoft.com/office/drawing/2014/main" val="1890474035"/>
                    </a:ext>
                  </a:extLst>
                </a:gridCol>
                <a:gridCol w="3520141">
                  <a:extLst>
                    <a:ext uri="{9D8B030D-6E8A-4147-A177-3AD203B41FA5}">
                      <a16:colId xmlns:a16="http://schemas.microsoft.com/office/drawing/2014/main" val="2270234048"/>
                    </a:ext>
                  </a:extLst>
                </a:gridCol>
                <a:gridCol w="3520141">
                  <a:extLst>
                    <a:ext uri="{9D8B030D-6E8A-4147-A177-3AD203B41FA5}">
                      <a16:colId xmlns:a16="http://schemas.microsoft.com/office/drawing/2014/main" val="3725471769"/>
                    </a:ext>
                  </a:extLst>
                </a:gridCol>
              </a:tblGrid>
              <a:tr h="0">
                <a:tc>
                  <a:txBody>
                    <a:bodyPr/>
                    <a:lstStyle/>
                    <a:p>
                      <a:pPr>
                        <a:buNone/>
                      </a:pPr>
                      <a:r>
                        <a:rPr lang="ja-JP" altLang="en-US" sz="700" dirty="0">
                          <a:solidFill>
                            <a:srgbClr val="FFFFFF"/>
                          </a:solidFill>
                          <a:latin typeface="メイリオ" panose="020B0604030504040204" pitchFamily="50" charset="-128"/>
                          <a:ea typeface="メイリオ" panose="020B0604030504040204" pitchFamily="50" charset="-128"/>
                        </a:rPr>
                        <a:t>年</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1"/>
                    </a:solidFill>
                  </a:tcPr>
                </a:tc>
                <a:tc>
                  <a:txBody>
                    <a:bodyPr/>
                    <a:lstStyle/>
                    <a:p>
                      <a:pPr>
                        <a:buNone/>
                      </a:pPr>
                      <a:r>
                        <a:rPr lang="ja-JP" altLang="en-US" sz="700" dirty="0">
                          <a:solidFill>
                            <a:srgbClr val="FFFFFF"/>
                          </a:solidFill>
                          <a:latin typeface="メイリオ" panose="020B0604030504040204" pitchFamily="50" charset="-128"/>
                          <a:ea typeface="メイリオ" panose="020B0604030504040204" pitchFamily="50" charset="-128"/>
                        </a:rPr>
                        <a:t>世界（主に半導体・スマートファクトリー）</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1"/>
                    </a:solidFill>
                  </a:tcPr>
                </a:tc>
                <a:tc>
                  <a:txBody>
                    <a:bodyPr/>
                    <a:lstStyle/>
                    <a:p>
                      <a:pPr>
                        <a:buNone/>
                      </a:pPr>
                      <a:r>
                        <a:rPr lang="ja-JP" altLang="en-US" sz="700" dirty="0">
                          <a:solidFill>
                            <a:srgbClr val="FFFFFF"/>
                          </a:solidFill>
                          <a:latin typeface="メイリオ" panose="020B0604030504040204" pitchFamily="50" charset="-128"/>
                          <a:ea typeface="メイリオ" panose="020B0604030504040204" pitchFamily="50" charset="-128"/>
                        </a:rPr>
                        <a:t>日本／</a:t>
                      </a:r>
                      <a:r>
                        <a:rPr lang="en-US" altLang="ja-JP" sz="700" dirty="0">
                          <a:solidFill>
                            <a:srgbClr val="FFFFFF"/>
                          </a:solidFill>
                          <a:latin typeface="メイリオ" panose="020B0604030504040204" pitchFamily="50" charset="-128"/>
                          <a:ea typeface="メイリオ" panose="020B0604030504040204" pitchFamily="50" charset="-128"/>
                        </a:rPr>
                        <a:t>SSM </a:t>
                      </a:r>
                      <a:r>
                        <a:rPr lang="ja-JP" altLang="en-US" sz="700" dirty="0">
                          <a:solidFill>
                            <a:srgbClr val="FFFFFF"/>
                          </a:solidFill>
                          <a:latin typeface="メイリオ" panose="020B0604030504040204" pitchFamily="50" charset="-128"/>
                          <a:ea typeface="メイリオ" panose="020B0604030504040204" pitchFamily="50" charset="-128"/>
                        </a:rPr>
                        <a:t>の動き</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1"/>
                    </a:solidFill>
                  </a:tcPr>
                </a:tc>
                <a:tc>
                  <a:txBody>
                    <a:bodyPr/>
                    <a:lstStyle/>
                    <a:p>
                      <a:pPr>
                        <a:buNone/>
                      </a:pPr>
                      <a:r>
                        <a:rPr lang="ja-JP" altLang="en-US" sz="700" dirty="0">
                          <a:solidFill>
                            <a:srgbClr val="FFFFFF"/>
                          </a:solidFill>
                          <a:latin typeface="メイリオ" panose="020B0604030504040204" pitchFamily="50" charset="-128"/>
                          <a:ea typeface="メイリオ" panose="020B0604030504040204" pitchFamily="50" charset="-128"/>
                        </a:rPr>
                        <a:t>意味合い</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3584430832"/>
                  </a:ext>
                </a:extLst>
              </a:tr>
              <a:tr h="0">
                <a:tc>
                  <a:txBody>
                    <a:bodyPr/>
                    <a:lstStyle/>
                    <a:p>
                      <a:pPr>
                        <a:buNone/>
                      </a:pPr>
                      <a:r>
                        <a:rPr lang="en-US" altLang="ja-JP" sz="700" b="1" dirty="0">
                          <a:solidFill>
                            <a:schemeClr val="tx1">
                              <a:lumMod val="75000"/>
                              <a:lumOff val="25000"/>
                            </a:schemeClr>
                          </a:solidFill>
                          <a:latin typeface="メイリオ" panose="020B0604030504040204" pitchFamily="50" charset="-128"/>
                          <a:ea typeface="メイリオ" panose="020B0604030504040204" pitchFamily="50" charset="-128"/>
                        </a:rPr>
                        <a:t>2011</a:t>
                      </a:r>
                      <a:endParaRPr lang="ja-JP" altLang="en-US" sz="700" dirty="0">
                        <a:solidFill>
                          <a:schemeClr val="tx1">
                            <a:lumMod val="75000"/>
                            <a:lumOff val="25000"/>
                          </a:schemeClr>
                        </a:solidFill>
                        <a:latin typeface="メイリオ" panose="020B0604030504040204" pitchFamily="50" charset="-128"/>
                        <a:ea typeface="メイリオ" panose="020B0604030504040204" pitchFamily="50" charset="-128"/>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buNone/>
                      </a:pPr>
                      <a:r>
                        <a:rPr lang="en-US" altLang="ja-JP" sz="700" dirty="0">
                          <a:solidFill>
                            <a:schemeClr val="tx1">
                              <a:lumMod val="75000"/>
                              <a:lumOff val="25000"/>
                            </a:schemeClr>
                          </a:solidFill>
                          <a:latin typeface="メイリオ" panose="020B0604030504040204" pitchFamily="50" charset="-128"/>
                          <a:ea typeface="メイリオ" panose="020B0604030504040204" pitchFamily="50" charset="-128"/>
                        </a:rPr>
                        <a:t>TSMC </a:t>
                      </a:r>
                      <a:r>
                        <a:rPr lang="ja-JP" altLang="en-US" sz="700" dirty="0">
                          <a:solidFill>
                            <a:schemeClr val="tx1">
                              <a:lumMod val="75000"/>
                              <a:lumOff val="25000"/>
                            </a:schemeClr>
                          </a:solidFill>
                          <a:latin typeface="メイリオ" panose="020B0604030504040204" pitchFamily="50" charset="-128"/>
                          <a:ea typeface="メイリオ" panose="020B0604030504040204" pitchFamily="50" charset="-128"/>
                        </a:rPr>
                        <a:t>が「</a:t>
                      </a:r>
                      <a:r>
                        <a:rPr lang="ja-JP" altLang="en-US" sz="700" b="1" dirty="0">
                          <a:solidFill>
                            <a:schemeClr val="tx1">
                              <a:lumMod val="75000"/>
                              <a:lumOff val="25000"/>
                            </a:schemeClr>
                          </a:solidFill>
                          <a:latin typeface="メイリオ" panose="020B0604030504040204" pitchFamily="50" charset="-128"/>
                          <a:ea typeface="メイリオ" panose="020B0604030504040204" pitchFamily="50" charset="-128"/>
                        </a:rPr>
                        <a:t>スマートウェーハファウンドリ</a:t>
                      </a:r>
                      <a:r>
                        <a:rPr lang="ja-JP" altLang="en-US" sz="700" dirty="0">
                          <a:solidFill>
                            <a:schemeClr val="tx1">
                              <a:lumMod val="75000"/>
                              <a:lumOff val="25000"/>
                            </a:schemeClr>
                          </a:solidFill>
                          <a:latin typeface="メイリオ" panose="020B0604030504040204" pitchFamily="50" charset="-128"/>
                          <a:ea typeface="メイリオ" panose="020B0604030504040204" pitchFamily="50" charset="-128"/>
                        </a:rPr>
                        <a:t>」構想を打ち出し、ビッグデータ・スマートセンサーなどを活用したインテリジェント製造の取り組みを開始したと報じられる。</a:t>
                      </a:r>
                      <a:r>
                        <a:rPr lang="en-US" altLang="ja-JP" sz="700" dirty="0" err="1">
                          <a:solidFill>
                            <a:schemeClr val="tx1">
                              <a:lumMod val="75000"/>
                              <a:lumOff val="25000"/>
                            </a:schemeClr>
                          </a:solidFill>
                          <a:latin typeface="メイリオ" panose="020B0604030504040204" pitchFamily="50" charset="-128"/>
                          <a:ea typeface="メイリオ" panose="020B0604030504040204" pitchFamily="50" charset="-128"/>
                          <a:hlinkClick r:id="rId2">
                            <a:extLst>
                              <a:ext uri="{A12FA001-AC4F-418D-AE19-62706E023703}">
                                <ahyp:hlinkClr xmlns:ahyp="http://schemas.microsoft.com/office/drawing/2018/hyperlinkcolor" val="tx"/>
                              </a:ext>
                            </a:extLst>
                          </a:hlinkClick>
                        </a:rPr>
                        <a:t>Cw</a:t>
                      </a:r>
                      <a:r>
                        <a:rPr lang="en-US" altLang="ja-JP" sz="700" dirty="0">
                          <a:solidFill>
                            <a:schemeClr val="tx1">
                              <a:lumMod val="75000"/>
                              <a:lumOff val="25000"/>
                            </a:schemeClr>
                          </a:solidFill>
                          <a:latin typeface="メイリオ" panose="020B0604030504040204" pitchFamily="50" charset="-128"/>
                          <a:ea typeface="メイリオ" panose="020B0604030504040204" pitchFamily="50" charset="-128"/>
                          <a:hlinkClick r:id="rId2">
                            <a:extLst>
                              <a:ext uri="{A12FA001-AC4F-418D-AE19-62706E023703}">
                                <ahyp:hlinkClr xmlns:ahyp="http://schemas.microsoft.com/office/drawing/2018/hyperlinkcolor" val="tx"/>
                              </a:ext>
                            </a:extLst>
                          </a:hlinkClick>
                        </a:rPr>
                        <a:t> English</a:t>
                      </a:r>
                      <a:endParaRPr lang="ja-JP" altLang="en-US" sz="700" dirty="0">
                        <a:solidFill>
                          <a:schemeClr val="tx1">
                            <a:lumMod val="75000"/>
                            <a:lumOff val="25000"/>
                          </a:schemeClr>
                        </a:solidFill>
                        <a:latin typeface="メイリオ" panose="020B0604030504040204" pitchFamily="50" charset="-128"/>
                        <a:ea typeface="メイリオ" panose="020B0604030504040204" pitchFamily="50" charset="-128"/>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buNone/>
                      </a:pPr>
                      <a:r>
                        <a:rPr lang="ja-JP" altLang="en-US" sz="700">
                          <a:solidFill>
                            <a:schemeClr val="tx1">
                              <a:lumMod val="75000"/>
                              <a:lumOff val="25000"/>
                            </a:schemeClr>
                          </a:solidFill>
                          <a:latin typeface="メイリオ" panose="020B0604030504040204" pitchFamily="50" charset="-128"/>
                          <a:ea typeface="メイリオ" panose="020B0604030504040204" pitchFamily="50" charset="-128"/>
                        </a:rPr>
                        <a:t>（この時点で日本側の大規模スマートファクトリー構想はまだ限定的）</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buNone/>
                      </a:pPr>
                      <a:r>
                        <a:rPr lang="ja-JP" altLang="en-US" sz="700">
                          <a:solidFill>
                            <a:schemeClr val="tx1">
                              <a:lumMod val="75000"/>
                              <a:lumOff val="25000"/>
                            </a:schemeClr>
                          </a:solidFill>
                          <a:latin typeface="メイリオ" panose="020B0604030504040204" pitchFamily="50" charset="-128"/>
                          <a:ea typeface="メイリオ" panose="020B0604030504040204" pitchFamily="50" charset="-128"/>
                        </a:rPr>
                        <a:t>先端ファウンドリが </a:t>
                      </a:r>
                      <a:r>
                        <a:rPr lang="ja-JP" altLang="en-US" sz="700" b="1">
                          <a:solidFill>
                            <a:schemeClr val="tx1">
                              <a:lumMod val="75000"/>
                              <a:lumOff val="25000"/>
                            </a:schemeClr>
                          </a:solidFill>
                          <a:latin typeface="メイリオ" panose="020B0604030504040204" pitchFamily="50" charset="-128"/>
                          <a:ea typeface="メイリオ" panose="020B0604030504040204" pitchFamily="50" charset="-128"/>
                        </a:rPr>
                        <a:t>「</a:t>
                      </a:r>
                      <a:r>
                        <a:rPr lang="en-US" altLang="ja-JP" sz="700" b="1">
                          <a:solidFill>
                            <a:schemeClr val="tx1">
                              <a:lumMod val="75000"/>
                              <a:lumOff val="25000"/>
                            </a:schemeClr>
                          </a:solidFill>
                          <a:latin typeface="メイリオ" panose="020B0604030504040204" pitchFamily="50" charset="-128"/>
                          <a:ea typeface="メイリオ" panose="020B0604030504040204" pitchFamily="50" charset="-128"/>
                        </a:rPr>
                        <a:t>AI/</a:t>
                      </a:r>
                      <a:r>
                        <a:rPr lang="ja-JP" altLang="en-US" sz="700" b="1">
                          <a:solidFill>
                            <a:schemeClr val="tx1">
                              <a:lumMod val="75000"/>
                              <a:lumOff val="25000"/>
                            </a:schemeClr>
                          </a:solidFill>
                          <a:latin typeface="メイリオ" panose="020B0604030504040204" pitchFamily="50" charset="-128"/>
                          <a:ea typeface="メイリオ" panose="020B0604030504040204" pitchFamily="50" charset="-128"/>
                        </a:rPr>
                        <a:t>データ前提の工場」</a:t>
                      </a:r>
                      <a:r>
                        <a:rPr lang="ja-JP" altLang="en-US" sz="700">
                          <a:solidFill>
                            <a:schemeClr val="tx1">
                              <a:lumMod val="75000"/>
                              <a:lumOff val="25000"/>
                            </a:schemeClr>
                          </a:solidFill>
                          <a:latin typeface="メイリオ" panose="020B0604030504040204" pitchFamily="50" charset="-128"/>
                          <a:ea typeface="メイリオ" panose="020B0604030504040204" pitchFamily="50" charset="-128"/>
                        </a:rPr>
                        <a:t> を本格的に志向し始めた初期段階。</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847565201"/>
                  </a:ext>
                </a:extLst>
              </a:tr>
              <a:tr h="143944">
                <a:tc>
                  <a:txBody>
                    <a:bodyPr/>
                    <a:lstStyle/>
                    <a:p>
                      <a:pPr>
                        <a:buNone/>
                      </a:pPr>
                      <a:r>
                        <a:rPr lang="en-US" altLang="ja-JP" sz="700" b="1">
                          <a:solidFill>
                            <a:schemeClr val="tx1">
                              <a:lumMod val="75000"/>
                              <a:lumOff val="25000"/>
                            </a:schemeClr>
                          </a:solidFill>
                          <a:latin typeface="メイリオ" panose="020B0604030504040204" pitchFamily="50" charset="-128"/>
                          <a:ea typeface="メイリオ" panose="020B0604030504040204" pitchFamily="50" charset="-128"/>
                        </a:rPr>
                        <a:t>2017</a:t>
                      </a:r>
                      <a:endParaRPr lang="ja-JP" altLang="en-US" sz="700">
                        <a:solidFill>
                          <a:schemeClr val="tx1">
                            <a:lumMod val="75000"/>
                            <a:lumOff val="25000"/>
                          </a:schemeClr>
                        </a:solidFill>
                        <a:latin typeface="メイリオ" panose="020B0604030504040204" pitchFamily="50" charset="-128"/>
                        <a:ea typeface="メイリオ" panose="020B0604030504040204" pitchFamily="50" charset="-128"/>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buNone/>
                      </a:pPr>
                      <a:r>
                        <a:rPr lang="ja-JP" altLang="en-US" sz="700" dirty="0">
                          <a:solidFill>
                            <a:schemeClr val="tx1">
                              <a:lumMod val="75000"/>
                              <a:lumOff val="25000"/>
                            </a:schemeClr>
                          </a:solidFill>
                          <a:latin typeface="メイリオ" panose="020B0604030504040204" pitchFamily="50" charset="-128"/>
                          <a:ea typeface="メイリオ" panose="020B0604030504040204" pitchFamily="50" charset="-128"/>
                        </a:rPr>
                        <a:t>韓国政府・民間が連携し、</a:t>
                      </a:r>
                      <a:r>
                        <a:rPr lang="ja-JP" altLang="en-US" sz="700" b="1" dirty="0">
                          <a:solidFill>
                            <a:schemeClr val="tx1">
                              <a:lumMod val="75000"/>
                              <a:lumOff val="25000"/>
                            </a:schemeClr>
                          </a:solidFill>
                          <a:latin typeface="メイリオ" panose="020B0604030504040204" pitchFamily="50" charset="-128"/>
                          <a:ea typeface="メイリオ" panose="020B0604030504040204" pitchFamily="50" charset="-128"/>
                        </a:rPr>
                        <a:t>スマートファクトリー </a:t>
                      </a:r>
                      <a:r>
                        <a:rPr lang="en-US" altLang="ja-JP" sz="700" b="1" dirty="0">
                          <a:solidFill>
                            <a:schemeClr val="tx1">
                              <a:lumMod val="75000"/>
                              <a:lumOff val="25000"/>
                            </a:schemeClr>
                          </a:solidFill>
                          <a:latin typeface="メイリオ" panose="020B0604030504040204" pitchFamily="50" charset="-128"/>
                          <a:ea typeface="メイリオ" panose="020B0604030504040204" pitchFamily="50" charset="-128"/>
                        </a:rPr>
                        <a:t>3</a:t>
                      </a:r>
                      <a:r>
                        <a:rPr lang="ja-JP" altLang="en-US" sz="700" b="1" dirty="0">
                          <a:solidFill>
                            <a:schemeClr val="tx1">
                              <a:lumMod val="75000"/>
                              <a:lumOff val="25000"/>
                            </a:schemeClr>
                          </a:solidFill>
                          <a:latin typeface="メイリオ" panose="020B0604030504040204" pitchFamily="50" charset="-128"/>
                          <a:ea typeface="メイリオ" panose="020B0604030504040204" pitchFamily="50" charset="-128"/>
                        </a:rPr>
                        <a:t>万件を</a:t>
                      </a:r>
                      <a:r>
                        <a:rPr lang="en-US" altLang="ja-JP" sz="700" b="1" dirty="0">
                          <a:solidFill>
                            <a:schemeClr val="tx1">
                              <a:lumMod val="75000"/>
                              <a:lumOff val="25000"/>
                            </a:schemeClr>
                          </a:solidFill>
                          <a:latin typeface="メイリオ" panose="020B0604030504040204" pitchFamily="50" charset="-128"/>
                          <a:ea typeface="メイリオ" panose="020B0604030504040204" pitchFamily="50" charset="-128"/>
                        </a:rPr>
                        <a:t>2025</a:t>
                      </a:r>
                      <a:r>
                        <a:rPr lang="ja-JP" altLang="en-US" sz="700" b="1" dirty="0">
                          <a:solidFill>
                            <a:schemeClr val="tx1">
                              <a:lumMod val="75000"/>
                              <a:lumOff val="25000"/>
                            </a:schemeClr>
                          </a:solidFill>
                          <a:latin typeface="メイリオ" panose="020B0604030504040204" pitchFamily="50" charset="-128"/>
                          <a:ea typeface="メイリオ" panose="020B0604030504040204" pitchFamily="50" charset="-128"/>
                        </a:rPr>
                        <a:t>年までに整備</a:t>
                      </a:r>
                      <a:r>
                        <a:rPr lang="ja-JP" altLang="en-US" sz="700" dirty="0">
                          <a:solidFill>
                            <a:schemeClr val="tx1">
                              <a:lumMod val="75000"/>
                              <a:lumOff val="25000"/>
                            </a:schemeClr>
                          </a:solidFill>
                          <a:latin typeface="メイリオ" panose="020B0604030504040204" pitchFamily="50" charset="-128"/>
                          <a:ea typeface="メイリオ" panose="020B0604030504040204" pitchFamily="50" charset="-128"/>
                        </a:rPr>
                        <a:t>する「</a:t>
                      </a:r>
                      <a:r>
                        <a:rPr lang="en-US" altLang="ja-JP" sz="700" dirty="0">
                          <a:solidFill>
                            <a:schemeClr val="tx1">
                              <a:lumMod val="75000"/>
                              <a:lumOff val="25000"/>
                            </a:schemeClr>
                          </a:solidFill>
                          <a:latin typeface="メイリオ" panose="020B0604030504040204" pitchFamily="50" charset="-128"/>
                          <a:ea typeface="メイリオ" panose="020B0604030504040204" pitchFamily="50" charset="-128"/>
                        </a:rPr>
                        <a:t>Smart Factory Initiative</a:t>
                      </a:r>
                      <a:r>
                        <a:rPr lang="ja-JP" altLang="en-US" sz="700" dirty="0">
                          <a:solidFill>
                            <a:schemeClr val="tx1">
                              <a:lumMod val="75000"/>
                              <a:lumOff val="25000"/>
                            </a:schemeClr>
                          </a:solidFill>
                          <a:latin typeface="メイリオ" panose="020B0604030504040204" pitchFamily="50" charset="-128"/>
                          <a:ea typeface="メイリオ" panose="020B0604030504040204" pitchFamily="50" charset="-128"/>
                        </a:rPr>
                        <a:t>」を発表。初期目標</a:t>
                      </a:r>
                      <a:r>
                        <a:rPr lang="en-US" altLang="ja-JP" sz="700" dirty="0">
                          <a:solidFill>
                            <a:schemeClr val="tx1">
                              <a:lumMod val="75000"/>
                              <a:lumOff val="25000"/>
                            </a:schemeClr>
                          </a:solidFill>
                          <a:latin typeface="メイリオ" panose="020B0604030504040204" pitchFamily="50" charset="-128"/>
                          <a:ea typeface="メイリオ" panose="020B0604030504040204" pitchFamily="50" charset="-128"/>
                        </a:rPr>
                        <a:t>1</a:t>
                      </a:r>
                      <a:r>
                        <a:rPr lang="ja-JP" altLang="en-US" sz="700" dirty="0">
                          <a:solidFill>
                            <a:schemeClr val="tx1">
                              <a:lumMod val="75000"/>
                              <a:lumOff val="25000"/>
                            </a:schemeClr>
                          </a:solidFill>
                          <a:latin typeface="メイリオ" panose="020B0604030504040204" pitchFamily="50" charset="-128"/>
                          <a:ea typeface="メイリオ" panose="020B0604030504040204" pitchFamily="50" charset="-128"/>
                        </a:rPr>
                        <a:t>万件から拡大。</a:t>
                      </a:r>
                      <a:r>
                        <a:rPr lang="ja-JP" altLang="en-US" sz="700" dirty="0">
                          <a:solidFill>
                            <a:schemeClr val="tx1">
                              <a:lumMod val="75000"/>
                              <a:lumOff val="25000"/>
                            </a:schemeClr>
                          </a:solidFill>
                          <a:latin typeface="メイリオ" panose="020B0604030504040204" pitchFamily="50" charset="-128"/>
                          <a:ea typeface="メイリオ" panose="020B0604030504040204" pitchFamily="50" charset="-128"/>
                          <a:hlinkClick r:id="rId3">
                            <a:extLst>
                              <a:ext uri="{A12FA001-AC4F-418D-AE19-62706E023703}">
                                <ahyp:hlinkClr xmlns:ahyp="http://schemas.microsoft.com/office/drawing/2018/hyperlinkcolor" val="tx"/>
                              </a:ext>
                            </a:extLst>
                          </a:hlinkClick>
                        </a:rPr>
                        <a:t>プライバシーシールド</a:t>
                      </a:r>
                      <a:r>
                        <a:rPr lang="en-US" altLang="ja-JP" sz="700" dirty="0">
                          <a:solidFill>
                            <a:schemeClr val="tx1">
                              <a:lumMod val="75000"/>
                              <a:lumOff val="25000"/>
                            </a:schemeClr>
                          </a:solidFill>
                          <a:latin typeface="メイリオ" panose="020B0604030504040204" pitchFamily="50" charset="-128"/>
                          <a:ea typeface="メイリオ" panose="020B0604030504040204" pitchFamily="50" charset="-128"/>
                          <a:hlinkClick r:id="rId3">
                            <a:extLst>
                              <a:ext uri="{A12FA001-AC4F-418D-AE19-62706E023703}">
                                <ahyp:hlinkClr xmlns:ahyp="http://schemas.microsoft.com/office/drawing/2018/hyperlinkcolor" val="tx"/>
                              </a:ext>
                            </a:extLst>
                          </a:hlinkClick>
                        </a:rPr>
                        <a:t>+1</a:t>
                      </a:r>
                      <a:endParaRPr lang="ja-JP" altLang="en-US" sz="700" dirty="0">
                        <a:solidFill>
                          <a:schemeClr val="tx1">
                            <a:lumMod val="75000"/>
                            <a:lumOff val="25000"/>
                          </a:schemeClr>
                        </a:solidFill>
                        <a:latin typeface="メイリオ" panose="020B0604030504040204" pitchFamily="50" charset="-128"/>
                        <a:ea typeface="メイリオ" panose="020B0604030504040204" pitchFamily="50" charset="-128"/>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buNone/>
                      </a:pPr>
                      <a:r>
                        <a:rPr lang="ja-JP" altLang="en-US" sz="700">
                          <a:solidFill>
                            <a:schemeClr val="tx1">
                              <a:lumMod val="75000"/>
                              <a:lumOff val="25000"/>
                            </a:schemeClr>
                          </a:solidFill>
                          <a:latin typeface="メイリオ" panose="020B0604030504040204" pitchFamily="50" charset="-128"/>
                          <a:ea typeface="メイリオ" panose="020B0604030504040204" pitchFamily="50" charset="-128"/>
                        </a:rPr>
                        <a:t>日本は「インダストリー</a:t>
                      </a:r>
                      <a:r>
                        <a:rPr lang="en-US" altLang="ja-JP" sz="700">
                          <a:solidFill>
                            <a:schemeClr val="tx1">
                              <a:lumMod val="75000"/>
                              <a:lumOff val="25000"/>
                            </a:schemeClr>
                          </a:solidFill>
                          <a:latin typeface="メイリオ" panose="020B0604030504040204" pitchFamily="50" charset="-128"/>
                          <a:ea typeface="メイリオ" panose="020B0604030504040204" pitchFamily="50" charset="-128"/>
                        </a:rPr>
                        <a:t>4.0</a:t>
                      </a:r>
                      <a:r>
                        <a:rPr lang="ja-JP" altLang="en-US" sz="700">
                          <a:solidFill>
                            <a:schemeClr val="tx1">
                              <a:lumMod val="75000"/>
                              <a:lumOff val="25000"/>
                            </a:schemeClr>
                          </a:solidFill>
                          <a:latin typeface="メイリオ" panose="020B0604030504040204" pitchFamily="50" charset="-128"/>
                          <a:ea typeface="メイリオ" panose="020B0604030504040204" pitchFamily="50" charset="-128"/>
                        </a:rPr>
                        <a:t>」や</a:t>
                      </a:r>
                      <a:r>
                        <a:rPr lang="en-US" altLang="ja-JP" sz="700">
                          <a:solidFill>
                            <a:schemeClr val="tx1">
                              <a:lumMod val="75000"/>
                              <a:lumOff val="25000"/>
                            </a:schemeClr>
                          </a:solidFill>
                          <a:latin typeface="メイリオ" panose="020B0604030504040204" pitchFamily="50" charset="-128"/>
                          <a:ea typeface="メイリオ" panose="020B0604030504040204" pitchFamily="50" charset="-128"/>
                        </a:rPr>
                        <a:t>IoT</a:t>
                      </a:r>
                      <a:r>
                        <a:rPr lang="ja-JP" altLang="en-US" sz="700">
                          <a:solidFill>
                            <a:schemeClr val="tx1">
                              <a:lumMod val="75000"/>
                              <a:lumOff val="25000"/>
                            </a:schemeClr>
                          </a:solidFill>
                          <a:latin typeface="メイリオ" panose="020B0604030504040204" pitchFamily="50" charset="-128"/>
                          <a:ea typeface="メイリオ" panose="020B0604030504040204" pitchFamily="50" charset="-128"/>
                        </a:rPr>
                        <a:t>導入は盛んになるが、</a:t>
                      </a:r>
                      <a:r>
                        <a:rPr lang="ja-JP" altLang="en-US" sz="700" b="1">
                          <a:solidFill>
                            <a:schemeClr val="tx1">
                              <a:lumMod val="75000"/>
                              <a:lumOff val="25000"/>
                            </a:schemeClr>
                          </a:solidFill>
                          <a:latin typeface="メイリオ" panose="020B0604030504040204" pitchFamily="50" charset="-128"/>
                          <a:ea typeface="メイリオ" panose="020B0604030504040204" pitchFamily="50" charset="-128"/>
                        </a:rPr>
                        <a:t>国家レベルでスマートファクトリー数をコミットする動きは限定的</a:t>
                      </a:r>
                      <a:r>
                        <a:rPr lang="ja-JP" altLang="en-US" sz="700">
                          <a:solidFill>
                            <a:schemeClr val="tx1">
                              <a:lumMod val="75000"/>
                              <a:lumOff val="25000"/>
                            </a:schemeClr>
                          </a:solidFill>
                          <a:latin typeface="メイリオ" panose="020B0604030504040204" pitchFamily="50" charset="-128"/>
                          <a:ea typeface="メイリオ" panose="020B0604030504040204" pitchFamily="50" charset="-128"/>
                        </a:rPr>
                        <a:t>。</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buNone/>
                      </a:pPr>
                      <a:r>
                        <a:rPr lang="ja-JP" altLang="en-US" sz="700">
                          <a:solidFill>
                            <a:schemeClr val="tx1">
                              <a:lumMod val="75000"/>
                              <a:lumOff val="25000"/>
                            </a:schemeClr>
                          </a:solidFill>
                          <a:latin typeface="メイリオ" panose="020B0604030504040204" pitchFamily="50" charset="-128"/>
                          <a:ea typeface="メイリオ" panose="020B0604030504040204" pitchFamily="50" charset="-128"/>
                        </a:rPr>
                        <a:t>韓国はこの時点で「</a:t>
                      </a:r>
                      <a:r>
                        <a:rPr lang="ja-JP" altLang="en-US" sz="700" b="1">
                          <a:solidFill>
                            <a:schemeClr val="tx1">
                              <a:lumMod val="75000"/>
                              <a:lumOff val="25000"/>
                            </a:schemeClr>
                          </a:solidFill>
                          <a:latin typeface="メイリオ" panose="020B0604030504040204" pitchFamily="50" charset="-128"/>
                          <a:ea typeface="メイリオ" panose="020B0604030504040204" pitchFamily="50" charset="-128"/>
                        </a:rPr>
                        <a:t>工場数ベースでデジタル化を進める国家戦略</a:t>
                      </a:r>
                      <a:r>
                        <a:rPr lang="ja-JP" altLang="en-US" sz="700">
                          <a:solidFill>
                            <a:schemeClr val="tx1">
                              <a:lumMod val="75000"/>
                              <a:lumOff val="25000"/>
                            </a:schemeClr>
                          </a:solidFill>
                          <a:latin typeface="メイリオ" panose="020B0604030504040204" pitchFamily="50" charset="-128"/>
                          <a:ea typeface="メイリオ" panose="020B0604030504040204" pitchFamily="50" charset="-128"/>
                        </a:rPr>
                        <a:t>」を明確化。</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864167928"/>
                  </a:ext>
                </a:extLst>
              </a:tr>
              <a:tr h="157529">
                <a:tc>
                  <a:txBody>
                    <a:bodyPr/>
                    <a:lstStyle/>
                    <a:p>
                      <a:pPr>
                        <a:buNone/>
                      </a:pPr>
                      <a:r>
                        <a:rPr lang="en-US" altLang="ja-JP" sz="700" b="1">
                          <a:solidFill>
                            <a:schemeClr val="tx1">
                              <a:lumMod val="75000"/>
                              <a:lumOff val="25000"/>
                            </a:schemeClr>
                          </a:solidFill>
                          <a:latin typeface="メイリオ" panose="020B0604030504040204" pitchFamily="50" charset="-128"/>
                          <a:ea typeface="メイリオ" panose="020B0604030504040204" pitchFamily="50" charset="-128"/>
                        </a:rPr>
                        <a:t>〜2020</a:t>
                      </a:r>
                      <a:endParaRPr lang="ja-JP" altLang="en-US" sz="700">
                        <a:solidFill>
                          <a:schemeClr val="tx1">
                            <a:lumMod val="75000"/>
                            <a:lumOff val="25000"/>
                          </a:schemeClr>
                        </a:solidFill>
                        <a:latin typeface="メイリオ" panose="020B0604030504040204" pitchFamily="50" charset="-128"/>
                        <a:ea typeface="メイリオ" panose="020B0604030504040204" pitchFamily="50" charset="-128"/>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buNone/>
                      </a:pPr>
                      <a:r>
                        <a:rPr lang="ja-JP" altLang="en-US" sz="700" dirty="0">
                          <a:solidFill>
                            <a:schemeClr val="tx1">
                              <a:lumMod val="75000"/>
                              <a:lumOff val="25000"/>
                            </a:schemeClr>
                          </a:solidFill>
                          <a:latin typeface="メイリオ" panose="020B0604030504040204" pitchFamily="50" charset="-128"/>
                          <a:ea typeface="メイリオ" panose="020B0604030504040204" pitchFamily="50" charset="-128"/>
                        </a:rPr>
                        <a:t>スマートファクトリーを導入した韓国企業では、</a:t>
                      </a:r>
                      <a:r>
                        <a:rPr lang="ja-JP" altLang="en-US" sz="700" b="1" dirty="0">
                          <a:solidFill>
                            <a:schemeClr val="tx1">
                              <a:lumMod val="75000"/>
                              <a:lumOff val="25000"/>
                            </a:schemeClr>
                          </a:solidFill>
                          <a:latin typeface="メイリオ" panose="020B0604030504040204" pitchFamily="50" charset="-128"/>
                          <a:ea typeface="メイリオ" panose="020B0604030504040204" pitchFamily="50" charset="-128"/>
                        </a:rPr>
                        <a:t>生産性</a:t>
                      </a:r>
                      <a:r>
                        <a:rPr lang="en-US" altLang="ja-JP" sz="700" b="1" dirty="0">
                          <a:solidFill>
                            <a:schemeClr val="tx1">
                              <a:lumMod val="75000"/>
                              <a:lumOff val="25000"/>
                            </a:schemeClr>
                          </a:solidFill>
                          <a:latin typeface="メイリオ" panose="020B0604030504040204" pitchFamily="50" charset="-128"/>
                          <a:ea typeface="メイリオ" panose="020B0604030504040204" pitchFamily="50" charset="-128"/>
                        </a:rPr>
                        <a:t>25%</a:t>
                      </a:r>
                      <a:r>
                        <a:rPr lang="ja-JP" altLang="en-US" sz="700" b="1" dirty="0">
                          <a:solidFill>
                            <a:schemeClr val="tx1">
                              <a:lumMod val="75000"/>
                              <a:lumOff val="25000"/>
                            </a:schemeClr>
                          </a:solidFill>
                          <a:latin typeface="メイリオ" panose="020B0604030504040204" pitchFamily="50" charset="-128"/>
                          <a:ea typeface="メイリオ" panose="020B0604030504040204" pitchFamily="50" charset="-128"/>
                        </a:rPr>
                        <a:t>向上・不良率</a:t>
                      </a:r>
                      <a:r>
                        <a:rPr lang="en-US" altLang="ja-JP" sz="700" b="1" dirty="0">
                          <a:solidFill>
                            <a:schemeClr val="tx1">
                              <a:lumMod val="75000"/>
                              <a:lumOff val="25000"/>
                            </a:schemeClr>
                          </a:solidFill>
                          <a:latin typeface="メイリオ" panose="020B0604030504040204" pitchFamily="50" charset="-128"/>
                          <a:ea typeface="メイリオ" panose="020B0604030504040204" pitchFamily="50" charset="-128"/>
                        </a:rPr>
                        <a:t>27%</a:t>
                      </a:r>
                      <a:r>
                        <a:rPr lang="ja-JP" altLang="en-US" sz="700" b="1" dirty="0">
                          <a:solidFill>
                            <a:schemeClr val="tx1">
                              <a:lumMod val="75000"/>
                              <a:lumOff val="25000"/>
                            </a:schemeClr>
                          </a:solidFill>
                          <a:latin typeface="メイリオ" panose="020B0604030504040204" pitchFamily="50" charset="-128"/>
                          <a:ea typeface="メイリオ" panose="020B0604030504040204" pitchFamily="50" charset="-128"/>
                        </a:rPr>
                        <a:t>低減</a:t>
                      </a:r>
                      <a:r>
                        <a:rPr lang="ja-JP" altLang="en-US" sz="700" dirty="0">
                          <a:solidFill>
                            <a:schemeClr val="tx1">
                              <a:lumMod val="75000"/>
                              <a:lumOff val="25000"/>
                            </a:schemeClr>
                          </a:solidFill>
                          <a:latin typeface="メイリオ" panose="020B0604030504040204" pitchFamily="50" charset="-128"/>
                          <a:ea typeface="メイリオ" panose="020B0604030504040204" pitchFamily="50" charset="-128"/>
                        </a:rPr>
                        <a:t>などの効果が政府・調査で報告される。</a:t>
                      </a:r>
                      <a:r>
                        <a:rPr lang="ja-JP" altLang="en-US" sz="700" dirty="0">
                          <a:solidFill>
                            <a:schemeClr val="tx1">
                              <a:lumMod val="75000"/>
                              <a:lumOff val="25000"/>
                            </a:schemeClr>
                          </a:solidFill>
                          <a:latin typeface="メイリオ" panose="020B0604030504040204" pitchFamily="50" charset="-128"/>
                          <a:ea typeface="メイリオ" panose="020B0604030504040204" pitchFamily="50" charset="-128"/>
                          <a:hlinkClick r:id="rId4">
                            <a:extLst>
                              <a:ext uri="{A12FA001-AC4F-418D-AE19-62706E023703}">
                                <ahyp:hlinkClr xmlns:ahyp="http://schemas.microsoft.com/office/drawing/2018/hyperlinkcolor" val="tx"/>
                              </a:ext>
                            </a:extLst>
                          </a:hlinkClick>
                        </a:rPr>
                        <a:t>貿易局 </a:t>
                      </a:r>
                      <a:r>
                        <a:rPr lang="en-US" altLang="ja-JP" sz="700" dirty="0">
                          <a:solidFill>
                            <a:schemeClr val="tx1">
                              <a:lumMod val="75000"/>
                              <a:lumOff val="25000"/>
                            </a:schemeClr>
                          </a:solidFill>
                          <a:latin typeface="メイリオ" panose="020B0604030504040204" pitchFamily="50" charset="-128"/>
                          <a:ea typeface="メイリオ" panose="020B0604030504040204" pitchFamily="50" charset="-128"/>
                          <a:hlinkClick r:id="rId4">
                            <a:extLst>
                              <a:ext uri="{A12FA001-AC4F-418D-AE19-62706E023703}">
                                <ahyp:hlinkClr xmlns:ahyp="http://schemas.microsoft.com/office/drawing/2018/hyperlinkcolor" val="tx"/>
                              </a:ext>
                            </a:extLst>
                          </a:hlinkClick>
                        </a:rPr>
                        <a:t>| Trade.gov</a:t>
                      </a:r>
                      <a:endParaRPr lang="ja-JP" altLang="en-US" sz="700" dirty="0">
                        <a:solidFill>
                          <a:schemeClr val="tx1">
                            <a:lumMod val="75000"/>
                            <a:lumOff val="25000"/>
                          </a:schemeClr>
                        </a:solidFill>
                        <a:latin typeface="メイリオ" panose="020B0604030504040204" pitchFamily="50" charset="-128"/>
                        <a:ea typeface="メイリオ" panose="020B0604030504040204" pitchFamily="50" charset="-128"/>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buNone/>
                      </a:pPr>
                      <a:r>
                        <a:rPr lang="ja-JP" altLang="en-US" sz="700">
                          <a:solidFill>
                            <a:schemeClr val="tx1">
                              <a:lumMod val="75000"/>
                              <a:lumOff val="25000"/>
                            </a:schemeClr>
                          </a:solidFill>
                          <a:latin typeface="メイリオ" panose="020B0604030504040204" pitchFamily="50" charset="-128"/>
                          <a:ea typeface="メイリオ" panose="020B0604030504040204" pitchFamily="50" charset="-128"/>
                        </a:rPr>
                        <a:t>日本企業でも個別には改善効果は出ているが、「国としての定量目標」は韓国ほど明確でない。</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buNone/>
                      </a:pPr>
                      <a:r>
                        <a:rPr lang="ja-JP" altLang="en-US" sz="700">
                          <a:solidFill>
                            <a:schemeClr val="tx1">
                              <a:lumMod val="75000"/>
                              <a:lumOff val="25000"/>
                            </a:schemeClr>
                          </a:solidFill>
                          <a:latin typeface="メイリオ" panose="020B0604030504040204" pitchFamily="50" charset="-128"/>
                          <a:ea typeface="メイリオ" panose="020B0604030504040204" pitchFamily="50" charset="-128"/>
                        </a:rPr>
                        <a:t>「スマートファクトリー＝コスト</a:t>
                      </a:r>
                      <a:r>
                        <a:rPr lang="en-US" altLang="ja-JP" sz="700">
                          <a:solidFill>
                            <a:schemeClr val="tx1">
                              <a:lumMod val="75000"/>
                              <a:lumOff val="25000"/>
                            </a:schemeClr>
                          </a:solidFill>
                          <a:latin typeface="メイリオ" panose="020B0604030504040204" pitchFamily="50" charset="-128"/>
                          <a:ea typeface="メイリオ" panose="020B0604030504040204" pitchFamily="50" charset="-128"/>
                        </a:rPr>
                        <a:t>/</a:t>
                      </a:r>
                      <a:r>
                        <a:rPr lang="ja-JP" altLang="en-US" sz="700">
                          <a:solidFill>
                            <a:schemeClr val="tx1">
                              <a:lumMod val="75000"/>
                              <a:lumOff val="25000"/>
                            </a:schemeClr>
                          </a:solidFill>
                          <a:latin typeface="メイリオ" panose="020B0604030504040204" pitchFamily="50" charset="-128"/>
                          <a:ea typeface="メイリオ" panose="020B0604030504040204" pitchFamily="50" charset="-128"/>
                        </a:rPr>
                        <a:t>品質に効く」という</a:t>
                      </a:r>
                      <a:r>
                        <a:rPr lang="ja-JP" altLang="en-US" sz="700" b="1">
                          <a:solidFill>
                            <a:schemeClr val="tx1">
                              <a:lumMod val="75000"/>
                              <a:lumOff val="25000"/>
                            </a:schemeClr>
                          </a:solidFill>
                          <a:latin typeface="メイリオ" panose="020B0604030504040204" pitchFamily="50" charset="-128"/>
                          <a:ea typeface="メイリオ" panose="020B0604030504040204" pitchFamily="50" charset="-128"/>
                        </a:rPr>
                        <a:t>定量効果が実証されたフェーズ</a:t>
                      </a:r>
                      <a:r>
                        <a:rPr lang="ja-JP" altLang="en-US" sz="700">
                          <a:solidFill>
                            <a:schemeClr val="tx1">
                              <a:lumMod val="75000"/>
                              <a:lumOff val="25000"/>
                            </a:schemeClr>
                          </a:solidFill>
                          <a:latin typeface="メイリオ" panose="020B0604030504040204" pitchFamily="50" charset="-128"/>
                          <a:ea typeface="メイリオ" panose="020B0604030504040204" pitchFamily="50" charset="-128"/>
                        </a:rPr>
                        <a:t>。</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11858062"/>
                  </a:ext>
                </a:extLst>
              </a:tr>
              <a:tr h="143944">
                <a:tc>
                  <a:txBody>
                    <a:bodyPr/>
                    <a:lstStyle/>
                    <a:p>
                      <a:pPr>
                        <a:buNone/>
                      </a:pPr>
                      <a:r>
                        <a:rPr lang="en-US" altLang="ja-JP" sz="700" b="1">
                          <a:solidFill>
                            <a:schemeClr val="tx1">
                              <a:lumMod val="75000"/>
                              <a:lumOff val="25000"/>
                            </a:schemeClr>
                          </a:solidFill>
                          <a:latin typeface="メイリオ" panose="020B0604030504040204" pitchFamily="50" charset="-128"/>
                          <a:ea typeface="メイリオ" panose="020B0604030504040204" pitchFamily="50" charset="-128"/>
                        </a:rPr>
                        <a:t>2021</a:t>
                      </a:r>
                      <a:endParaRPr lang="ja-JP" altLang="en-US" sz="700">
                        <a:solidFill>
                          <a:schemeClr val="tx1">
                            <a:lumMod val="75000"/>
                            <a:lumOff val="25000"/>
                          </a:schemeClr>
                        </a:solidFill>
                        <a:latin typeface="メイリオ" panose="020B0604030504040204" pitchFamily="50" charset="-128"/>
                        <a:ea typeface="メイリオ" panose="020B0604030504040204" pitchFamily="50" charset="-128"/>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buNone/>
                      </a:pPr>
                      <a:r>
                        <a:rPr lang="ja-JP" altLang="en-US" sz="700" dirty="0">
                          <a:solidFill>
                            <a:schemeClr val="tx1">
                              <a:lumMod val="75000"/>
                              <a:lumOff val="25000"/>
                            </a:schemeClr>
                          </a:solidFill>
                          <a:latin typeface="メイリオ" panose="020B0604030504040204" pitchFamily="50" charset="-128"/>
                          <a:ea typeface="メイリオ" panose="020B0604030504040204" pitchFamily="50" charset="-128"/>
                        </a:rPr>
                        <a:t>（世界）コロナ禍以降、サプライチェーン再編と合わせて、各国が半導体・重要製造業への投資とスマートファクトリー化を加速。</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buNone/>
                      </a:pPr>
                      <a:r>
                        <a:rPr lang="en-US" altLang="ja-JP" sz="700" b="1" dirty="0">
                          <a:solidFill>
                            <a:schemeClr val="tx1">
                              <a:lumMod val="75000"/>
                              <a:lumOff val="25000"/>
                            </a:schemeClr>
                          </a:solidFill>
                          <a:latin typeface="メイリオ" panose="020B0604030504040204" pitchFamily="50" charset="-128"/>
                          <a:ea typeface="メイリオ" panose="020B0604030504040204" pitchFamily="50" charset="-128"/>
                        </a:rPr>
                        <a:t>Sony Semiconductor Manufacturing</a:t>
                      </a:r>
                      <a:r>
                        <a:rPr lang="ja-JP" altLang="en-US" sz="700" b="1" dirty="0">
                          <a:solidFill>
                            <a:schemeClr val="tx1">
                              <a:lumMod val="75000"/>
                              <a:lumOff val="25000"/>
                            </a:schemeClr>
                          </a:solidFill>
                          <a:latin typeface="メイリオ" panose="020B0604030504040204" pitchFamily="50" charset="-128"/>
                          <a:ea typeface="メイリオ" panose="020B0604030504040204" pitchFamily="50" charset="-128"/>
                        </a:rPr>
                        <a:t>（</a:t>
                      </a:r>
                      <a:r>
                        <a:rPr lang="en-US" altLang="ja-JP" sz="700" b="1" dirty="0">
                          <a:solidFill>
                            <a:schemeClr val="tx1">
                              <a:lumMod val="75000"/>
                              <a:lumOff val="25000"/>
                            </a:schemeClr>
                          </a:solidFill>
                          <a:latin typeface="メイリオ" panose="020B0604030504040204" pitchFamily="50" charset="-128"/>
                          <a:ea typeface="メイリオ" panose="020B0604030504040204" pitchFamily="50" charset="-128"/>
                        </a:rPr>
                        <a:t>SCK</a:t>
                      </a:r>
                      <a:r>
                        <a:rPr lang="ja-JP" altLang="en-US" sz="700" b="1" dirty="0">
                          <a:solidFill>
                            <a:schemeClr val="tx1">
                              <a:lumMod val="75000"/>
                              <a:lumOff val="25000"/>
                            </a:schemeClr>
                          </a:solidFill>
                          <a:latin typeface="メイリオ" panose="020B0604030504040204" pitchFamily="50" charset="-128"/>
                          <a:ea typeface="メイリオ" panose="020B0604030504040204" pitchFamily="50" charset="-128"/>
                        </a:rPr>
                        <a:t>）の長崎 </a:t>
                      </a:r>
                      <a:r>
                        <a:rPr lang="en-US" altLang="ja-JP" sz="700" b="1" dirty="0">
                          <a:solidFill>
                            <a:schemeClr val="tx1">
                              <a:lumMod val="75000"/>
                              <a:lumOff val="25000"/>
                            </a:schemeClr>
                          </a:solidFill>
                          <a:latin typeface="メイリオ" panose="020B0604030504040204" pitchFamily="50" charset="-128"/>
                          <a:ea typeface="メイリオ" panose="020B0604030504040204" pitchFamily="50" charset="-128"/>
                        </a:rPr>
                        <a:t>TEC </a:t>
                      </a:r>
                      <a:r>
                        <a:rPr lang="ja-JP" altLang="en-US" sz="700" b="1" dirty="0">
                          <a:solidFill>
                            <a:schemeClr val="tx1">
                              <a:lumMod val="75000"/>
                              <a:lumOff val="25000"/>
                            </a:schemeClr>
                          </a:solidFill>
                          <a:latin typeface="メイリオ" panose="020B0604030504040204" pitchFamily="50" charset="-128"/>
                          <a:ea typeface="メイリオ" panose="020B0604030504040204" pitchFamily="50" charset="-128"/>
                        </a:rPr>
                        <a:t>にて新工場 “</a:t>
                      </a:r>
                      <a:r>
                        <a:rPr lang="en-US" altLang="ja-JP" sz="700" b="1" dirty="0">
                          <a:solidFill>
                            <a:schemeClr val="tx1">
                              <a:lumMod val="75000"/>
                              <a:lumOff val="25000"/>
                            </a:schemeClr>
                          </a:solidFill>
                          <a:latin typeface="メイリオ" panose="020B0604030504040204" pitchFamily="50" charset="-128"/>
                          <a:ea typeface="メイリオ" panose="020B0604030504040204" pitchFamily="50" charset="-128"/>
                        </a:rPr>
                        <a:t>Fab5” </a:t>
                      </a:r>
                      <a:r>
                        <a:rPr lang="ja-JP" altLang="en-US" sz="700" b="1" dirty="0">
                          <a:solidFill>
                            <a:schemeClr val="tx1">
                              <a:lumMod val="75000"/>
                              <a:lumOff val="25000"/>
                            </a:schemeClr>
                          </a:solidFill>
                          <a:latin typeface="メイリオ" panose="020B0604030504040204" pitchFamily="50" charset="-128"/>
                          <a:ea typeface="メイリオ" panose="020B0604030504040204" pitchFamily="50" charset="-128"/>
                        </a:rPr>
                        <a:t>が完成</a:t>
                      </a:r>
                      <a:r>
                        <a:rPr lang="ja-JP" altLang="en-US" sz="700" dirty="0">
                          <a:solidFill>
                            <a:schemeClr val="tx1">
                              <a:lumMod val="75000"/>
                              <a:lumOff val="25000"/>
                            </a:schemeClr>
                          </a:solidFill>
                          <a:latin typeface="メイリオ" panose="020B0604030504040204" pitchFamily="50" charset="-128"/>
                          <a:ea typeface="メイリオ" panose="020B0604030504040204" pitchFamily="50" charset="-128"/>
                        </a:rPr>
                        <a:t>。</a:t>
                      </a:r>
                      <a:r>
                        <a:rPr lang="en-US" altLang="ja-JP" sz="700" dirty="0">
                          <a:solidFill>
                            <a:schemeClr val="tx1">
                              <a:lumMod val="75000"/>
                              <a:lumOff val="25000"/>
                            </a:schemeClr>
                          </a:solidFill>
                          <a:latin typeface="メイリオ" panose="020B0604030504040204" pitchFamily="50" charset="-128"/>
                          <a:ea typeface="メイリオ" panose="020B0604030504040204" pitchFamily="50" charset="-128"/>
                        </a:rPr>
                        <a:t>CMOS</a:t>
                      </a:r>
                      <a:r>
                        <a:rPr lang="ja-JP" altLang="en-US" sz="700" dirty="0">
                          <a:solidFill>
                            <a:schemeClr val="tx1">
                              <a:lumMod val="75000"/>
                              <a:lumOff val="25000"/>
                            </a:schemeClr>
                          </a:solidFill>
                          <a:latin typeface="メイリオ" panose="020B0604030504040204" pitchFamily="50" charset="-128"/>
                          <a:ea typeface="メイリオ" panose="020B0604030504040204" pitchFamily="50" charset="-128"/>
                        </a:rPr>
                        <a:t>イメージセンサー（</a:t>
                      </a:r>
                      <a:r>
                        <a:rPr lang="en-US" altLang="ja-JP" sz="700" dirty="0">
                          <a:solidFill>
                            <a:schemeClr val="tx1">
                              <a:lumMod val="75000"/>
                              <a:lumOff val="25000"/>
                            </a:schemeClr>
                          </a:solidFill>
                          <a:latin typeface="メイリオ" panose="020B0604030504040204" pitchFamily="50" charset="-128"/>
                          <a:ea typeface="メイリオ" panose="020B0604030504040204" pitchFamily="50" charset="-128"/>
                        </a:rPr>
                        <a:t>CIS</a:t>
                      </a:r>
                      <a:r>
                        <a:rPr lang="ja-JP" altLang="en-US" sz="700" dirty="0">
                          <a:solidFill>
                            <a:schemeClr val="tx1">
                              <a:lumMod val="75000"/>
                              <a:lumOff val="25000"/>
                            </a:schemeClr>
                          </a:solidFill>
                          <a:latin typeface="メイリオ" panose="020B0604030504040204" pitchFamily="50" charset="-128"/>
                          <a:ea typeface="メイリオ" panose="020B0604030504040204" pitchFamily="50" charset="-128"/>
                        </a:rPr>
                        <a:t>）の生産能力拡大を目的とした先端</a:t>
                      </a:r>
                      <a:r>
                        <a:rPr lang="en-US" altLang="ja-JP" sz="700" dirty="0">
                          <a:solidFill>
                            <a:schemeClr val="tx1">
                              <a:lumMod val="75000"/>
                              <a:lumOff val="25000"/>
                            </a:schemeClr>
                          </a:solidFill>
                          <a:latin typeface="メイリオ" panose="020B0604030504040204" pitchFamily="50" charset="-128"/>
                          <a:ea typeface="メイリオ" panose="020B0604030504040204" pitchFamily="50" charset="-128"/>
                        </a:rPr>
                        <a:t>Fab</a:t>
                      </a:r>
                      <a:r>
                        <a:rPr lang="ja-JP" altLang="en-US" sz="700" dirty="0">
                          <a:solidFill>
                            <a:schemeClr val="tx1">
                              <a:lumMod val="75000"/>
                              <a:lumOff val="25000"/>
                            </a:schemeClr>
                          </a:solidFill>
                          <a:latin typeface="メイリオ" panose="020B0604030504040204" pitchFamily="50" charset="-128"/>
                          <a:ea typeface="メイリオ" panose="020B0604030504040204" pitchFamily="50" charset="-128"/>
                        </a:rPr>
                        <a:t>として紹介される。</a:t>
                      </a:r>
                      <a:r>
                        <a:rPr lang="en-US" altLang="ja-JP" sz="700" dirty="0">
                          <a:solidFill>
                            <a:schemeClr val="tx1">
                              <a:lumMod val="75000"/>
                              <a:lumOff val="25000"/>
                            </a:schemeClr>
                          </a:solidFill>
                          <a:latin typeface="メイリオ" panose="020B0604030504040204" pitchFamily="50" charset="-128"/>
                          <a:ea typeface="メイリオ" panose="020B0604030504040204" pitchFamily="50" charset="-128"/>
                          <a:hlinkClick r:id="rId5">
                            <a:extLst>
                              <a:ext uri="{A12FA001-AC4F-418D-AE19-62706E023703}">
                                <ahyp:hlinkClr xmlns:ahyp="http://schemas.microsoft.com/office/drawing/2018/hyperlinkcolor" val="tx"/>
                              </a:ext>
                            </a:extLst>
                          </a:hlinkClick>
                        </a:rPr>
                        <a:t>yic-electronics.com+3</a:t>
                      </a:r>
                      <a:r>
                        <a:rPr lang="ja-JP" altLang="en-US" sz="700" dirty="0">
                          <a:solidFill>
                            <a:schemeClr val="tx1">
                              <a:lumMod val="75000"/>
                              <a:lumOff val="25000"/>
                            </a:schemeClr>
                          </a:solidFill>
                          <a:latin typeface="メイリオ" panose="020B0604030504040204" pitchFamily="50" charset="-128"/>
                          <a:ea typeface="メイリオ" panose="020B0604030504040204" pitchFamily="50" charset="-128"/>
                          <a:hlinkClick r:id="rId5">
                            <a:extLst>
                              <a:ext uri="{A12FA001-AC4F-418D-AE19-62706E023703}">
                                <ahyp:hlinkClr xmlns:ahyp="http://schemas.microsoft.com/office/drawing/2018/hyperlinkcolor" val="tx"/>
                              </a:ext>
                            </a:extLst>
                          </a:hlinkClick>
                        </a:rPr>
                        <a:t>ソニーセミコン</a:t>
                      </a:r>
                      <a:r>
                        <a:rPr lang="en-US" altLang="ja-JP" sz="700" dirty="0">
                          <a:solidFill>
                            <a:schemeClr val="tx1">
                              <a:lumMod val="75000"/>
                              <a:lumOff val="25000"/>
                            </a:schemeClr>
                          </a:solidFill>
                          <a:latin typeface="メイリオ" panose="020B0604030504040204" pitchFamily="50" charset="-128"/>
                          <a:ea typeface="メイリオ" panose="020B0604030504040204" pitchFamily="50" charset="-128"/>
                          <a:hlinkClick r:id="rId5">
                            <a:extLst>
                              <a:ext uri="{A12FA001-AC4F-418D-AE19-62706E023703}">
                                <ahyp:hlinkClr xmlns:ahyp="http://schemas.microsoft.com/office/drawing/2018/hyperlinkcolor" val="tx"/>
                              </a:ext>
                            </a:extLst>
                          </a:hlinkClick>
                        </a:rPr>
                        <a:t>+3</a:t>
                      </a:r>
                      <a:r>
                        <a:rPr lang="ja-JP" altLang="en-US" sz="700" dirty="0">
                          <a:solidFill>
                            <a:schemeClr val="tx1">
                              <a:lumMod val="75000"/>
                              <a:lumOff val="25000"/>
                            </a:schemeClr>
                          </a:solidFill>
                          <a:latin typeface="メイリオ" panose="020B0604030504040204" pitchFamily="50" charset="-128"/>
                          <a:ea typeface="メイリオ" panose="020B0604030504040204" pitchFamily="50" charset="-128"/>
                          <a:hlinkClick r:id="rId5">
                            <a:extLst>
                              <a:ext uri="{A12FA001-AC4F-418D-AE19-62706E023703}">
                                <ahyp:hlinkClr xmlns:ahyp="http://schemas.microsoft.com/office/drawing/2018/hyperlinkcolor" val="tx"/>
                              </a:ext>
                            </a:extLst>
                          </a:hlinkClick>
                        </a:rPr>
                        <a:t>ソニーセミコン</a:t>
                      </a:r>
                      <a:r>
                        <a:rPr lang="en-US" altLang="ja-JP" sz="700" dirty="0">
                          <a:solidFill>
                            <a:schemeClr val="tx1">
                              <a:lumMod val="75000"/>
                              <a:lumOff val="25000"/>
                            </a:schemeClr>
                          </a:solidFill>
                          <a:latin typeface="メイリオ" panose="020B0604030504040204" pitchFamily="50" charset="-128"/>
                          <a:ea typeface="メイリオ" panose="020B0604030504040204" pitchFamily="50" charset="-128"/>
                          <a:hlinkClick r:id="rId5">
                            <a:extLst>
                              <a:ext uri="{A12FA001-AC4F-418D-AE19-62706E023703}">
                                <ahyp:hlinkClr xmlns:ahyp="http://schemas.microsoft.com/office/drawing/2018/hyperlinkcolor" val="tx"/>
                              </a:ext>
                            </a:extLst>
                          </a:hlinkClick>
                        </a:rPr>
                        <a:t>+3</a:t>
                      </a:r>
                      <a:endParaRPr lang="ja-JP" altLang="en-US" sz="700" dirty="0">
                        <a:solidFill>
                          <a:schemeClr val="tx1">
                            <a:lumMod val="75000"/>
                            <a:lumOff val="25000"/>
                          </a:schemeClr>
                        </a:solidFill>
                        <a:latin typeface="メイリオ" panose="020B0604030504040204" pitchFamily="50" charset="-128"/>
                        <a:ea typeface="メイリオ" panose="020B0604030504040204" pitchFamily="50" charset="-128"/>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buNone/>
                      </a:pPr>
                      <a:r>
                        <a:rPr lang="en-US" altLang="ja-JP" sz="700">
                          <a:solidFill>
                            <a:schemeClr val="tx1">
                              <a:lumMod val="75000"/>
                              <a:lumOff val="25000"/>
                            </a:schemeClr>
                          </a:solidFill>
                          <a:latin typeface="メイリオ" panose="020B0604030504040204" pitchFamily="50" charset="-128"/>
                          <a:ea typeface="メイリオ" panose="020B0604030504040204" pitchFamily="50" charset="-128"/>
                        </a:rPr>
                        <a:t>SSM </a:t>
                      </a:r>
                      <a:r>
                        <a:rPr lang="ja-JP" altLang="en-US" sz="700">
                          <a:solidFill>
                            <a:schemeClr val="tx1">
                              <a:lumMod val="75000"/>
                              <a:lumOff val="25000"/>
                            </a:schemeClr>
                          </a:solidFill>
                          <a:latin typeface="メイリオ" panose="020B0604030504040204" pitchFamily="50" charset="-128"/>
                          <a:ea typeface="メイリオ" panose="020B0604030504040204" pitchFamily="50" charset="-128"/>
                        </a:rPr>
                        <a:t>が </a:t>
                      </a:r>
                      <a:r>
                        <a:rPr lang="en-US" altLang="ja-JP" sz="700" b="1">
                          <a:solidFill>
                            <a:schemeClr val="tx1">
                              <a:lumMod val="75000"/>
                              <a:lumOff val="25000"/>
                            </a:schemeClr>
                          </a:solidFill>
                          <a:latin typeface="メイリオ" panose="020B0604030504040204" pitchFamily="50" charset="-128"/>
                          <a:ea typeface="メイリオ" panose="020B0604030504040204" pitchFamily="50" charset="-128"/>
                        </a:rPr>
                        <a:t>CIS</a:t>
                      </a:r>
                      <a:r>
                        <a:rPr lang="ja-JP" altLang="en-US" sz="700" b="1">
                          <a:solidFill>
                            <a:schemeClr val="tx1">
                              <a:lumMod val="75000"/>
                              <a:lumOff val="25000"/>
                            </a:schemeClr>
                          </a:solidFill>
                          <a:latin typeface="メイリオ" panose="020B0604030504040204" pitchFamily="50" charset="-128"/>
                          <a:ea typeface="メイリオ" panose="020B0604030504040204" pitchFamily="50" charset="-128"/>
                        </a:rPr>
                        <a:t>量産の中核 </a:t>
                      </a:r>
                      <a:r>
                        <a:rPr lang="en-US" altLang="ja-JP" sz="700" b="1">
                          <a:solidFill>
                            <a:schemeClr val="tx1">
                              <a:lumMod val="75000"/>
                              <a:lumOff val="25000"/>
                            </a:schemeClr>
                          </a:solidFill>
                          <a:latin typeface="メイリオ" panose="020B0604030504040204" pitchFamily="50" charset="-128"/>
                          <a:ea typeface="メイリオ" panose="020B0604030504040204" pitchFamily="50" charset="-128"/>
                        </a:rPr>
                        <a:t>Fab5</a:t>
                      </a:r>
                      <a:r>
                        <a:rPr lang="ja-JP" altLang="en-US" sz="700">
                          <a:solidFill>
                            <a:schemeClr val="tx1">
                              <a:lumMod val="75000"/>
                              <a:lumOff val="25000"/>
                            </a:schemeClr>
                          </a:solidFill>
                          <a:latin typeface="メイリオ" panose="020B0604030504040204" pitchFamily="50" charset="-128"/>
                          <a:ea typeface="メイリオ" panose="020B0604030504040204" pitchFamily="50" charset="-128"/>
                        </a:rPr>
                        <a:t> を立ち上げ、ハード面では世界トップレベルの生産基盤を整備したタイミング。</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967333703"/>
                  </a:ext>
                </a:extLst>
              </a:tr>
              <a:tr h="143944">
                <a:tc>
                  <a:txBody>
                    <a:bodyPr/>
                    <a:lstStyle/>
                    <a:p>
                      <a:pPr>
                        <a:buNone/>
                      </a:pPr>
                      <a:r>
                        <a:rPr lang="en-US" altLang="ja-JP" sz="700" b="1">
                          <a:solidFill>
                            <a:schemeClr val="tx1">
                              <a:lumMod val="75000"/>
                              <a:lumOff val="25000"/>
                            </a:schemeClr>
                          </a:solidFill>
                          <a:latin typeface="メイリオ" panose="020B0604030504040204" pitchFamily="50" charset="-128"/>
                          <a:ea typeface="メイリオ" panose="020B0604030504040204" pitchFamily="50" charset="-128"/>
                        </a:rPr>
                        <a:t>2022–2023</a:t>
                      </a:r>
                      <a:endParaRPr lang="ja-JP" altLang="en-US" sz="700">
                        <a:solidFill>
                          <a:schemeClr val="tx1">
                            <a:lumMod val="75000"/>
                            <a:lumOff val="25000"/>
                          </a:schemeClr>
                        </a:solidFill>
                        <a:latin typeface="メイリオ" panose="020B0604030504040204" pitchFamily="50" charset="-128"/>
                        <a:ea typeface="メイリオ" panose="020B0604030504040204" pitchFamily="50" charset="-128"/>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buNone/>
                      </a:pPr>
                      <a:r>
                        <a:rPr lang="ja-JP" altLang="en-US" sz="700">
                          <a:solidFill>
                            <a:schemeClr val="tx1">
                              <a:lumMod val="75000"/>
                              <a:lumOff val="25000"/>
                            </a:schemeClr>
                          </a:solidFill>
                          <a:latin typeface="メイリオ" panose="020B0604030504040204" pitchFamily="50" charset="-128"/>
                          <a:ea typeface="メイリオ" panose="020B0604030504040204" pitchFamily="50" charset="-128"/>
                        </a:rPr>
                        <a:t>世界的に「スマートファクトリー」「デジタルツイン」「</a:t>
                      </a:r>
                      <a:r>
                        <a:rPr lang="en-US" altLang="ja-JP" sz="700">
                          <a:solidFill>
                            <a:schemeClr val="tx1">
                              <a:lumMod val="75000"/>
                              <a:lumOff val="25000"/>
                            </a:schemeClr>
                          </a:solidFill>
                          <a:latin typeface="メイリオ" panose="020B0604030504040204" pitchFamily="50" charset="-128"/>
                          <a:ea typeface="メイリオ" panose="020B0604030504040204" pitchFamily="50" charset="-128"/>
                        </a:rPr>
                        <a:t>AI</a:t>
                      </a:r>
                      <a:r>
                        <a:rPr lang="ja-JP" altLang="en-US" sz="700">
                          <a:solidFill>
                            <a:schemeClr val="tx1">
                              <a:lumMod val="75000"/>
                              <a:lumOff val="25000"/>
                            </a:schemeClr>
                          </a:solidFill>
                          <a:latin typeface="メイリオ" panose="020B0604030504040204" pitchFamily="50" charset="-128"/>
                          <a:ea typeface="メイリオ" panose="020B0604030504040204" pitchFamily="50" charset="-128"/>
                        </a:rPr>
                        <a:t>最適化」が </a:t>
                      </a:r>
                      <a:r>
                        <a:rPr lang="en-US" altLang="ja-JP" sz="700">
                          <a:solidFill>
                            <a:schemeClr val="tx1">
                              <a:lumMod val="75000"/>
                              <a:lumOff val="25000"/>
                            </a:schemeClr>
                          </a:solidFill>
                          <a:latin typeface="メイリオ" panose="020B0604030504040204" pitchFamily="50" charset="-128"/>
                          <a:ea typeface="メイリオ" panose="020B0604030504040204" pitchFamily="50" charset="-128"/>
                        </a:rPr>
                        <a:t>Industry 4.0 </a:t>
                      </a:r>
                      <a:r>
                        <a:rPr lang="ja-JP" altLang="en-US" sz="700">
                          <a:solidFill>
                            <a:schemeClr val="tx1">
                              <a:lumMod val="75000"/>
                              <a:lumOff val="25000"/>
                            </a:schemeClr>
                          </a:solidFill>
                          <a:latin typeface="メイリオ" panose="020B0604030504040204" pitchFamily="50" charset="-128"/>
                          <a:ea typeface="メイリオ" panose="020B0604030504040204" pitchFamily="50" charset="-128"/>
                        </a:rPr>
                        <a:t>のキーワードとして定着。</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buNone/>
                      </a:pPr>
                      <a:r>
                        <a:rPr lang="en-US" altLang="ja-JP" sz="700" b="1">
                          <a:solidFill>
                            <a:schemeClr val="tx1">
                              <a:lumMod val="75000"/>
                              <a:lumOff val="25000"/>
                            </a:schemeClr>
                          </a:solidFill>
                          <a:latin typeface="メイリオ" panose="020B0604030504040204" pitchFamily="50" charset="-128"/>
                          <a:ea typeface="メイリオ" panose="020B0604030504040204" pitchFamily="50" charset="-128"/>
                        </a:rPr>
                        <a:t>Intel </a:t>
                      </a:r>
                      <a:r>
                        <a:rPr lang="ja-JP" altLang="en-US" sz="700" b="1">
                          <a:solidFill>
                            <a:schemeClr val="tx1">
                              <a:lumMod val="75000"/>
                              <a:lumOff val="25000"/>
                            </a:schemeClr>
                          </a:solidFill>
                          <a:latin typeface="メイリオ" panose="020B0604030504040204" pitchFamily="50" charset="-128"/>
                          <a:ea typeface="メイリオ" panose="020B0604030504040204" pitchFamily="50" charset="-128"/>
                        </a:rPr>
                        <a:t>と </a:t>
                      </a:r>
                      <a:r>
                        <a:rPr lang="en-US" altLang="ja-JP" sz="700" b="1">
                          <a:solidFill>
                            <a:schemeClr val="tx1">
                              <a:lumMod val="75000"/>
                              <a:lumOff val="25000"/>
                            </a:schemeClr>
                          </a:solidFill>
                          <a:latin typeface="メイリオ" panose="020B0604030504040204" pitchFamily="50" charset="-128"/>
                          <a:ea typeface="メイリオ" panose="020B0604030504040204" pitchFamily="50" charset="-128"/>
                        </a:rPr>
                        <a:t>Sony Semiconductor Manufacturing </a:t>
                      </a:r>
                      <a:r>
                        <a:rPr lang="ja-JP" altLang="en-US" sz="700" b="1">
                          <a:solidFill>
                            <a:schemeClr val="tx1">
                              <a:lumMod val="75000"/>
                              <a:lumOff val="25000"/>
                            </a:schemeClr>
                          </a:solidFill>
                          <a:latin typeface="メイリオ" panose="020B0604030504040204" pitchFamily="50" charset="-128"/>
                          <a:ea typeface="メイリオ" panose="020B0604030504040204" pitchFamily="50" charset="-128"/>
                        </a:rPr>
                        <a:t>がデジタルツイン技術のケーススタディを共同公開</a:t>
                      </a:r>
                      <a:r>
                        <a:rPr lang="ja-JP" altLang="en-US" sz="700">
                          <a:solidFill>
                            <a:schemeClr val="tx1">
                              <a:lumMod val="75000"/>
                              <a:lumOff val="25000"/>
                            </a:schemeClr>
                          </a:solidFill>
                          <a:latin typeface="メイリオ" panose="020B0604030504040204" pitchFamily="50" charset="-128"/>
                          <a:ea typeface="メイリオ" panose="020B0604030504040204" pitchFamily="50" charset="-128"/>
                        </a:rPr>
                        <a:t>。</a:t>
                      </a:r>
                      <a:r>
                        <a:rPr lang="en-US" altLang="ja-JP" sz="700">
                          <a:solidFill>
                            <a:schemeClr val="tx1">
                              <a:lumMod val="75000"/>
                              <a:lumOff val="25000"/>
                            </a:schemeClr>
                          </a:solidFill>
                          <a:latin typeface="メイリオ" panose="020B0604030504040204" pitchFamily="50" charset="-128"/>
                          <a:ea typeface="メイリオ" panose="020B0604030504040204" pitchFamily="50" charset="-128"/>
                        </a:rPr>
                        <a:t>Intel® AFS Digital Twin </a:t>
                      </a:r>
                      <a:r>
                        <a:rPr lang="ja-JP" altLang="en-US" sz="700">
                          <a:solidFill>
                            <a:schemeClr val="tx1">
                              <a:lumMod val="75000"/>
                              <a:lumOff val="25000"/>
                            </a:schemeClr>
                          </a:solidFill>
                          <a:latin typeface="メイリオ" panose="020B0604030504040204" pitchFamily="50" charset="-128"/>
                          <a:ea typeface="メイリオ" panose="020B0604030504040204" pitchFamily="50" charset="-128"/>
                        </a:rPr>
                        <a:t>を用いて、</a:t>
                      </a:r>
                      <a:r>
                        <a:rPr lang="en-US" altLang="ja-JP" sz="700">
                          <a:solidFill>
                            <a:schemeClr val="tx1">
                              <a:lumMod val="75000"/>
                              <a:lumOff val="25000"/>
                            </a:schemeClr>
                          </a:solidFill>
                          <a:latin typeface="メイリオ" panose="020B0604030504040204" pitchFamily="50" charset="-128"/>
                          <a:ea typeface="メイリオ" panose="020B0604030504040204" pitchFamily="50" charset="-128"/>
                        </a:rPr>
                        <a:t>SSM </a:t>
                      </a:r>
                      <a:r>
                        <a:rPr lang="ja-JP" altLang="en-US" sz="700">
                          <a:solidFill>
                            <a:schemeClr val="tx1">
                              <a:lumMod val="75000"/>
                              <a:lumOff val="25000"/>
                            </a:schemeClr>
                          </a:solidFill>
                          <a:latin typeface="メイリオ" panose="020B0604030504040204" pitchFamily="50" charset="-128"/>
                          <a:ea typeface="メイリオ" panose="020B0604030504040204" pitchFamily="50" charset="-128"/>
                        </a:rPr>
                        <a:t>の工場で運用改善を図った事例が紹介される。</a:t>
                      </a:r>
                      <a:r>
                        <a:rPr lang="en-US" altLang="ja-JP" sz="700">
                          <a:solidFill>
                            <a:schemeClr val="tx1">
                              <a:lumMod val="75000"/>
                              <a:lumOff val="25000"/>
                            </a:schemeClr>
                          </a:solidFill>
                          <a:latin typeface="メイリオ" panose="020B0604030504040204" pitchFamily="50" charset="-128"/>
                          <a:ea typeface="メイリオ" panose="020B0604030504040204" pitchFamily="50" charset="-128"/>
                          <a:hlinkClick r:id="rId6">
                            <a:extLst>
                              <a:ext uri="{A12FA001-AC4F-418D-AE19-62706E023703}">
                                <ahyp:hlinkClr xmlns:ahyp="http://schemas.microsoft.com/office/drawing/2018/hyperlinkcolor" val="tx"/>
                              </a:ext>
                            </a:extLst>
                          </a:hlinkClick>
                        </a:rPr>
                        <a:t>Intel+1</a:t>
                      </a:r>
                      <a:endParaRPr lang="ja-JP" altLang="en-US" sz="700">
                        <a:solidFill>
                          <a:schemeClr val="tx1">
                            <a:lumMod val="75000"/>
                            <a:lumOff val="25000"/>
                          </a:schemeClr>
                        </a:solidFill>
                        <a:latin typeface="メイリオ" panose="020B0604030504040204" pitchFamily="50" charset="-128"/>
                        <a:ea typeface="メイリオ" panose="020B0604030504040204" pitchFamily="50" charset="-128"/>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buNone/>
                      </a:pPr>
                      <a:r>
                        <a:rPr lang="en-US" altLang="ja-JP" sz="700" dirty="0">
                          <a:solidFill>
                            <a:schemeClr val="tx1">
                              <a:lumMod val="75000"/>
                              <a:lumOff val="25000"/>
                            </a:schemeClr>
                          </a:solidFill>
                          <a:latin typeface="メイリオ" panose="020B0604030504040204" pitchFamily="50" charset="-128"/>
                          <a:ea typeface="メイリオ" panose="020B0604030504040204" pitchFamily="50" charset="-128"/>
                        </a:rPr>
                        <a:t>SSM </a:t>
                      </a:r>
                      <a:r>
                        <a:rPr lang="ja-JP" altLang="en-US" sz="700" dirty="0">
                          <a:solidFill>
                            <a:schemeClr val="tx1">
                              <a:lumMod val="75000"/>
                              <a:lumOff val="25000"/>
                            </a:schemeClr>
                          </a:solidFill>
                          <a:latin typeface="メイリオ" panose="020B0604030504040204" pitchFamily="50" charset="-128"/>
                          <a:ea typeface="メイリオ" panose="020B0604030504040204" pitchFamily="50" charset="-128"/>
                        </a:rPr>
                        <a:t>は </a:t>
                      </a:r>
                      <a:r>
                        <a:rPr lang="ja-JP" altLang="en-US" sz="700" b="1" dirty="0">
                          <a:solidFill>
                            <a:schemeClr val="tx1">
                              <a:lumMod val="75000"/>
                              <a:lumOff val="25000"/>
                            </a:schemeClr>
                          </a:solidFill>
                          <a:latin typeface="メイリオ" panose="020B0604030504040204" pitchFamily="50" charset="-128"/>
                          <a:ea typeface="メイリオ" panose="020B0604030504040204" pitchFamily="50" charset="-128"/>
                        </a:rPr>
                        <a:t>大手ロジックメーカー（</a:t>
                      </a:r>
                      <a:r>
                        <a:rPr lang="en-US" altLang="ja-JP" sz="700" b="1" dirty="0">
                          <a:solidFill>
                            <a:schemeClr val="tx1">
                              <a:lumMod val="75000"/>
                              <a:lumOff val="25000"/>
                            </a:schemeClr>
                          </a:solidFill>
                          <a:latin typeface="メイリオ" panose="020B0604030504040204" pitchFamily="50" charset="-128"/>
                          <a:ea typeface="メイリオ" panose="020B0604030504040204" pitchFamily="50" charset="-128"/>
                        </a:rPr>
                        <a:t>Intel</a:t>
                      </a:r>
                      <a:r>
                        <a:rPr lang="ja-JP" altLang="en-US" sz="700" b="1" dirty="0">
                          <a:solidFill>
                            <a:schemeClr val="tx1">
                              <a:lumMod val="75000"/>
                              <a:lumOff val="25000"/>
                            </a:schemeClr>
                          </a:solidFill>
                          <a:latin typeface="メイリオ" panose="020B0604030504040204" pitchFamily="50" charset="-128"/>
                          <a:ea typeface="メイリオ" panose="020B0604030504040204" pitchFamily="50" charset="-128"/>
                        </a:rPr>
                        <a:t>）の工場技術を取り込んだデジタルツイン実証</a:t>
                      </a:r>
                      <a:r>
                        <a:rPr lang="ja-JP" altLang="en-US" sz="700" dirty="0">
                          <a:solidFill>
                            <a:schemeClr val="tx1">
                              <a:lumMod val="75000"/>
                              <a:lumOff val="25000"/>
                            </a:schemeClr>
                          </a:solidFill>
                          <a:latin typeface="メイリオ" panose="020B0604030504040204" pitchFamily="50" charset="-128"/>
                          <a:ea typeface="メイリオ" panose="020B0604030504040204" pitchFamily="50" charset="-128"/>
                        </a:rPr>
                        <a:t>を行い、「工場全体のシミュレーション＋最適化」という世界の流れに乗り始める。</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606022284"/>
                  </a:ext>
                </a:extLst>
              </a:tr>
              <a:tr h="157529">
                <a:tc>
                  <a:txBody>
                    <a:bodyPr/>
                    <a:lstStyle/>
                    <a:p>
                      <a:pPr>
                        <a:buNone/>
                      </a:pPr>
                      <a:r>
                        <a:rPr lang="en-US" altLang="ja-JP" sz="700" b="1">
                          <a:solidFill>
                            <a:schemeClr val="tx1">
                              <a:lumMod val="75000"/>
                              <a:lumOff val="25000"/>
                            </a:schemeClr>
                          </a:solidFill>
                          <a:latin typeface="メイリオ" panose="020B0604030504040204" pitchFamily="50" charset="-128"/>
                          <a:ea typeface="メイリオ" panose="020B0604030504040204" pitchFamily="50" charset="-128"/>
                        </a:rPr>
                        <a:t>2023–2024</a:t>
                      </a:r>
                      <a:endParaRPr lang="ja-JP" altLang="en-US" sz="700">
                        <a:solidFill>
                          <a:schemeClr val="tx1">
                            <a:lumMod val="75000"/>
                            <a:lumOff val="25000"/>
                          </a:schemeClr>
                        </a:solidFill>
                        <a:latin typeface="メイリオ" panose="020B0604030504040204" pitchFamily="50" charset="-128"/>
                        <a:ea typeface="メイリオ" panose="020B0604030504040204" pitchFamily="50" charset="-128"/>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buNone/>
                      </a:pPr>
                      <a:r>
                        <a:rPr lang="ja-JP" altLang="en-US" sz="700">
                          <a:solidFill>
                            <a:schemeClr val="tx1">
                              <a:lumMod val="75000"/>
                              <a:lumOff val="25000"/>
                            </a:schemeClr>
                          </a:solidFill>
                          <a:latin typeface="メイリオ" panose="020B0604030504040204" pitchFamily="50" charset="-128"/>
                          <a:ea typeface="メイリオ" panose="020B0604030504040204" pitchFamily="50" charset="-128"/>
                        </a:rPr>
                        <a:t>国際ロボット連盟（</a:t>
                      </a:r>
                      <a:r>
                        <a:rPr lang="en-US" sz="700">
                          <a:solidFill>
                            <a:schemeClr val="tx1">
                              <a:lumMod val="75000"/>
                              <a:lumOff val="25000"/>
                            </a:schemeClr>
                          </a:solidFill>
                          <a:latin typeface="メイリオ" panose="020B0604030504040204" pitchFamily="50" charset="-128"/>
                          <a:ea typeface="メイリオ" panose="020B0604030504040204" pitchFamily="50" charset="-128"/>
                        </a:rPr>
                        <a:t>IFR）</a:t>
                      </a:r>
                      <a:r>
                        <a:rPr lang="ja-JP" altLang="en-US" sz="700">
                          <a:solidFill>
                            <a:schemeClr val="tx1">
                              <a:lumMod val="75000"/>
                              <a:lumOff val="25000"/>
                            </a:schemeClr>
                          </a:solidFill>
                          <a:latin typeface="メイリオ" panose="020B0604030504040204" pitchFamily="50" charset="-128"/>
                          <a:ea typeface="メイリオ" panose="020B0604030504040204" pitchFamily="50" charset="-128"/>
                        </a:rPr>
                        <a:t>のレポートで、</a:t>
                      </a:r>
                      <a:r>
                        <a:rPr lang="ja-JP" altLang="en-US" sz="700" b="1">
                          <a:solidFill>
                            <a:schemeClr val="tx1">
                              <a:lumMod val="75000"/>
                              <a:lumOff val="25000"/>
                            </a:schemeClr>
                          </a:solidFill>
                          <a:latin typeface="メイリオ" panose="020B0604030504040204" pitchFamily="50" charset="-128"/>
                          <a:ea typeface="メイリオ" panose="020B0604030504040204" pitchFamily="50" charset="-128"/>
                        </a:rPr>
                        <a:t>韓国がロボット密度世界</a:t>
                      </a:r>
                      <a:r>
                        <a:rPr lang="en-US" altLang="ja-JP" sz="700" b="1">
                          <a:solidFill>
                            <a:schemeClr val="tx1">
                              <a:lumMod val="75000"/>
                              <a:lumOff val="25000"/>
                            </a:schemeClr>
                          </a:solidFill>
                          <a:latin typeface="メイリオ" panose="020B0604030504040204" pitchFamily="50" charset="-128"/>
                          <a:ea typeface="メイリオ" panose="020B0604030504040204" pitchFamily="50" charset="-128"/>
                        </a:rPr>
                        <a:t>1</a:t>
                      </a:r>
                      <a:r>
                        <a:rPr lang="ja-JP" altLang="en-US" sz="700" b="1">
                          <a:solidFill>
                            <a:schemeClr val="tx1">
                              <a:lumMod val="75000"/>
                              <a:lumOff val="25000"/>
                            </a:schemeClr>
                          </a:solidFill>
                          <a:latin typeface="メイリオ" panose="020B0604030504040204" pitchFamily="50" charset="-128"/>
                          <a:ea typeface="メイリオ" panose="020B0604030504040204" pitchFamily="50" charset="-128"/>
                        </a:rPr>
                        <a:t>位（</a:t>
                      </a:r>
                      <a:r>
                        <a:rPr lang="en-US" altLang="ja-JP" sz="700" b="1">
                          <a:solidFill>
                            <a:schemeClr val="tx1">
                              <a:lumMod val="75000"/>
                              <a:lumOff val="25000"/>
                            </a:schemeClr>
                          </a:solidFill>
                          <a:latin typeface="メイリオ" panose="020B0604030504040204" pitchFamily="50" charset="-128"/>
                          <a:ea typeface="メイリオ" panose="020B0604030504040204" pitchFamily="50" charset="-128"/>
                        </a:rPr>
                        <a:t>1,012</a:t>
                      </a:r>
                      <a:r>
                        <a:rPr lang="ja-JP" altLang="en-US" sz="700" b="1">
                          <a:solidFill>
                            <a:schemeClr val="tx1">
                              <a:lumMod val="75000"/>
                              <a:lumOff val="25000"/>
                            </a:schemeClr>
                          </a:solidFill>
                          <a:latin typeface="メイリオ" panose="020B0604030504040204" pitchFamily="50" charset="-128"/>
                          <a:ea typeface="メイリオ" panose="020B0604030504040204" pitchFamily="50" charset="-128"/>
                        </a:rPr>
                        <a:t>台／</a:t>
                      </a:r>
                      <a:r>
                        <a:rPr lang="en-US" altLang="ja-JP" sz="700" b="1">
                          <a:solidFill>
                            <a:schemeClr val="tx1">
                              <a:lumMod val="75000"/>
                              <a:lumOff val="25000"/>
                            </a:schemeClr>
                          </a:solidFill>
                          <a:latin typeface="メイリオ" panose="020B0604030504040204" pitchFamily="50" charset="-128"/>
                          <a:ea typeface="メイリオ" panose="020B0604030504040204" pitchFamily="50" charset="-128"/>
                        </a:rPr>
                        <a:t>1</a:t>
                      </a:r>
                      <a:r>
                        <a:rPr lang="ja-JP" altLang="en-US" sz="700" b="1">
                          <a:solidFill>
                            <a:schemeClr val="tx1">
                              <a:lumMod val="75000"/>
                              <a:lumOff val="25000"/>
                            </a:schemeClr>
                          </a:solidFill>
                          <a:latin typeface="メイリオ" panose="020B0604030504040204" pitchFamily="50" charset="-128"/>
                          <a:ea typeface="メイリオ" panose="020B0604030504040204" pitchFamily="50" charset="-128"/>
                        </a:rPr>
                        <a:t>万人）</a:t>
                      </a:r>
                      <a:r>
                        <a:rPr lang="ja-JP" altLang="en-US" sz="700">
                          <a:solidFill>
                            <a:schemeClr val="tx1">
                              <a:lumMod val="75000"/>
                              <a:lumOff val="25000"/>
                            </a:schemeClr>
                          </a:solidFill>
                          <a:latin typeface="メイリオ" panose="020B0604030504040204" pitchFamily="50" charset="-128"/>
                          <a:ea typeface="メイリオ" panose="020B0604030504040204" pitchFamily="50" charset="-128"/>
                        </a:rPr>
                        <a:t>、中国がロボット密度でドイツ・日本を抜き世界</a:t>
                      </a:r>
                      <a:r>
                        <a:rPr lang="en-US" altLang="ja-JP" sz="700">
                          <a:solidFill>
                            <a:schemeClr val="tx1">
                              <a:lumMod val="75000"/>
                              <a:lumOff val="25000"/>
                            </a:schemeClr>
                          </a:solidFill>
                          <a:latin typeface="メイリオ" panose="020B0604030504040204" pitchFamily="50" charset="-128"/>
                          <a:ea typeface="メイリオ" panose="020B0604030504040204" pitchFamily="50" charset="-128"/>
                        </a:rPr>
                        <a:t>3</a:t>
                      </a:r>
                      <a:r>
                        <a:rPr lang="ja-JP" altLang="en-US" sz="700">
                          <a:solidFill>
                            <a:schemeClr val="tx1">
                              <a:lumMod val="75000"/>
                              <a:lumOff val="25000"/>
                            </a:schemeClr>
                          </a:solidFill>
                          <a:latin typeface="メイリオ" panose="020B0604030504040204" pitchFamily="50" charset="-128"/>
                          <a:ea typeface="メイリオ" panose="020B0604030504040204" pitchFamily="50" charset="-128"/>
                        </a:rPr>
                        <a:t>位（</a:t>
                      </a:r>
                      <a:r>
                        <a:rPr lang="en-US" altLang="ja-JP" sz="700">
                          <a:solidFill>
                            <a:schemeClr val="tx1">
                              <a:lumMod val="75000"/>
                              <a:lumOff val="25000"/>
                            </a:schemeClr>
                          </a:solidFill>
                          <a:latin typeface="メイリオ" panose="020B0604030504040204" pitchFamily="50" charset="-128"/>
                          <a:ea typeface="メイリオ" panose="020B0604030504040204" pitchFamily="50" charset="-128"/>
                        </a:rPr>
                        <a:t>470</a:t>
                      </a:r>
                      <a:r>
                        <a:rPr lang="ja-JP" altLang="en-US" sz="700">
                          <a:solidFill>
                            <a:schemeClr val="tx1">
                              <a:lumMod val="75000"/>
                              <a:lumOff val="25000"/>
                            </a:schemeClr>
                          </a:solidFill>
                          <a:latin typeface="メイリオ" panose="020B0604030504040204" pitchFamily="50" charset="-128"/>
                          <a:ea typeface="メイリオ" panose="020B0604030504040204" pitchFamily="50" charset="-128"/>
                        </a:rPr>
                        <a:t>台／</a:t>
                      </a:r>
                      <a:r>
                        <a:rPr lang="en-US" altLang="ja-JP" sz="700">
                          <a:solidFill>
                            <a:schemeClr val="tx1">
                              <a:lumMod val="75000"/>
                              <a:lumOff val="25000"/>
                            </a:schemeClr>
                          </a:solidFill>
                          <a:latin typeface="メイリオ" panose="020B0604030504040204" pitchFamily="50" charset="-128"/>
                          <a:ea typeface="メイリオ" panose="020B0604030504040204" pitchFamily="50" charset="-128"/>
                        </a:rPr>
                        <a:t>1</a:t>
                      </a:r>
                      <a:r>
                        <a:rPr lang="ja-JP" altLang="en-US" sz="700">
                          <a:solidFill>
                            <a:schemeClr val="tx1">
                              <a:lumMod val="75000"/>
                              <a:lumOff val="25000"/>
                            </a:schemeClr>
                          </a:solidFill>
                          <a:latin typeface="メイリオ" panose="020B0604030504040204" pitchFamily="50" charset="-128"/>
                          <a:ea typeface="メイリオ" panose="020B0604030504040204" pitchFamily="50" charset="-128"/>
                        </a:rPr>
                        <a:t>万人）になったと報告。</a:t>
                      </a:r>
                      <a:r>
                        <a:rPr lang="en-US" sz="700">
                          <a:solidFill>
                            <a:schemeClr val="tx1">
                              <a:lumMod val="75000"/>
                              <a:lumOff val="25000"/>
                            </a:schemeClr>
                          </a:solidFill>
                          <a:latin typeface="メイリオ" panose="020B0604030504040204" pitchFamily="50" charset="-128"/>
                          <a:ea typeface="メイリオ" panose="020B0604030504040204" pitchFamily="50" charset="-128"/>
                          <a:hlinkClick r:id="rId7">
                            <a:extLst>
                              <a:ext uri="{A12FA001-AC4F-418D-AE19-62706E023703}">
                                <ahyp:hlinkClr xmlns:ahyp="http://schemas.microsoft.com/office/drawing/2018/hyperlinkcolor" val="tx"/>
                              </a:ext>
                            </a:extLst>
                          </a:hlinkClick>
                        </a:rPr>
                        <a:t>South China Morning Post+3IFR International Federation of Robotics+3IFR International Federation of Robotics+3</a:t>
                      </a:r>
                      <a:endParaRPr lang="en-US" sz="700">
                        <a:solidFill>
                          <a:schemeClr val="tx1">
                            <a:lumMod val="75000"/>
                            <a:lumOff val="25000"/>
                          </a:schemeClr>
                        </a:solidFill>
                        <a:latin typeface="メイリオ" panose="020B0604030504040204" pitchFamily="50" charset="-128"/>
                        <a:ea typeface="メイリオ" panose="020B0604030504040204" pitchFamily="50" charset="-128"/>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buNone/>
                      </a:pPr>
                      <a:r>
                        <a:rPr lang="ja-JP" altLang="en-US" sz="700">
                          <a:solidFill>
                            <a:schemeClr val="tx1">
                              <a:lumMod val="75000"/>
                              <a:lumOff val="25000"/>
                            </a:schemeClr>
                          </a:solidFill>
                          <a:latin typeface="メイリオ" panose="020B0604030504040204" pitchFamily="50" charset="-128"/>
                          <a:ea typeface="メイリオ" panose="020B0604030504040204" pitchFamily="50" charset="-128"/>
                        </a:rPr>
                        <a:t>日本は依然として高いロボット密度を維持するものの、中国・韓国の伸びが上回り、「</a:t>
                      </a:r>
                      <a:r>
                        <a:rPr lang="ja-JP" altLang="en-US" sz="700" b="1">
                          <a:solidFill>
                            <a:schemeClr val="tx1">
                              <a:lumMod val="75000"/>
                              <a:lumOff val="25000"/>
                            </a:schemeClr>
                          </a:solidFill>
                          <a:latin typeface="メイリオ" panose="020B0604030504040204" pitchFamily="50" charset="-128"/>
                          <a:ea typeface="メイリオ" panose="020B0604030504040204" pitchFamily="50" charset="-128"/>
                        </a:rPr>
                        <a:t>自動化レベルの優位性</a:t>
                      </a:r>
                      <a:r>
                        <a:rPr lang="ja-JP" altLang="en-US" sz="700">
                          <a:solidFill>
                            <a:schemeClr val="tx1">
                              <a:lumMod val="75000"/>
                              <a:lumOff val="25000"/>
                            </a:schemeClr>
                          </a:solidFill>
                          <a:latin typeface="メイリオ" panose="020B0604030504040204" pitchFamily="50" charset="-128"/>
                          <a:ea typeface="メイリオ" panose="020B0604030504040204" pitchFamily="50" charset="-128"/>
                        </a:rPr>
                        <a:t>」は薄れつつある。</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buNone/>
                      </a:pPr>
                      <a:r>
                        <a:rPr lang="ja-JP" altLang="en-US" sz="700">
                          <a:solidFill>
                            <a:schemeClr val="tx1">
                              <a:lumMod val="75000"/>
                              <a:lumOff val="25000"/>
                            </a:schemeClr>
                          </a:solidFill>
                          <a:latin typeface="メイリオ" panose="020B0604030504040204" pitchFamily="50" charset="-128"/>
                          <a:ea typeface="メイリオ" panose="020B0604030504040204" pitchFamily="50" charset="-128"/>
                        </a:rPr>
                        <a:t>アジア勢（特に韓国・中国）は、</a:t>
                      </a:r>
                      <a:r>
                        <a:rPr lang="ja-JP" altLang="en-US" sz="700" b="1">
                          <a:solidFill>
                            <a:schemeClr val="tx1">
                              <a:lumMod val="75000"/>
                              <a:lumOff val="25000"/>
                            </a:schemeClr>
                          </a:solidFill>
                          <a:latin typeface="メイリオ" panose="020B0604030504040204" pitchFamily="50" charset="-128"/>
                          <a:ea typeface="メイリオ" panose="020B0604030504040204" pitchFamily="50" charset="-128"/>
                        </a:rPr>
                        <a:t>人件費だけでなく高度自動化＋</a:t>
                      </a:r>
                      <a:r>
                        <a:rPr lang="en-US" altLang="ja-JP" sz="700" b="1">
                          <a:solidFill>
                            <a:schemeClr val="tx1">
                              <a:lumMod val="75000"/>
                              <a:lumOff val="25000"/>
                            </a:schemeClr>
                          </a:solidFill>
                          <a:latin typeface="メイリオ" panose="020B0604030504040204" pitchFamily="50" charset="-128"/>
                          <a:ea typeface="メイリオ" panose="020B0604030504040204" pitchFamily="50" charset="-128"/>
                        </a:rPr>
                        <a:t>AI</a:t>
                      </a:r>
                      <a:r>
                        <a:rPr lang="ja-JP" altLang="en-US" sz="700" b="1">
                          <a:solidFill>
                            <a:schemeClr val="tx1">
                              <a:lumMod val="75000"/>
                              <a:lumOff val="25000"/>
                            </a:schemeClr>
                          </a:solidFill>
                          <a:latin typeface="メイリオ" panose="020B0604030504040204" pitchFamily="50" charset="-128"/>
                          <a:ea typeface="メイリオ" panose="020B0604030504040204" pitchFamily="50" charset="-128"/>
                        </a:rPr>
                        <a:t>を梃子にした競争力</a:t>
                      </a:r>
                      <a:r>
                        <a:rPr lang="ja-JP" altLang="en-US" sz="700">
                          <a:solidFill>
                            <a:schemeClr val="tx1">
                              <a:lumMod val="75000"/>
                              <a:lumOff val="25000"/>
                            </a:schemeClr>
                          </a:solidFill>
                          <a:latin typeface="メイリオ" panose="020B0604030504040204" pitchFamily="50" charset="-128"/>
                          <a:ea typeface="メイリオ" panose="020B0604030504040204" pitchFamily="50" charset="-128"/>
                        </a:rPr>
                        <a:t>を急速に高めている。</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672672528"/>
                  </a:ext>
                </a:extLst>
              </a:tr>
              <a:tr h="143944">
                <a:tc>
                  <a:txBody>
                    <a:bodyPr/>
                    <a:lstStyle/>
                    <a:p>
                      <a:pPr>
                        <a:buNone/>
                      </a:pPr>
                      <a:r>
                        <a:rPr lang="en-US" altLang="ja-JP" sz="700" b="1">
                          <a:solidFill>
                            <a:schemeClr val="tx1">
                              <a:lumMod val="75000"/>
                              <a:lumOff val="25000"/>
                            </a:schemeClr>
                          </a:solidFill>
                          <a:latin typeface="メイリオ" panose="020B0604030504040204" pitchFamily="50" charset="-128"/>
                          <a:ea typeface="メイリオ" panose="020B0604030504040204" pitchFamily="50" charset="-128"/>
                        </a:rPr>
                        <a:t>2023–2024</a:t>
                      </a:r>
                      <a:endParaRPr lang="ja-JP" altLang="en-US" sz="700">
                        <a:solidFill>
                          <a:schemeClr val="tx1">
                            <a:lumMod val="75000"/>
                            <a:lumOff val="25000"/>
                          </a:schemeClr>
                        </a:solidFill>
                        <a:latin typeface="メイリオ" panose="020B0604030504040204" pitchFamily="50" charset="-128"/>
                        <a:ea typeface="メイリオ" panose="020B0604030504040204" pitchFamily="50" charset="-128"/>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buNone/>
                      </a:pPr>
                      <a:r>
                        <a:rPr lang="en-US" altLang="ja-JP" sz="700">
                          <a:solidFill>
                            <a:schemeClr val="tx1">
                              <a:lumMod val="75000"/>
                              <a:lumOff val="25000"/>
                            </a:schemeClr>
                          </a:solidFill>
                          <a:latin typeface="メイリオ" panose="020B0604030504040204" pitchFamily="50" charset="-128"/>
                          <a:ea typeface="メイリオ" panose="020B0604030504040204" pitchFamily="50" charset="-128"/>
                        </a:rPr>
                        <a:t>Samsung </a:t>
                      </a:r>
                      <a:r>
                        <a:rPr lang="ja-JP" altLang="en-US" sz="700">
                          <a:solidFill>
                            <a:schemeClr val="tx1">
                              <a:lumMod val="75000"/>
                              <a:lumOff val="25000"/>
                            </a:schemeClr>
                          </a:solidFill>
                          <a:latin typeface="メイリオ" panose="020B0604030504040204" pitchFamily="50" charset="-128"/>
                          <a:ea typeface="メイリオ" panose="020B0604030504040204" pitchFamily="50" charset="-128"/>
                        </a:rPr>
                        <a:t>など韓国大手は、「スマートセンサーシステム」「</a:t>
                      </a:r>
                      <a:r>
                        <a:rPr lang="en-US" altLang="ja-JP" sz="700">
                          <a:solidFill>
                            <a:schemeClr val="tx1">
                              <a:lumMod val="75000"/>
                              <a:lumOff val="25000"/>
                            </a:schemeClr>
                          </a:solidFill>
                          <a:latin typeface="メイリオ" panose="020B0604030504040204" pitchFamily="50" charset="-128"/>
                          <a:ea typeface="メイリオ" panose="020B0604030504040204" pitchFamily="50" charset="-128"/>
                        </a:rPr>
                        <a:t>Fab Digital Twin Platform</a:t>
                      </a:r>
                      <a:r>
                        <a:rPr lang="ja-JP" altLang="en-US" sz="700">
                          <a:solidFill>
                            <a:schemeClr val="tx1">
                              <a:lumMod val="75000"/>
                              <a:lumOff val="25000"/>
                            </a:schemeClr>
                          </a:solidFill>
                          <a:latin typeface="メイリオ" panose="020B0604030504040204" pitchFamily="50" charset="-128"/>
                          <a:ea typeface="メイリオ" panose="020B0604030504040204" pitchFamily="50" charset="-128"/>
                        </a:rPr>
                        <a:t>」等を通じて、</a:t>
                      </a:r>
                      <a:r>
                        <a:rPr lang="en-US" altLang="ja-JP" sz="700" b="1">
                          <a:solidFill>
                            <a:schemeClr val="tx1">
                              <a:lumMod val="75000"/>
                              <a:lumOff val="25000"/>
                            </a:schemeClr>
                          </a:solidFill>
                          <a:latin typeface="メイリオ" panose="020B0604030504040204" pitchFamily="50" charset="-128"/>
                          <a:ea typeface="メイリオ" panose="020B0604030504040204" pitchFamily="50" charset="-128"/>
                        </a:rPr>
                        <a:t>2030</a:t>
                      </a:r>
                      <a:r>
                        <a:rPr lang="ja-JP" altLang="en-US" sz="700" b="1">
                          <a:solidFill>
                            <a:schemeClr val="tx1">
                              <a:lumMod val="75000"/>
                              <a:lumOff val="25000"/>
                            </a:schemeClr>
                          </a:solidFill>
                          <a:latin typeface="メイリオ" panose="020B0604030504040204" pitchFamily="50" charset="-128"/>
                          <a:ea typeface="メイリオ" panose="020B0604030504040204" pitchFamily="50" charset="-128"/>
                        </a:rPr>
                        <a:t>年までに半導体工場を完全自動化（無人化）する構想</a:t>
                      </a:r>
                      <a:r>
                        <a:rPr lang="ja-JP" altLang="en-US" sz="700">
                          <a:solidFill>
                            <a:schemeClr val="tx1">
                              <a:lumMod val="75000"/>
                              <a:lumOff val="25000"/>
                            </a:schemeClr>
                          </a:solidFill>
                          <a:latin typeface="メイリオ" panose="020B0604030504040204" pitchFamily="50" charset="-128"/>
                          <a:ea typeface="メイリオ" panose="020B0604030504040204" pitchFamily="50" charset="-128"/>
                        </a:rPr>
                        <a:t>をメディアや講演で示す。</a:t>
                      </a:r>
                      <a:r>
                        <a:rPr lang="en-US" altLang="ja-JP" sz="700">
                          <a:solidFill>
                            <a:schemeClr val="tx1">
                              <a:lumMod val="75000"/>
                              <a:lumOff val="25000"/>
                            </a:schemeClr>
                          </a:solidFill>
                          <a:latin typeface="メイリオ" panose="020B0604030504040204" pitchFamily="50" charset="-128"/>
                          <a:ea typeface="メイリオ" panose="020B0604030504040204" pitchFamily="50" charset="-128"/>
                          <a:hlinkClick r:id="rId8">
                            <a:extLst>
                              <a:ext uri="{A12FA001-AC4F-418D-AE19-62706E023703}">
                                <ahyp:hlinkClr xmlns:ahyp="http://schemas.microsoft.com/office/drawing/2018/hyperlinkcolor" val="tx"/>
                              </a:ext>
                            </a:extLst>
                          </a:hlinkClick>
                        </a:rPr>
                        <a:t>DIGITIMES Asia+4Tom's Hardware+4Asia Times+4</a:t>
                      </a:r>
                      <a:endParaRPr lang="ja-JP" altLang="en-US" sz="700">
                        <a:solidFill>
                          <a:schemeClr val="tx1">
                            <a:lumMod val="75000"/>
                            <a:lumOff val="25000"/>
                          </a:schemeClr>
                        </a:solidFill>
                        <a:latin typeface="メイリオ" panose="020B0604030504040204" pitchFamily="50" charset="-128"/>
                        <a:ea typeface="メイリオ" panose="020B0604030504040204" pitchFamily="50" charset="-128"/>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buNone/>
                      </a:pPr>
                      <a:r>
                        <a:rPr lang="ja-JP" altLang="en-US" sz="700">
                          <a:solidFill>
                            <a:schemeClr val="tx1">
                              <a:lumMod val="75000"/>
                              <a:lumOff val="25000"/>
                            </a:schemeClr>
                          </a:solidFill>
                          <a:latin typeface="メイリオ" panose="020B0604030504040204" pitchFamily="50" charset="-128"/>
                          <a:ea typeface="メイリオ" panose="020B0604030504040204" pitchFamily="50" charset="-128"/>
                        </a:rPr>
                        <a:t>日本企業でも完全無人化という言葉は出るが、</a:t>
                      </a:r>
                      <a:r>
                        <a:rPr lang="en-US" altLang="ja-JP" sz="700">
                          <a:solidFill>
                            <a:schemeClr val="tx1">
                              <a:lumMod val="75000"/>
                              <a:lumOff val="25000"/>
                            </a:schemeClr>
                          </a:solidFill>
                          <a:latin typeface="メイリオ" panose="020B0604030504040204" pitchFamily="50" charset="-128"/>
                          <a:ea typeface="メイリオ" panose="020B0604030504040204" pitchFamily="50" charset="-128"/>
                        </a:rPr>
                        <a:t>Samsung </a:t>
                      </a:r>
                      <a:r>
                        <a:rPr lang="ja-JP" altLang="en-US" sz="700">
                          <a:solidFill>
                            <a:schemeClr val="tx1">
                              <a:lumMod val="75000"/>
                              <a:lumOff val="25000"/>
                            </a:schemeClr>
                          </a:solidFill>
                          <a:latin typeface="メイリオ" panose="020B0604030504040204" pitchFamily="50" charset="-128"/>
                          <a:ea typeface="メイリオ" panose="020B0604030504040204" pitchFamily="50" charset="-128"/>
                        </a:rPr>
                        <a:t>のように**「</a:t>
                      </a:r>
                      <a:r>
                        <a:rPr lang="en-US" altLang="ja-JP" sz="700">
                          <a:solidFill>
                            <a:schemeClr val="tx1">
                              <a:lumMod val="75000"/>
                              <a:lumOff val="25000"/>
                            </a:schemeClr>
                          </a:solidFill>
                          <a:latin typeface="メイリオ" panose="020B0604030504040204" pitchFamily="50" charset="-128"/>
                          <a:ea typeface="メイリオ" panose="020B0604030504040204" pitchFamily="50" charset="-128"/>
                        </a:rPr>
                        <a:t>2030</a:t>
                      </a:r>
                      <a:r>
                        <a:rPr lang="ja-JP" altLang="en-US" sz="700">
                          <a:solidFill>
                            <a:schemeClr val="tx1">
                              <a:lumMod val="75000"/>
                              <a:lumOff val="25000"/>
                            </a:schemeClr>
                          </a:solidFill>
                          <a:latin typeface="メイリオ" panose="020B0604030504040204" pitchFamily="50" charset="-128"/>
                          <a:ea typeface="メイリオ" panose="020B0604030504040204" pitchFamily="50" charset="-128"/>
                        </a:rPr>
                        <a:t>年までに無人</a:t>
                      </a:r>
                      <a:r>
                        <a:rPr lang="en-US" altLang="ja-JP" sz="700">
                          <a:solidFill>
                            <a:schemeClr val="tx1">
                              <a:lumMod val="75000"/>
                              <a:lumOff val="25000"/>
                            </a:schemeClr>
                          </a:solidFill>
                          <a:latin typeface="メイリオ" panose="020B0604030504040204" pitchFamily="50" charset="-128"/>
                          <a:ea typeface="メイリオ" panose="020B0604030504040204" pitchFamily="50" charset="-128"/>
                        </a:rPr>
                        <a:t>Fab</a:t>
                      </a:r>
                      <a:r>
                        <a:rPr lang="ja-JP" altLang="en-US" sz="700">
                          <a:solidFill>
                            <a:schemeClr val="tx1">
                              <a:lumMod val="75000"/>
                              <a:lumOff val="25000"/>
                            </a:schemeClr>
                          </a:solidFill>
                          <a:latin typeface="メイリオ" panose="020B0604030504040204" pitchFamily="50" charset="-128"/>
                          <a:ea typeface="メイリオ" panose="020B0604030504040204" pitchFamily="50" charset="-128"/>
                        </a:rPr>
                        <a:t>」レベルで明言**した例は少ない。</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buNone/>
                      </a:pPr>
                      <a:r>
                        <a:rPr lang="ja-JP" altLang="en-US" sz="700" dirty="0">
                          <a:solidFill>
                            <a:schemeClr val="tx1">
                              <a:lumMod val="75000"/>
                              <a:lumOff val="25000"/>
                            </a:schemeClr>
                          </a:solidFill>
                          <a:latin typeface="メイリオ" panose="020B0604030504040204" pitchFamily="50" charset="-128"/>
                          <a:ea typeface="メイリオ" panose="020B0604030504040204" pitchFamily="50" charset="-128"/>
                        </a:rPr>
                        <a:t>ここで韓国は、「</a:t>
                      </a:r>
                      <a:r>
                        <a:rPr lang="en-US" altLang="ja-JP" sz="700" b="1" dirty="0">
                          <a:solidFill>
                            <a:schemeClr val="tx1">
                              <a:lumMod val="75000"/>
                              <a:lumOff val="25000"/>
                            </a:schemeClr>
                          </a:solidFill>
                          <a:latin typeface="メイリオ" panose="020B0604030504040204" pitchFamily="50" charset="-128"/>
                          <a:ea typeface="メイリオ" panose="020B0604030504040204" pitchFamily="50" charset="-128"/>
                        </a:rPr>
                        <a:t>AI</a:t>
                      </a:r>
                      <a:r>
                        <a:rPr lang="ja-JP" altLang="en-US" sz="700" b="1" dirty="0">
                          <a:solidFill>
                            <a:schemeClr val="tx1">
                              <a:lumMod val="75000"/>
                              <a:lumOff val="25000"/>
                            </a:schemeClr>
                          </a:solidFill>
                          <a:latin typeface="メイリオ" panose="020B0604030504040204" pitchFamily="50" charset="-128"/>
                          <a:ea typeface="メイリオ" panose="020B0604030504040204" pitchFamily="50" charset="-128"/>
                        </a:rPr>
                        <a:t>＋ロボット＋センサーで“人のいない</a:t>
                      </a:r>
                      <a:r>
                        <a:rPr lang="en-US" altLang="ja-JP" sz="700" b="1" dirty="0">
                          <a:solidFill>
                            <a:schemeClr val="tx1">
                              <a:lumMod val="75000"/>
                              <a:lumOff val="25000"/>
                            </a:schemeClr>
                          </a:solidFill>
                          <a:latin typeface="メイリオ" panose="020B0604030504040204" pitchFamily="50" charset="-128"/>
                          <a:ea typeface="メイリオ" panose="020B0604030504040204" pitchFamily="50" charset="-128"/>
                        </a:rPr>
                        <a:t>Fab”</a:t>
                      </a:r>
                      <a:r>
                        <a:rPr lang="ja-JP" altLang="en-US" sz="700" b="1" dirty="0">
                          <a:solidFill>
                            <a:schemeClr val="tx1">
                              <a:lumMod val="75000"/>
                              <a:lumOff val="25000"/>
                            </a:schemeClr>
                          </a:solidFill>
                          <a:latin typeface="メイリオ" panose="020B0604030504040204" pitchFamily="50" charset="-128"/>
                          <a:ea typeface="メイリオ" panose="020B0604030504040204" pitchFamily="50" charset="-128"/>
                        </a:rPr>
                        <a:t>を目指す</a:t>
                      </a:r>
                      <a:r>
                        <a:rPr lang="ja-JP" altLang="en-US" sz="700" dirty="0">
                          <a:solidFill>
                            <a:schemeClr val="tx1">
                              <a:lumMod val="75000"/>
                              <a:lumOff val="25000"/>
                            </a:schemeClr>
                          </a:solidFill>
                          <a:latin typeface="メイリオ" panose="020B0604030504040204" pitchFamily="50" charset="-128"/>
                          <a:ea typeface="メイリオ" panose="020B0604030504040204" pitchFamily="50" charset="-128"/>
                        </a:rPr>
                        <a:t>」という、かなり先鋭的なビジョンを明確化。</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461972176"/>
                  </a:ext>
                </a:extLst>
              </a:tr>
              <a:tr h="143944">
                <a:tc>
                  <a:txBody>
                    <a:bodyPr/>
                    <a:lstStyle/>
                    <a:p>
                      <a:pPr>
                        <a:buNone/>
                      </a:pPr>
                      <a:r>
                        <a:rPr lang="en-US" altLang="ja-JP" sz="700" b="1">
                          <a:solidFill>
                            <a:schemeClr val="tx1">
                              <a:lumMod val="75000"/>
                              <a:lumOff val="25000"/>
                            </a:schemeClr>
                          </a:solidFill>
                          <a:latin typeface="メイリオ" panose="020B0604030504040204" pitchFamily="50" charset="-128"/>
                          <a:ea typeface="メイリオ" panose="020B0604030504040204" pitchFamily="50" charset="-128"/>
                        </a:rPr>
                        <a:t>2023–2025</a:t>
                      </a:r>
                      <a:endParaRPr lang="ja-JP" altLang="en-US" sz="700">
                        <a:solidFill>
                          <a:schemeClr val="tx1">
                            <a:lumMod val="75000"/>
                            <a:lumOff val="25000"/>
                          </a:schemeClr>
                        </a:solidFill>
                        <a:latin typeface="メイリオ" panose="020B0604030504040204" pitchFamily="50" charset="-128"/>
                        <a:ea typeface="メイリオ" panose="020B0604030504040204" pitchFamily="50" charset="-128"/>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buNone/>
                      </a:pPr>
                      <a:r>
                        <a:rPr lang="ja-JP" altLang="en-US" sz="700">
                          <a:solidFill>
                            <a:schemeClr val="tx1">
                              <a:lumMod val="75000"/>
                              <a:lumOff val="25000"/>
                            </a:schemeClr>
                          </a:solidFill>
                          <a:latin typeface="メイリオ" panose="020B0604030504040204" pitchFamily="50" charset="-128"/>
                          <a:ea typeface="メイリオ" panose="020B0604030504040204" pitchFamily="50" charset="-128"/>
                        </a:rPr>
                        <a:t>各国で </a:t>
                      </a:r>
                      <a:r>
                        <a:rPr lang="en-US" altLang="ja-JP" sz="700">
                          <a:solidFill>
                            <a:schemeClr val="tx1">
                              <a:lumMod val="75000"/>
                              <a:lumOff val="25000"/>
                            </a:schemeClr>
                          </a:solidFill>
                          <a:latin typeface="メイリオ" panose="020B0604030504040204" pitchFamily="50" charset="-128"/>
                          <a:ea typeface="メイリオ" panose="020B0604030504040204" pitchFamily="50" charset="-128"/>
                        </a:rPr>
                        <a:t>AI</a:t>
                      </a:r>
                      <a:r>
                        <a:rPr lang="ja-JP" altLang="en-US" sz="700">
                          <a:solidFill>
                            <a:schemeClr val="tx1">
                              <a:lumMod val="75000"/>
                              <a:lumOff val="25000"/>
                            </a:schemeClr>
                          </a:solidFill>
                          <a:latin typeface="メイリオ" panose="020B0604030504040204" pitchFamily="50" charset="-128"/>
                          <a:ea typeface="メイリオ" panose="020B0604030504040204" pitchFamily="50" charset="-128"/>
                        </a:rPr>
                        <a:t>・ロボティクス投資が加速し、</a:t>
                      </a:r>
                      <a:r>
                        <a:rPr lang="en-US" altLang="ja-JP" sz="700">
                          <a:solidFill>
                            <a:schemeClr val="tx1">
                              <a:lumMod val="75000"/>
                              <a:lumOff val="25000"/>
                            </a:schemeClr>
                          </a:solidFill>
                          <a:latin typeface="メイリオ" panose="020B0604030504040204" pitchFamily="50" charset="-128"/>
                          <a:ea typeface="メイリオ" panose="020B0604030504040204" pitchFamily="50" charset="-128"/>
                        </a:rPr>
                        <a:t>PwC </a:t>
                      </a:r>
                      <a:r>
                        <a:rPr lang="ja-JP" altLang="en-US" sz="700">
                          <a:solidFill>
                            <a:schemeClr val="tx1">
                              <a:lumMod val="75000"/>
                              <a:lumOff val="25000"/>
                            </a:schemeClr>
                          </a:solidFill>
                          <a:latin typeface="メイリオ" panose="020B0604030504040204" pitchFamily="50" charset="-128"/>
                          <a:ea typeface="メイリオ" panose="020B0604030504040204" pitchFamily="50" charset="-128"/>
                        </a:rPr>
                        <a:t>などのレポートでは「</a:t>
                      </a:r>
                      <a:r>
                        <a:rPr lang="en-US" altLang="ja-JP" sz="700">
                          <a:solidFill>
                            <a:schemeClr val="tx1">
                              <a:lumMod val="75000"/>
                              <a:lumOff val="25000"/>
                            </a:schemeClr>
                          </a:solidFill>
                          <a:latin typeface="メイリオ" panose="020B0604030504040204" pitchFamily="50" charset="-128"/>
                          <a:ea typeface="メイリオ" panose="020B0604030504040204" pitchFamily="50" charset="-128"/>
                        </a:rPr>
                        <a:t>2024〜2030</a:t>
                      </a:r>
                      <a:r>
                        <a:rPr lang="ja-JP" altLang="en-US" sz="700">
                          <a:solidFill>
                            <a:schemeClr val="tx1">
                              <a:lumMod val="75000"/>
                              <a:lumOff val="25000"/>
                            </a:schemeClr>
                          </a:solidFill>
                          <a:latin typeface="メイリオ" panose="020B0604030504040204" pitchFamily="50" charset="-128"/>
                          <a:ea typeface="メイリオ" panose="020B0604030504040204" pitchFamily="50" charset="-128"/>
                        </a:rPr>
                        <a:t>年の世界の半導体</a:t>
                      </a:r>
                      <a:r>
                        <a:rPr lang="en-US" altLang="ja-JP" sz="700">
                          <a:solidFill>
                            <a:schemeClr val="tx1">
                              <a:lumMod val="75000"/>
                              <a:lumOff val="25000"/>
                            </a:schemeClr>
                          </a:solidFill>
                          <a:latin typeface="メイリオ" panose="020B0604030504040204" pitchFamily="50" charset="-128"/>
                          <a:ea typeface="メイリオ" panose="020B0604030504040204" pitchFamily="50" charset="-128"/>
                        </a:rPr>
                        <a:t>Fab</a:t>
                      </a:r>
                      <a:r>
                        <a:rPr lang="ja-JP" altLang="en-US" sz="700">
                          <a:solidFill>
                            <a:schemeClr val="tx1">
                              <a:lumMod val="75000"/>
                              <a:lumOff val="25000"/>
                            </a:schemeClr>
                          </a:solidFill>
                          <a:latin typeface="メイリオ" panose="020B0604030504040204" pitchFamily="50" charset="-128"/>
                          <a:ea typeface="メイリオ" panose="020B0604030504040204" pitchFamily="50" charset="-128"/>
                        </a:rPr>
                        <a:t>投資は合計</a:t>
                      </a:r>
                      <a:r>
                        <a:rPr lang="en-US" altLang="ja-JP" sz="700">
                          <a:solidFill>
                            <a:schemeClr val="tx1">
                              <a:lumMod val="75000"/>
                              <a:lumOff val="25000"/>
                            </a:schemeClr>
                          </a:solidFill>
                          <a:latin typeface="メイリオ" panose="020B0604030504040204" pitchFamily="50" charset="-128"/>
                          <a:ea typeface="メイリオ" panose="020B0604030504040204" pitchFamily="50" charset="-128"/>
                        </a:rPr>
                        <a:t>1.5</a:t>
                      </a:r>
                      <a:r>
                        <a:rPr lang="ja-JP" altLang="en-US" sz="700">
                          <a:solidFill>
                            <a:schemeClr val="tx1">
                              <a:lumMod val="75000"/>
                              <a:lumOff val="25000"/>
                            </a:schemeClr>
                          </a:solidFill>
                          <a:latin typeface="メイリオ" panose="020B0604030504040204" pitchFamily="50" charset="-128"/>
                          <a:ea typeface="メイリオ" panose="020B0604030504040204" pitchFamily="50" charset="-128"/>
                        </a:rPr>
                        <a:t>兆ドル超」と予測。</a:t>
                      </a:r>
                      <a:r>
                        <a:rPr lang="en-US" altLang="ja-JP" sz="700">
                          <a:solidFill>
                            <a:schemeClr val="tx1">
                              <a:lumMod val="75000"/>
                              <a:lumOff val="25000"/>
                            </a:schemeClr>
                          </a:solidFill>
                          <a:latin typeface="メイリオ" panose="020B0604030504040204" pitchFamily="50" charset="-128"/>
                          <a:ea typeface="メイリオ" panose="020B0604030504040204" pitchFamily="50" charset="-128"/>
                          <a:hlinkClick r:id="rId9">
                            <a:extLst>
                              <a:ext uri="{A12FA001-AC4F-418D-AE19-62706E023703}">
                                <ahyp:hlinkClr xmlns:ahyp="http://schemas.microsoft.com/office/drawing/2018/hyperlinkcolor" val="tx"/>
                              </a:ext>
                            </a:extLst>
                          </a:hlinkClick>
                        </a:rPr>
                        <a:t>PwC</a:t>
                      </a:r>
                      <a:endParaRPr lang="ja-JP" altLang="en-US" sz="700">
                        <a:solidFill>
                          <a:schemeClr val="tx1">
                            <a:lumMod val="75000"/>
                            <a:lumOff val="25000"/>
                          </a:schemeClr>
                        </a:solidFill>
                        <a:latin typeface="メイリオ" panose="020B0604030504040204" pitchFamily="50" charset="-128"/>
                        <a:ea typeface="メイリオ" panose="020B0604030504040204" pitchFamily="50" charset="-128"/>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buNone/>
                      </a:pPr>
                      <a:r>
                        <a:rPr lang="en-US" altLang="ja-JP" sz="700" dirty="0">
                          <a:solidFill>
                            <a:schemeClr val="tx1">
                              <a:lumMod val="75000"/>
                              <a:lumOff val="25000"/>
                            </a:schemeClr>
                          </a:solidFill>
                          <a:latin typeface="メイリオ" panose="020B0604030504040204" pitchFamily="50" charset="-128"/>
                          <a:ea typeface="メイリオ" panose="020B0604030504040204" pitchFamily="50" charset="-128"/>
                        </a:rPr>
                        <a:t>SSM</a:t>
                      </a:r>
                      <a:r>
                        <a:rPr lang="ja-JP" altLang="en-US" sz="700" dirty="0">
                          <a:solidFill>
                            <a:schemeClr val="tx1">
                              <a:lumMod val="75000"/>
                              <a:lumOff val="25000"/>
                            </a:schemeClr>
                          </a:solidFill>
                          <a:latin typeface="メイリオ" panose="020B0604030504040204" pitchFamily="50" charset="-128"/>
                          <a:ea typeface="メイリオ" panose="020B0604030504040204" pitchFamily="50" charset="-128"/>
                        </a:rPr>
                        <a:t>・</a:t>
                      </a:r>
                      <a:r>
                        <a:rPr lang="en-US" altLang="ja-JP" sz="700" dirty="0">
                          <a:solidFill>
                            <a:schemeClr val="tx1">
                              <a:lumMod val="75000"/>
                              <a:lumOff val="25000"/>
                            </a:schemeClr>
                          </a:solidFill>
                          <a:latin typeface="メイリオ" panose="020B0604030504040204" pitchFamily="50" charset="-128"/>
                          <a:ea typeface="メイリオ" panose="020B0604030504040204" pitchFamily="50" charset="-128"/>
                        </a:rPr>
                        <a:t>Sony </a:t>
                      </a:r>
                      <a:r>
                        <a:rPr lang="ja-JP" altLang="en-US" sz="700" dirty="0">
                          <a:solidFill>
                            <a:schemeClr val="tx1">
                              <a:lumMod val="75000"/>
                              <a:lumOff val="25000"/>
                            </a:schemeClr>
                          </a:solidFill>
                          <a:latin typeface="メイリオ" panose="020B0604030504040204" pitchFamily="50" charset="-128"/>
                          <a:ea typeface="メイリオ" panose="020B0604030504040204" pitchFamily="50" charset="-128"/>
                        </a:rPr>
                        <a:t>グループ側では、**</a:t>
                      </a:r>
                      <a:r>
                        <a:rPr lang="en-US" altLang="ja-JP" sz="700" dirty="0">
                          <a:solidFill>
                            <a:schemeClr val="tx1">
                              <a:lumMod val="75000"/>
                              <a:lumOff val="25000"/>
                            </a:schemeClr>
                          </a:solidFill>
                          <a:latin typeface="メイリオ" panose="020B0604030504040204" pitchFamily="50" charset="-128"/>
                          <a:ea typeface="メイリオ" panose="020B0604030504040204" pitchFamily="50" charset="-128"/>
                        </a:rPr>
                        <a:t>AITRIOS</a:t>
                      </a:r>
                      <a:r>
                        <a:rPr lang="ja-JP" altLang="en-US" sz="700" dirty="0">
                          <a:solidFill>
                            <a:schemeClr val="tx1">
                              <a:lumMod val="75000"/>
                              <a:lumOff val="25000"/>
                            </a:schemeClr>
                          </a:solidFill>
                          <a:latin typeface="メイリオ" panose="020B0604030504040204" pitchFamily="50" charset="-128"/>
                          <a:ea typeface="メイリオ" panose="020B0604030504040204" pitchFamily="50" charset="-128"/>
                        </a:rPr>
                        <a:t>（ビジョン</a:t>
                      </a:r>
                      <a:r>
                        <a:rPr lang="en-US" altLang="ja-JP" sz="700" dirty="0">
                          <a:solidFill>
                            <a:schemeClr val="tx1">
                              <a:lumMod val="75000"/>
                              <a:lumOff val="25000"/>
                            </a:schemeClr>
                          </a:solidFill>
                          <a:latin typeface="メイリオ" panose="020B0604030504040204" pitchFamily="50" charset="-128"/>
                          <a:ea typeface="メイリオ" panose="020B0604030504040204" pitchFamily="50" charset="-128"/>
                        </a:rPr>
                        <a:t>AI</a:t>
                      </a:r>
                      <a:r>
                        <a:rPr lang="ja-JP" altLang="en-US" sz="700" dirty="0">
                          <a:solidFill>
                            <a:schemeClr val="tx1">
                              <a:lumMod val="75000"/>
                              <a:lumOff val="25000"/>
                            </a:schemeClr>
                          </a:solidFill>
                          <a:latin typeface="メイリオ" panose="020B0604030504040204" pitchFamily="50" charset="-128"/>
                          <a:ea typeface="メイリオ" panose="020B0604030504040204" pitchFamily="50" charset="-128"/>
                        </a:rPr>
                        <a:t>プラットフォーム）**を用いた工場</a:t>
                      </a:r>
                      <a:r>
                        <a:rPr lang="en-US" altLang="ja-JP" sz="700" dirty="0">
                          <a:solidFill>
                            <a:schemeClr val="tx1">
                              <a:lumMod val="75000"/>
                              <a:lumOff val="25000"/>
                            </a:schemeClr>
                          </a:solidFill>
                          <a:latin typeface="メイリオ" panose="020B0604030504040204" pitchFamily="50" charset="-128"/>
                          <a:ea typeface="メイリオ" panose="020B0604030504040204" pitchFamily="50" charset="-128"/>
                        </a:rPr>
                        <a:t>DX</a:t>
                      </a:r>
                      <a:r>
                        <a:rPr lang="ja-JP" altLang="en-US" sz="700" dirty="0">
                          <a:solidFill>
                            <a:schemeClr val="tx1">
                              <a:lumMod val="75000"/>
                              <a:lumOff val="25000"/>
                            </a:schemeClr>
                          </a:solidFill>
                          <a:latin typeface="メイリオ" panose="020B0604030504040204" pitchFamily="50" charset="-128"/>
                          <a:ea typeface="メイリオ" panose="020B0604030504040204" pitchFamily="50" charset="-128"/>
                        </a:rPr>
                        <a:t>・外販ソリューションを打ち出し、製造業の外にも</a:t>
                      </a:r>
                      <a:r>
                        <a:rPr lang="en-US" altLang="ja-JP" sz="700" dirty="0">
                          <a:solidFill>
                            <a:schemeClr val="tx1">
                              <a:lumMod val="75000"/>
                              <a:lumOff val="25000"/>
                            </a:schemeClr>
                          </a:solidFill>
                          <a:latin typeface="メイリオ" panose="020B0604030504040204" pitchFamily="50" charset="-128"/>
                          <a:ea typeface="メイリオ" panose="020B0604030504040204" pitchFamily="50" charset="-128"/>
                        </a:rPr>
                        <a:t>AI</a:t>
                      </a:r>
                      <a:r>
                        <a:rPr lang="ja-JP" altLang="en-US" sz="700" dirty="0">
                          <a:solidFill>
                            <a:schemeClr val="tx1">
                              <a:lumMod val="75000"/>
                              <a:lumOff val="25000"/>
                            </a:schemeClr>
                          </a:solidFill>
                          <a:latin typeface="メイリオ" panose="020B0604030504040204" pitchFamily="50" charset="-128"/>
                          <a:ea typeface="メイリオ" panose="020B0604030504040204" pitchFamily="50" charset="-128"/>
                        </a:rPr>
                        <a:t>・センサー技術を展開。</a:t>
                      </a:r>
                      <a:r>
                        <a:rPr lang="en-US" altLang="ja-JP" sz="700" dirty="0">
                          <a:solidFill>
                            <a:schemeClr val="tx1">
                              <a:lumMod val="75000"/>
                              <a:lumOff val="25000"/>
                            </a:schemeClr>
                          </a:solidFill>
                          <a:latin typeface="メイリオ" panose="020B0604030504040204" pitchFamily="50" charset="-128"/>
                          <a:ea typeface="メイリオ" panose="020B0604030504040204" pitchFamily="50" charset="-128"/>
                          <a:hlinkClick r:id="rId10">
                            <a:extLst>
                              <a:ext uri="{A12FA001-AC4F-418D-AE19-62706E023703}">
                                <ahyp:hlinkClr xmlns:ahyp="http://schemas.microsoft.com/office/drawing/2018/hyperlinkcolor" val="tx"/>
                              </a:ext>
                            </a:extLst>
                          </a:hlinkClick>
                        </a:rPr>
                        <a:t>aitrios.sony-semicon.com+2info.aitrios.sony-semicon.com+2</a:t>
                      </a:r>
                      <a:endParaRPr lang="ja-JP" altLang="en-US" sz="700" dirty="0">
                        <a:solidFill>
                          <a:schemeClr val="tx1">
                            <a:lumMod val="75000"/>
                            <a:lumOff val="25000"/>
                          </a:schemeClr>
                        </a:solidFill>
                        <a:latin typeface="メイリオ" panose="020B0604030504040204" pitchFamily="50" charset="-128"/>
                        <a:ea typeface="メイリオ" panose="020B0604030504040204" pitchFamily="50" charset="-128"/>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buNone/>
                      </a:pPr>
                      <a:r>
                        <a:rPr lang="ja-JP" altLang="en-US" sz="700" dirty="0">
                          <a:solidFill>
                            <a:schemeClr val="tx1">
                              <a:lumMod val="75000"/>
                              <a:lumOff val="25000"/>
                            </a:schemeClr>
                          </a:solidFill>
                          <a:latin typeface="メイリオ" panose="020B0604030504040204" pitchFamily="50" charset="-128"/>
                          <a:ea typeface="メイリオ" panose="020B0604030504040204" pitchFamily="50" charset="-128"/>
                        </a:rPr>
                        <a:t>世界的には「</a:t>
                      </a:r>
                      <a:r>
                        <a:rPr lang="en-US" altLang="ja-JP" sz="700" dirty="0">
                          <a:solidFill>
                            <a:schemeClr val="tx1">
                              <a:lumMod val="75000"/>
                              <a:lumOff val="25000"/>
                            </a:schemeClr>
                          </a:solidFill>
                          <a:latin typeface="メイリオ" panose="020B0604030504040204" pitchFamily="50" charset="-128"/>
                          <a:ea typeface="メイリオ" panose="020B0604030504040204" pitchFamily="50" charset="-128"/>
                        </a:rPr>
                        <a:t>AI</a:t>
                      </a:r>
                      <a:r>
                        <a:rPr lang="ja-JP" altLang="en-US" sz="700" dirty="0">
                          <a:solidFill>
                            <a:schemeClr val="tx1">
                              <a:lumMod val="75000"/>
                              <a:lumOff val="25000"/>
                            </a:schemeClr>
                          </a:solidFill>
                          <a:latin typeface="メイリオ" panose="020B0604030504040204" pitchFamily="50" charset="-128"/>
                          <a:ea typeface="メイリオ" panose="020B0604030504040204" pitchFamily="50" charset="-128"/>
                        </a:rPr>
                        <a:t>インフラへの巨額投資」と、「</a:t>
                      </a:r>
                      <a:r>
                        <a:rPr lang="en-US" altLang="ja-JP" sz="700" dirty="0">
                          <a:solidFill>
                            <a:schemeClr val="tx1">
                              <a:lumMod val="75000"/>
                              <a:lumOff val="25000"/>
                            </a:schemeClr>
                          </a:solidFill>
                          <a:latin typeface="メイリオ" panose="020B0604030504040204" pitchFamily="50" charset="-128"/>
                          <a:ea typeface="メイリオ" panose="020B0604030504040204" pitchFamily="50" charset="-128"/>
                        </a:rPr>
                        <a:t>AI</a:t>
                      </a:r>
                      <a:r>
                        <a:rPr lang="ja-JP" altLang="en-US" sz="700" dirty="0">
                          <a:solidFill>
                            <a:schemeClr val="tx1">
                              <a:lumMod val="75000"/>
                              <a:lumOff val="25000"/>
                            </a:schemeClr>
                          </a:solidFill>
                          <a:latin typeface="メイリオ" panose="020B0604030504040204" pitchFamily="50" charset="-128"/>
                          <a:ea typeface="メイリオ" panose="020B0604030504040204" pitchFamily="50" charset="-128"/>
                        </a:rPr>
                        <a:t>を活用する側」と「</a:t>
                      </a:r>
                      <a:r>
                        <a:rPr lang="en-US" altLang="ja-JP" sz="700" dirty="0">
                          <a:solidFill>
                            <a:schemeClr val="tx1">
                              <a:lumMod val="75000"/>
                              <a:lumOff val="25000"/>
                            </a:schemeClr>
                          </a:solidFill>
                          <a:latin typeface="メイリオ" panose="020B0604030504040204" pitchFamily="50" charset="-128"/>
                          <a:ea typeface="メイリオ" panose="020B0604030504040204" pitchFamily="50" charset="-128"/>
                        </a:rPr>
                        <a:t>AI</a:t>
                      </a:r>
                      <a:r>
                        <a:rPr lang="ja-JP" altLang="en-US" sz="700" dirty="0">
                          <a:solidFill>
                            <a:schemeClr val="tx1">
                              <a:lumMod val="75000"/>
                              <a:lumOff val="25000"/>
                            </a:schemeClr>
                          </a:solidFill>
                          <a:latin typeface="メイリオ" panose="020B0604030504040204" pitchFamily="50" charset="-128"/>
                          <a:ea typeface="メイリオ" panose="020B0604030504040204" pitchFamily="50" charset="-128"/>
                        </a:rPr>
                        <a:t>を提供する側」の二重の競争が顕在化。</a:t>
                      </a:r>
                      <a:r>
                        <a:rPr lang="en-US" altLang="ja-JP" sz="700" dirty="0">
                          <a:solidFill>
                            <a:schemeClr val="tx1">
                              <a:lumMod val="75000"/>
                              <a:lumOff val="25000"/>
                            </a:schemeClr>
                          </a:solidFill>
                          <a:latin typeface="メイリオ" panose="020B0604030504040204" pitchFamily="50" charset="-128"/>
                          <a:ea typeface="メイリオ" panose="020B0604030504040204" pitchFamily="50" charset="-128"/>
                        </a:rPr>
                        <a:t>SSM</a:t>
                      </a:r>
                      <a:r>
                        <a:rPr lang="ja-JP" altLang="en-US" sz="700" dirty="0">
                          <a:solidFill>
                            <a:schemeClr val="tx1">
                              <a:lumMod val="75000"/>
                              <a:lumOff val="25000"/>
                            </a:schemeClr>
                          </a:solidFill>
                          <a:latin typeface="メイリオ" panose="020B0604030504040204" pitchFamily="50" charset="-128"/>
                          <a:ea typeface="メイリオ" panose="020B0604030504040204" pitchFamily="50" charset="-128"/>
                        </a:rPr>
                        <a:t>は後者（</a:t>
                      </a:r>
                      <a:r>
                        <a:rPr lang="en-US" altLang="ja-JP" sz="700" dirty="0">
                          <a:solidFill>
                            <a:schemeClr val="tx1">
                              <a:lumMod val="75000"/>
                              <a:lumOff val="25000"/>
                            </a:schemeClr>
                          </a:solidFill>
                          <a:latin typeface="メイリオ" panose="020B0604030504040204" pitchFamily="50" charset="-128"/>
                          <a:ea typeface="メイリオ" panose="020B0604030504040204" pitchFamily="50" charset="-128"/>
                        </a:rPr>
                        <a:t>AITRIOS</a:t>
                      </a:r>
                      <a:r>
                        <a:rPr lang="ja-JP" altLang="en-US" sz="700" dirty="0">
                          <a:solidFill>
                            <a:schemeClr val="tx1">
                              <a:lumMod val="75000"/>
                              <a:lumOff val="25000"/>
                            </a:schemeClr>
                          </a:solidFill>
                          <a:latin typeface="メイリオ" panose="020B0604030504040204" pitchFamily="50" charset="-128"/>
                          <a:ea typeface="メイリオ" panose="020B0604030504040204" pitchFamily="50" charset="-128"/>
                        </a:rPr>
                        <a:t>を通じた提供側）のポジションも持てる。</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568700976"/>
                  </a:ext>
                </a:extLst>
              </a:tr>
              <a:tr h="143944">
                <a:tc>
                  <a:txBody>
                    <a:bodyPr/>
                    <a:lstStyle/>
                    <a:p>
                      <a:pPr>
                        <a:buNone/>
                      </a:pPr>
                      <a:r>
                        <a:rPr lang="en-US" altLang="ja-JP" sz="700" b="1">
                          <a:solidFill>
                            <a:schemeClr val="tx1">
                              <a:lumMod val="75000"/>
                              <a:lumOff val="25000"/>
                            </a:schemeClr>
                          </a:solidFill>
                          <a:latin typeface="メイリオ" panose="020B0604030504040204" pitchFamily="50" charset="-128"/>
                          <a:ea typeface="メイリオ" panose="020B0604030504040204" pitchFamily="50" charset="-128"/>
                        </a:rPr>
                        <a:t>2025</a:t>
                      </a:r>
                      <a:r>
                        <a:rPr lang="ja-JP" altLang="en-US" sz="700" b="1">
                          <a:solidFill>
                            <a:schemeClr val="tx1">
                              <a:lumMod val="75000"/>
                              <a:lumOff val="25000"/>
                            </a:schemeClr>
                          </a:solidFill>
                          <a:latin typeface="メイリオ" panose="020B0604030504040204" pitchFamily="50" charset="-128"/>
                          <a:ea typeface="メイリオ" panose="020B0604030504040204" pitchFamily="50" charset="-128"/>
                        </a:rPr>
                        <a:t>（</a:t>
                      </a:r>
                      <a:r>
                        <a:rPr lang="en-US" altLang="ja-JP" sz="700" b="1">
                          <a:solidFill>
                            <a:schemeClr val="tx1">
                              <a:lumMod val="75000"/>
                              <a:lumOff val="25000"/>
                            </a:schemeClr>
                          </a:solidFill>
                          <a:latin typeface="メイリオ" panose="020B0604030504040204" pitchFamily="50" charset="-128"/>
                          <a:ea typeface="メイリオ" panose="020B0604030504040204" pitchFamily="50" charset="-128"/>
                        </a:rPr>
                        <a:t>9</a:t>
                      </a:r>
                      <a:r>
                        <a:rPr lang="ja-JP" altLang="en-US" sz="700" b="1">
                          <a:solidFill>
                            <a:schemeClr val="tx1">
                              <a:lumMod val="75000"/>
                              <a:lumOff val="25000"/>
                            </a:schemeClr>
                          </a:solidFill>
                          <a:latin typeface="メイリオ" panose="020B0604030504040204" pitchFamily="50" charset="-128"/>
                          <a:ea typeface="メイリオ" panose="020B0604030504040204" pitchFamily="50" charset="-128"/>
                        </a:rPr>
                        <a:t>月）</a:t>
                      </a:r>
                      <a:endParaRPr lang="ja-JP" altLang="en-US" sz="700">
                        <a:solidFill>
                          <a:schemeClr val="tx1">
                            <a:lumMod val="75000"/>
                            <a:lumOff val="25000"/>
                          </a:schemeClr>
                        </a:solidFill>
                        <a:latin typeface="メイリオ" panose="020B0604030504040204" pitchFamily="50" charset="-128"/>
                        <a:ea typeface="メイリオ" panose="020B0604030504040204" pitchFamily="50" charset="-128"/>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buNone/>
                      </a:pPr>
                      <a:r>
                        <a:rPr lang="ja-JP" altLang="en-US" sz="700">
                          <a:solidFill>
                            <a:schemeClr val="tx1">
                              <a:lumMod val="75000"/>
                              <a:lumOff val="25000"/>
                            </a:schemeClr>
                          </a:solidFill>
                          <a:latin typeface="メイリオ" panose="020B0604030504040204" pitchFamily="50" charset="-128"/>
                          <a:ea typeface="メイリオ" panose="020B0604030504040204" pitchFamily="50" charset="-128"/>
                        </a:rPr>
                        <a:t>日本発スタートアップ </a:t>
                      </a:r>
                      <a:r>
                        <a:rPr lang="en-US" altLang="ja-JP" sz="700">
                          <a:solidFill>
                            <a:schemeClr val="tx1">
                              <a:lumMod val="75000"/>
                              <a:lumOff val="25000"/>
                            </a:schemeClr>
                          </a:solidFill>
                          <a:latin typeface="メイリオ" panose="020B0604030504040204" pitchFamily="50" charset="-128"/>
                          <a:ea typeface="メイリオ" panose="020B0604030504040204" pitchFamily="50" charset="-128"/>
                        </a:rPr>
                        <a:t>iCrystal </a:t>
                      </a:r>
                      <a:r>
                        <a:rPr lang="ja-JP" altLang="en-US" sz="700">
                          <a:solidFill>
                            <a:schemeClr val="tx1">
                              <a:lumMod val="75000"/>
                              <a:lumOff val="25000"/>
                            </a:schemeClr>
                          </a:solidFill>
                          <a:latin typeface="メイリオ" panose="020B0604030504040204" pitchFamily="50" charset="-128"/>
                          <a:ea typeface="メイリオ" panose="020B0604030504040204" pitchFamily="50" charset="-128"/>
                        </a:rPr>
                        <a:t>の事例として、</a:t>
                      </a:r>
                      <a:r>
                        <a:rPr lang="en-US" altLang="ja-JP" sz="700" b="1">
                          <a:solidFill>
                            <a:schemeClr val="tx1">
                              <a:lumMod val="75000"/>
                              <a:lumOff val="25000"/>
                            </a:schemeClr>
                          </a:solidFill>
                          <a:latin typeface="メイリオ" panose="020B0604030504040204" pitchFamily="50" charset="-128"/>
                          <a:ea typeface="メイリオ" panose="020B0604030504040204" pitchFamily="50" charset="-128"/>
                        </a:rPr>
                        <a:t>MetaFactory </a:t>
                      </a:r>
                      <a:r>
                        <a:rPr lang="ja-JP" altLang="en-US" sz="700" b="1">
                          <a:solidFill>
                            <a:schemeClr val="tx1">
                              <a:lumMod val="75000"/>
                              <a:lumOff val="25000"/>
                            </a:schemeClr>
                          </a:solidFill>
                          <a:latin typeface="メイリオ" panose="020B0604030504040204" pitchFamily="50" charset="-128"/>
                          <a:ea typeface="メイリオ" panose="020B0604030504040204" pitchFamily="50" charset="-128"/>
                        </a:rPr>
                        <a:t>プラットフォームを用い、「シリコンウェーハ</a:t>
                      </a:r>
                      <a:r>
                        <a:rPr lang="en-US" altLang="ja-JP" sz="700" b="1">
                          <a:solidFill>
                            <a:schemeClr val="tx1">
                              <a:lumMod val="75000"/>
                              <a:lumOff val="25000"/>
                            </a:schemeClr>
                          </a:solidFill>
                          <a:latin typeface="メイリオ" panose="020B0604030504040204" pitchFamily="50" charset="-128"/>
                          <a:ea typeface="メイリオ" panose="020B0604030504040204" pitchFamily="50" charset="-128"/>
                        </a:rPr>
                        <a:t>〜CIS</a:t>
                      </a:r>
                      <a:r>
                        <a:rPr lang="ja-JP" altLang="en-US" sz="700" b="1">
                          <a:solidFill>
                            <a:schemeClr val="tx1">
                              <a:lumMod val="75000"/>
                              <a:lumOff val="25000"/>
                            </a:schemeClr>
                          </a:solidFill>
                          <a:latin typeface="メイリオ" panose="020B0604030504040204" pitchFamily="50" charset="-128"/>
                          <a:ea typeface="メイリオ" panose="020B0604030504040204" pitchFamily="50" charset="-128"/>
                        </a:rPr>
                        <a:t>製造まで</a:t>
                      </a:r>
                      <a:r>
                        <a:rPr lang="en-US" altLang="ja-JP" sz="700" b="1">
                          <a:solidFill>
                            <a:schemeClr val="tx1">
                              <a:lumMod val="75000"/>
                              <a:lumOff val="25000"/>
                            </a:schemeClr>
                          </a:solidFill>
                          <a:latin typeface="メイリオ" panose="020B0604030504040204" pitchFamily="50" charset="-128"/>
                          <a:ea typeface="メイリオ" panose="020B0604030504040204" pitchFamily="50" charset="-128"/>
                        </a:rPr>
                        <a:t>30</a:t>
                      </a:r>
                      <a:r>
                        <a:rPr lang="ja-JP" altLang="en-US" sz="700" b="1">
                          <a:solidFill>
                            <a:schemeClr val="tx1">
                              <a:lumMod val="75000"/>
                              <a:lumOff val="25000"/>
                            </a:schemeClr>
                          </a:solidFill>
                          <a:latin typeface="メイリオ" panose="020B0604030504040204" pitchFamily="50" charset="-128"/>
                          <a:ea typeface="メイリオ" panose="020B0604030504040204" pitchFamily="50" charset="-128"/>
                        </a:rPr>
                        <a:t>工程を一気通貫で最適化」したケーススタディ</a:t>
                      </a:r>
                      <a:r>
                        <a:rPr lang="ja-JP" altLang="en-US" sz="700">
                          <a:solidFill>
                            <a:schemeClr val="tx1">
                              <a:lumMod val="75000"/>
                              <a:lumOff val="25000"/>
                            </a:schemeClr>
                          </a:solidFill>
                          <a:latin typeface="メイリオ" panose="020B0604030504040204" pitchFamily="50" charset="-128"/>
                          <a:ea typeface="メイリオ" panose="020B0604030504040204" pitchFamily="50" charset="-128"/>
                        </a:rPr>
                        <a:t>が紹介される。これは </a:t>
                      </a:r>
                      <a:r>
                        <a:rPr lang="en-US" altLang="ja-JP" sz="700">
                          <a:solidFill>
                            <a:schemeClr val="tx1">
                              <a:lumMod val="75000"/>
                              <a:lumOff val="25000"/>
                            </a:schemeClr>
                          </a:solidFill>
                          <a:latin typeface="メイリオ" panose="020B0604030504040204" pitchFamily="50" charset="-128"/>
                          <a:ea typeface="メイリオ" panose="020B0604030504040204" pitchFamily="50" charset="-128"/>
                        </a:rPr>
                        <a:t>GlobalWafers Japan</a:t>
                      </a:r>
                      <a:r>
                        <a:rPr lang="ja-JP" altLang="en-US" sz="700">
                          <a:solidFill>
                            <a:schemeClr val="tx1">
                              <a:lumMod val="75000"/>
                              <a:lumOff val="25000"/>
                            </a:schemeClr>
                          </a:solidFill>
                          <a:latin typeface="メイリオ" panose="020B0604030504040204" pitchFamily="50" charset="-128"/>
                          <a:ea typeface="メイリオ" panose="020B0604030504040204" pitchFamily="50" charset="-128"/>
                        </a:rPr>
                        <a:t>・</a:t>
                      </a:r>
                      <a:r>
                        <a:rPr lang="en-US" altLang="ja-JP" sz="700">
                          <a:solidFill>
                            <a:schemeClr val="tx1">
                              <a:lumMod val="75000"/>
                              <a:lumOff val="25000"/>
                            </a:schemeClr>
                          </a:solidFill>
                          <a:latin typeface="メイリオ" panose="020B0604030504040204" pitchFamily="50" charset="-128"/>
                          <a:ea typeface="メイリオ" panose="020B0604030504040204" pitchFamily="50" charset="-128"/>
                        </a:rPr>
                        <a:t>Sony Semiconductor Manufacturing</a:t>
                      </a:r>
                      <a:r>
                        <a:rPr lang="ja-JP" altLang="en-US" sz="700">
                          <a:solidFill>
                            <a:schemeClr val="tx1">
                              <a:lumMod val="75000"/>
                              <a:lumOff val="25000"/>
                            </a:schemeClr>
                          </a:solidFill>
                          <a:latin typeface="メイリオ" panose="020B0604030504040204" pitchFamily="50" charset="-128"/>
                          <a:ea typeface="メイリオ" panose="020B0604030504040204" pitchFamily="50" charset="-128"/>
                        </a:rPr>
                        <a:t>・名古屋大学との共同プロジェクトで、</a:t>
                      </a:r>
                      <a:r>
                        <a:rPr lang="en-US" altLang="ja-JP" sz="700">
                          <a:solidFill>
                            <a:schemeClr val="tx1">
                              <a:lumMod val="75000"/>
                              <a:lumOff val="25000"/>
                            </a:schemeClr>
                          </a:solidFill>
                          <a:latin typeface="メイリオ" panose="020B0604030504040204" pitchFamily="50" charset="-128"/>
                          <a:ea typeface="メイリオ" panose="020B0604030504040204" pitchFamily="50" charset="-128"/>
                        </a:rPr>
                        <a:t>NEDO</a:t>
                      </a:r>
                      <a:r>
                        <a:rPr lang="ja-JP" altLang="en-US" sz="700">
                          <a:solidFill>
                            <a:schemeClr val="tx1">
                              <a:lumMod val="75000"/>
                              <a:lumOff val="25000"/>
                            </a:schemeClr>
                          </a:solidFill>
                          <a:latin typeface="メイリオ" panose="020B0604030504040204" pitchFamily="50" charset="-128"/>
                          <a:ea typeface="メイリオ" panose="020B0604030504040204" pitchFamily="50" charset="-128"/>
                        </a:rPr>
                        <a:t>プログラムの一環と明記。</a:t>
                      </a:r>
                      <a:r>
                        <a:rPr lang="en-US" altLang="ja-JP" sz="700">
                          <a:solidFill>
                            <a:schemeClr val="tx1">
                              <a:lumMod val="75000"/>
                              <a:lumOff val="25000"/>
                            </a:schemeClr>
                          </a:solidFill>
                          <a:latin typeface="メイリオ" panose="020B0604030504040204" pitchFamily="50" charset="-128"/>
                          <a:ea typeface="メイリオ" panose="020B0604030504040204" pitchFamily="50" charset="-128"/>
                          <a:hlinkClick r:id="rId11">
                            <a:extLst>
                              <a:ext uri="{A12FA001-AC4F-418D-AE19-62706E023703}">
                                <ahyp:hlinkClr xmlns:ahyp="http://schemas.microsoft.com/office/drawing/2018/hyperlinkcolor" val="tx"/>
                              </a:ext>
                            </a:extLst>
                          </a:hlinkClick>
                        </a:rPr>
                        <a:t>itbusinesstoday+1</a:t>
                      </a:r>
                      <a:endParaRPr lang="ja-JP" altLang="en-US" sz="700">
                        <a:solidFill>
                          <a:schemeClr val="tx1">
                            <a:lumMod val="75000"/>
                            <a:lumOff val="25000"/>
                          </a:schemeClr>
                        </a:solidFill>
                        <a:latin typeface="メイリオ" panose="020B0604030504040204" pitchFamily="50" charset="-128"/>
                        <a:ea typeface="メイリオ" panose="020B0604030504040204" pitchFamily="50" charset="-128"/>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buNone/>
                      </a:pPr>
                      <a:r>
                        <a:rPr lang="ja-JP" altLang="en-US" sz="700">
                          <a:solidFill>
                            <a:schemeClr val="tx1">
                              <a:lumMod val="75000"/>
                              <a:lumOff val="25000"/>
                            </a:schemeClr>
                          </a:solidFill>
                          <a:latin typeface="メイリオ" panose="020B0604030504040204" pitchFamily="50" charset="-128"/>
                          <a:ea typeface="メイリオ" panose="020B0604030504040204" pitchFamily="50" charset="-128"/>
                        </a:rPr>
                        <a:t>ここで </a:t>
                      </a:r>
                      <a:r>
                        <a:rPr lang="en-US" altLang="ja-JP" sz="700">
                          <a:solidFill>
                            <a:schemeClr val="tx1">
                              <a:lumMod val="75000"/>
                              <a:lumOff val="25000"/>
                            </a:schemeClr>
                          </a:solidFill>
                          <a:latin typeface="メイリオ" panose="020B0604030504040204" pitchFamily="50" charset="-128"/>
                          <a:ea typeface="メイリオ" panose="020B0604030504040204" pitchFamily="50" charset="-128"/>
                        </a:rPr>
                        <a:t>SSM </a:t>
                      </a:r>
                      <a:r>
                        <a:rPr lang="ja-JP" altLang="en-US" sz="700">
                          <a:solidFill>
                            <a:schemeClr val="tx1">
                              <a:lumMod val="75000"/>
                              <a:lumOff val="25000"/>
                            </a:schemeClr>
                          </a:solidFill>
                          <a:latin typeface="メイリオ" panose="020B0604030504040204" pitchFamily="50" charset="-128"/>
                          <a:ea typeface="メイリオ" panose="020B0604030504040204" pitchFamily="50" charset="-128"/>
                        </a:rPr>
                        <a:t>は、「</a:t>
                      </a:r>
                      <a:r>
                        <a:rPr lang="ja-JP" altLang="en-US" sz="700" b="1">
                          <a:solidFill>
                            <a:schemeClr val="tx1">
                              <a:lumMod val="75000"/>
                              <a:lumOff val="25000"/>
                            </a:schemeClr>
                          </a:solidFill>
                          <a:latin typeface="メイリオ" panose="020B0604030504040204" pitchFamily="50" charset="-128"/>
                          <a:ea typeface="メイリオ" panose="020B0604030504040204" pitchFamily="50" charset="-128"/>
                        </a:rPr>
                        <a:t>複数企業＋大学との連携で、材料</a:t>
                      </a:r>
                      <a:r>
                        <a:rPr lang="en-US" altLang="ja-JP" sz="700" b="1">
                          <a:solidFill>
                            <a:schemeClr val="tx1">
                              <a:lumMod val="75000"/>
                              <a:lumOff val="25000"/>
                            </a:schemeClr>
                          </a:solidFill>
                          <a:latin typeface="メイリオ" panose="020B0604030504040204" pitchFamily="50" charset="-128"/>
                          <a:ea typeface="メイリオ" panose="020B0604030504040204" pitchFamily="50" charset="-128"/>
                        </a:rPr>
                        <a:t>〜CIS</a:t>
                      </a:r>
                      <a:r>
                        <a:rPr lang="ja-JP" altLang="en-US" sz="700" b="1">
                          <a:solidFill>
                            <a:schemeClr val="tx1">
                              <a:lumMod val="75000"/>
                              <a:lumOff val="25000"/>
                            </a:schemeClr>
                          </a:solidFill>
                          <a:latin typeface="メイリオ" panose="020B0604030504040204" pitchFamily="50" charset="-128"/>
                          <a:ea typeface="メイリオ" panose="020B0604030504040204" pitchFamily="50" charset="-128"/>
                        </a:rPr>
                        <a:t>完成までの</a:t>
                      </a:r>
                      <a:r>
                        <a:rPr lang="en-US" altLang="ja-JP" sz="700" b="1">
                          <a:solidFill>
                            <a:schemeClr val="tx1">
                              <a:lumMod val="75000"/>
                              <a:lumOff val="25000"/>
                            </a:schemeClr>
                          </a:solidFill>
                          <a:latin typeface="メイリオ" panose="020B0604030504040204" pitchFamily="50" charset="-128"/>
                          <a:ea typeface="メイリオ" panose="020B0604030504040204" pitchFamily="50" charset="-128"/>
                        </a:rPr>
                        <a:t>30</a:t>
                      </a:r>
                      <a:r>
                        <a:rPr lang="ja-JP" altLang="en-US" sz="700" b="1">
                          <a:solidFill>
                            <a:schemeClr val="tx1">
                              <a:lumMod val="75000"/>
                              <a:lumOff val="25000"/>
                            </a:schemeClr>
                          </a:solidFill>
                          <a:latin typeface="メイリオ" panose="020B0604030504040204" pitchFamily="50" charset="-128"/>
                          <a:ea typeface="メイリオ" panose="020B0604030504040204" pitchFamily="50" charset="-128"/>
                        </a:rPr>
                        <a:t>プロセス全体を対象にした最適化</a:t>
                      </a:r>
                      <a:r>
                        <a:rPr lang="ja-JP" altLang="en-US" sz="700">
                          <a:solidFill>
                            <a:schemeClr val="tx1">
                              <a:lumMod val="75000"/>
                              <a:lumOff val="25000"/>
                            </a:schemeClr>
                          </a:solidFill>
                          <a:latin typeface="メイリオ" panose="020B0604030504040204" pitchFamily="50" charset="-128"/>
                          <a:ea typeface="メイリオ" panose="020B0604030504040204" pitchFamily="50" charset="-128"/>
                        </a:rPr>
                        <a:t>」事例に名を連ねる。</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buNone/>
                      </a:pPr>
                      <a:r>
                        <a:rPr lang="ja-JP" altLang="en-US" sz="700" dirty="0">
                          <a:solidFill>
                            <a:schemeClr val="tx1">
                              <a:lumMod val="75000"/>
                              <a:lumOff val="25000"/>
                            </a:schemeClr>
                          </a:solidFill>
                          <a:latin typeface="メイリオ" panose="020B0604030504040204" pitchFamily="50" charset="-128"/>
                          <a:ea typeface="メイリオ" panose="020B0604030504040204" pitchFamily="50" charset="-128"/>
                        </a:rPr>
                        <a:t>これはまさに、あなたが言っていた「メタファクトリー」事例そのもの。</a:t>
                      </a:r>
                      <a:r>
                        <a:rPr lang="ja-JP" altLang="en-US" sz="700" b="1" dirty="0">
                          <a:solidFill>
                            <a:schemeClr val="tx1">
                              <a:lumMod val="75000"/>
                              <a:lumOff val="25000"/>
                            </a:schemeClr>
                          </a:solidFill>
                          <a:latin typeface="メイリオ" panose="020B0604030504040204" pitchFamily="50" charset="-128"/>
                          <a:ea typeface="メイリオ" panose="020B0604030504040204" pitchFamily="50" charset="-128"/>
                        </a:rPr>
                        <a:t>点ではなく、ライン全体を最適化する日本発の取り組み</a:t>
                      </a:r>
                      <a:r>
                        <a:rPr lang="ja-JP" altLang="en-US" sz="700" dirty="0">
                          <a:solidFill>
                            <a:schemeClr val="tx1">
                              <a:lumMod val="75000"/>
                              <a:lumOff val="25000"/>
                            </a:schemeClr>
                          </a:solidFill>
                          <a:latin typeface="メイリオ" panose="020B0604030504040204" pitchFamily="50" charset="-128"/>
                          <a:ea typeface="メイリオ" panose="020B0604030504040204" pitchFamily="50" charset="-128"/>
                        </a:rPr>
                        <a:t>として非常に重要なピース。</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172293303"/>
                  </a:ext>
                </a:extLst>
              </a:tr>
              <a:tr h="157529">
                <a:tc>
                  <a:txBody>
                    <a:bodyPr/>
                    <a:lstStyle/>
                    <a:p>
                      <a:pPr>
                        <a:buNone/>
                      </a:pPr>
                      <a:r>
                        <a:rPr lang="en-US" altLang="ja-JP" sz="700" b="1">
                          <a:solidFill>
                            <a:schemeClr val="tx1">
                              <a:lumMod val="75000"/>
                              <a:lumOff val="25000"/>
                            </a:schemeClr>
                          </a:solidFill>
                          <a:latin typeface="メイリオ" panose="020B0604030504040204" pitchFamily="50" charset="-128"/>
                          <a:ea typeface="メイリオ" panose="020B0604030504040204" pitchFamily="50" charset="-128"/>
                        </a:rPr>
                        <a:t>2025</a:t>
                      </a:r>
                      <a:r>
                        <a:rPr lang="ja-JP" altLang="en-US" sz="700" b="1">
                          <a:solidFill>
                            <a:schemeClr val="tx1">
                              <a:lumMod val="75000"/>
                              <a:lumOff val="25000"/>
                            </a:schemeClr>
                          </a:solidFill>
                          <a:latin typeface="メイリオ" panose="020B0604030504040204" pitchFamily="50" charset="-128"/>
                          <a:ea typeface="メイリオ" panose="020B0604030504040204" pitchFamily="50" charset="-128"/>
                        </a:rPr>
                        <a:t>（</a:t>
                      </a:r>
                      <a:r>
                        <a:rPr lang="en-US" altLang="ja-JP" sz="700" b="1">
                          <a:solidFill>
                            <a:schemeClr val="tx1">
                              <a:lumMod val="75000"/>
                              <a:lumOff val="25000"/>
                            </a:schemeClr>
                          </a:solidFill>
                          <a:latin typeface="メイリオ" panose="020B0604030504040204" pitchFamily="50" charset="-128"/>
                          <a:ea typeface="メイリオ" panose="020B0604030504040204" pitchFamily="50" charset="-128"/>
                        </a:rPr>
                        <a:t>10</a:t>
                      </a:r>
                      <a:r>
                        <a:rPr lang="ja-JP" altLang="en-US" sz="700" b="1">
                          <a:solidFill>
                            <a:schemeClr val="tx1">
                              <a:lumMod val="75000"/>
                              <a:lumOff val="25000"/>
                            </a:schemeClr>
                          </a:solidFill>
                          <a:latin typeface="メイリオ" panose="020B0604030504040204" pitchFamily="50" charset="-128"/>
                          <a:ea typeface="メイリオ" panose="020B0604030504040204" pitchFamily="50" charset="-128"/>
                        </a:rPr>
                        <a:t>月</a:t>
                      </a:r>
                      <a:r>
                        <a:rPr lang="en-US" altLang="ja-JP" sz="700" b="1">
                          <a:solidFill>
                            <a:schemeClr val="tx1">
                              <a:lumMod val="75000"/>
                              <a:lumOff val="25000"/>
                            </a:schemeClr>
                          </a:solidFill>
                          <a:latin typeface="メイリオ" panose="020B0604030504040204" pitchFamily="50" charset="-128"/>
                          <a:ea typeface="メイリオ" panose="020B0604030504040204" pitchFamily="50" charset="-128"/>
                        </a:rPr>
                        <a:t>31</a:t>
                      </a:r>
                      <a:r>
                        <a:rPr lang="ja-JP" altLang="en-US" sz="700" b="1">
                          <a:solidFill>
                            <a:schemeClr val="tx1">
                              <a:lumMod val="75000"/>
                              <a:lumOff val="25000"/>
                            </a:schemeClr>
                          </a:solidFill>
                          <a:latin typeface="メイリオ" panose="020B0604030504040204" pitchFamily="50" charset="-128"/>
                          <a:ea typeface="メイリオ" panose="020B0604030504040204" pitchFamily="50" charset="-128"/>
                        </a:rPr>
                        <a:t>日）</a:t>
                      </a:r>
                      <a:endParaRPr lang="ja-JP" altLang="en-US" sz="700">
                        <a:solidFill>
                          <a:schemeClr val="tx1">
                            <a:lumMod val="75000"/>
                            <a:lumOff val="25000"/>
                          </a:schemeClr>
                        </a:solidFill>
                        <a:latin typeface="メイリオ" panose="020B0604030504040204" pitchFamily="50" charset="-128"/>
                        <a:ea typeface="メイリオ" panose="020B0604030504040204" pitchFamily="50" charset="-128"/>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buNone/>
                      </a:pPr>
                      <a:r>
                        <a:rPr lang="en-US" altLang="ja-JP" sz="700" b="1">
                          <a:solidFill>
                            <a:schemeClr val="tx1">
                              <a:lumMod val="75000"/>
                              <a:lumOff val="25000"/>
                            </a:schemeClr>
                          </a:solidFill>
                          <a:latin typeface="メイリオ" panose="020B0604030504040204" pitchFamily="50" charset="-128"/>
                          <a:ea typeface="メイリオ" panose="020B0604030504040204" pitchFamily="50" charset="-128"/>
                        </a:rPr>
                        <a:t>Samsung Electronics </a:t>
                      </a:r>
                      <a:r>
                        <a:rPr lang="ja-JP" altLang="en-US" sz="700" b="1">
                          <a:solidFill>
                            <a:schemeClr val="tx1">
                              <a:lumMod val="75000"/>
                              <a:lumOff val="25000"/>
                            </a:schemeClr>
                          </a:solidFill>
                          <a:latin typeface="メイリオ" panose="020B0604030504040204" pitchFamily="50" charset="-128"/>
                          <a:ea typeface="メイリオ" panose="020B0604030504040204" pitchFamily="50" charset="-128"/>
                        </a:rPr>
                        <a:t>と </a:t>
                      </a:r>
                      <a:r>
                        <a:rPr lang="en-US" altLang="ja-JP" sz="700" b="1">
                          <a:solidFill>
                            <a:schemeClr val="tx1">
                              <a:lumMod val="75000"/>
                              <a:lumOff val="25000"/>
                            </a:schemeClr>
                          </a:solidFill>
                          <a:latin typeface="メイリオ" panose="020B0604030504040204" pitchFamily="50" charset="-128"/>
                          <a:ea typeface="メイリオ" panose="020B0604030504040204" pitchFamily="50" charset="-128"/>
                        </a:rPr>
                        <a:t>NVIDIA </a:t>
                      </a:r>
                      <a:r>
                        <a:rPr lang="ja-JP" altLang="en-US" sz="700" b="1">
                          <a:solidFill>
                            <a:schemeClr val="tx1">
                              <a:lumMod val="75000"/>
                              <a:lumOff val="25000"/>
                            </a:schemeClr>
                          </a:solidFill>
                          <a:latin typeface="メイリオ" panose="020B0604030504040204" pitchFamily="50" charset="-128"/>
                          <a:ea typeface="メイリオ" panose="020B0604030504040204" pitchFamily="50" charset="-128"/>
                        </a:rPr>
                        <a:t>が「</a:t>
                      </a:r>
                      <a:r>
                        <a:rPr lang="en-US" altLang="ja-JP" sz="700" b="1">
                          <a:solidFill>
                            <a:schemeClr val="tx1">
                              <a:lumMod val="75000"/>
                              <a:lumOff val="25000"/>
                            </a:schemeClr>
                          </a:solidFill>
                          <a:latin typeface="メイリオ" panose="020B0604030504040204" pitchFamily="50" charset="-128"/>
                          <a:ea typeface="メイリオ" panose="020B0604030504040204" pitchFamily="50" charset="-128"/>
                        </a:rPr>
                        <a:t>AI</a:t>
                      </a:r>
                      <a:r>
                        <a:rPr lang="ja-JP" altLang="en-US" sz="700" b="1">
                          <a:solidFill>
                            <a:schemeClr val="tx1">
                              <a:lumMod val="75000"/>
                              <a:lumOff val="25000"/>
                            </a:schemeClr>
                          </a:solidFill>
                          <a:latin typeface="メイリオ" panose="020B0604030504040204" pitchFamily="50" charset="-128"/>
                          <a:ea typeface="メイリオ" panose="020B0604030504040204" pitchFamily="50" charset="-128"/>
                        </a:rPr>
                        <a:t>メガファクトリー」を共同発表</a:t>
                      </a:r>
                      <a:r>
                        <a:rPr lang="ja-JP" altLang="en-US" sz="700">
                          <a:solidFill>
                            <a:schemeClr val="tx1">
                              <a:lumMod val="75000"/>
                              <a:lumOff val="25000"/>
                            </a:schemeClr>
                          </a:solidFill>
                          <a:latin typeface="メイリオ" panose="020B0604030504040204" pitchFamily="50" charset="-128"/>
                          <a:ea typeface="メイリオ" panose="020B0604030504040204" pitchFamily="50" charset="-128"/>
                        </a:rPr>
                        <a:t>。</a:t>
                      </a:r>
                      <a:r>
                        <a:rPr lang="en-US" altLang="ja-JP" sz="700">
                          <a:solidFill>
                            <a:schemeClr val="tx1">
                              <a:lumMod val="75000"/>
                              <a:lumOff val="25000"/>
                            </a:schemeClr>
                          </a:solidFill>
                          <a:latin typeface="メイリオ" panose="020B0604030504040204" pitchFamily="50" charset="-128"/>
                          <a:ea typeface="メイリオ" panose="020B0604030504040204" pitchFamily="50" charset="-128"/>
                        </a:rPr>
                        <a:t>Samsung </a:t>
                      </a:r>
                      <a:r>
                        <a:rPr lang="ja-JP" altLang="en-US" sz="700">
                          <a:solidFill>
                            <a:schemeClr val="tx1">
                              <a:lumMod val="75000"/>
                              <a:lumOff val="25000"/>
                            </a:schemeClr>
                          </a:solidFill>
                          <a:latin typeface="メイリオ" panose="020B0604030504040204" pitchFamily="50" charset="-128"/>
                          <a:ea typeface="メイリオ" panose="020B0604030504040204" pitchFamily="50" charset="-128"/>
                        </a:rPr>
                        <a:t>の半導体製造全体を対象に、</a:t>
                      </a:r>
                      <a:r>
                        <a:rPr lang="en-US" altLang="ja-JP" sz="700" b="1">
                          <a:solidFill>
                            <a:schemeClr val="tx1">
                              <a:lumMod val="75000"/>
                              <a:lumOff val="25000"/>
                            </a:schemeClr>
                          </a:solidFill>
                          <a:latin typeface="メイリオ" panose="020B0604030504040204" pitchFamily="50" charset="-128"/>
                          <a:ea typeface="メイリオ" panose="020B0604030504040204" pitchFamily="50" charset="-128"/>
                        </a:rPr>
                        <a:t>5</a:t>
                      </a:r>
                      <a:r>
                        <a:rPr lang="ja-JP" altLang="en-US" sz="700" b="1">
                          <a:solidFill>
                            <a:schemeClr val="tx1">
                              <a:lumMod val="75000"/>
                              <a:lumOff val="25000"/>
                            </a:schemeClr>
                          </a:solidFill>
                          <a:latin typeface="メイリオ" panose="020B0604030504040204" pitchFamily="50" charset="-128"/>
                          <a:ea typeface="メイリオ" panose="020B0604030504040204" pitchFamily="50" charset="-128"/>
                        </a:rPr>
                        <a:t>万基超の</a:t>
                      </a:r>
                      <a:r>
                        <a:rPr lang="en-US" altLang="ja-JP" sz="700" b="1">
                          <a:solidFill>
                            <a:schemeClr val="tx1">
                              <a:lumMod val="75000"/>
                              <a:lumOff val="25000"/>
                            </a:schemeClr>
                          </a:solidFill>
                          <a:latin typeface="メイリオ" panose="020B0604030504040204" pitchFamily="50" charset="-128"/>
                          <a:ea typeface="メイリオ" panose="020B0604030504040204" pitchFamily="50" charset="-128"/>
                        </a:rPr>
                        <a:t>NVIDIA GPU </a:t>
                      </a:r>
                      <a:r>
                        <a:rPr lang="ja-JP" altLang="en-US" sz="700" b="1">
                          <a:solidFill>
                            <a:schemeClr val="tx1">
                              <a:lumMod val="75000"/>
                              <a:lumOff val="25000"/>
                            </a:schemeClr>
                          </a:solidFill>
                          <a:latin typeface="メイリオ" panose="020B0604030504040204" pitchFamily="50" charset="-128"/>
                          <a:ea typeface="メイリオ" panose="020B0604030504040204" pitchFamily="50" charset="-128"/>
                        </a:rPr>
                        <a:t>とデジタルツインを組み合わせ、設計</a:t>
                      </a:r>
                      <a:r>
                        <a:rPr lang="en-US" altLang="ja-JP" sz="700" b="1">
                          <a:solidFill>
                            <a:schemeClr val="tx1">
                              <a:lumMod val="75000"/>
                              <a:lumOff val="25000"/>
                            </a:schemeClr>
                          </a:solidFill>
                          <a:latin typeface="メイリオ" panose="020B0604030504040204" pitchFamily="50" charset="-128"/>
                          <a:ea typeface="メイリオ" panose="020B0604030504040204" pitchFamily="50" charset="-128"/>
                        </a:rPr>
                        <a:t>〜</a:t>
                      </a:r>
                      <a:r>
                        <a:rPr lang="ja-JP" altLang="en-US" sz="700" b="1">
                          <a:solidFill>
                            <a:schemeClr val="tx1">
                              <a:lumMod val="75000"/>
                              <a:lumOff val="25000"/>
                            </a:schemeClr>
                          </a:solidFill>
                          <a:latin typeface="メイリオ" panose="020B0604030504040204" pitchFamily="50" charset="-128"/>
                          <a:ea typeface="メイリオ" panose="020B0604030504040204" pitchFamily="50" charset="-128"/>
                        </a:rPr>
                        <a:t>プロセス</a:t>
                      </a:r>
                      <a:r>
                        <a:rPr lang="en-US" altLang="ja-JP" sz="700" b="1">
                          <a:solidFill>
                            <a:schemeClr val="tx1">
                              <a:lumMod val="75000"/>
                              <a:lumOff val="25000"/>
                            </a:schemeClr>
                          </a:solidFill>
                          <a:latin typeface="メイリオ" panose="020B0604030504040204" pitchFamily="50" charset="-128"/>
                          <a:ea typeface="メイリオ" panose="020B0604030504040204" pitchFamily="50" charset="-128"/>
                        </a:rPr>
                        <a:t>〜</a:t>
                      </a:r>
                      <a:r>
                        <a:rPr lang="ja-JP" altLang="en-US" sz="700" b="1">
                          <a:solidFill>
                            <a:schemeClr val="tx1">
                              <a:lumMod val="75000"/>
                              <a:lumOff val="25000"/>
                            </a:schemeClr>
                          </a:solidFill>
                          <a:latin typeface="メイリオ" panose="020B0604030504040204" pitchFamily="50" charset="-128"/>
                          <a:ea typeface="メイリオ" panose="020B0604030504040204" pitchFamily="50" charset="-128"/>
                        </a:rPr>
                        <a:t>設備</a:t>
                      </a:r>
                      <a:r>
                        <a:rPr lang="en-US" altLang="ja-JP" sz="700" b="1">
                          <a:solidFill>
                            <a:schemeClr val="tx1">
                              <a:lumMod val="75000"/>
                              <a:lumOff val="25000"/>
                            </a:schemeClr>
                          </a:solidFill>
                          <a:latin typeface="メイリオ" panose="020B0604030504040204" pitchFamily="50" charset="-128"/>
                          <a:ea typeface="メイリオ" panose="020B0604030504040204" pitchFamily="50" charset="-128"/>
                        </a:rPr>
                        <a:t>〜</a:t>
                      </a:r>
                      <a:r>
                        <a:rPr lang="ja-JP" altLang="en-US" sz="700" b="1">
                          <a:solidFill>
                            <a:schemeClr val="tx1">
                              <a:lumMod val="75000"/>
                              <a:lumOff val="25000"/>
                            </a:schemeClr>
                          </a:solidFill>
                          <a:latin typeface="メイリオ" panose="020B0604030504040204" pitchFamily="50" charset="-128"/>
                          <a:ea typeface="メイリオ" panose="020B0604030504040204" pitchFamily="50" charset="-128"/>
                        </a:rPr>
                        <a:t>運用</a:t>
                      </a:r>
                      <a:r>
                        <a:rPr lang="en-US" altLang="ja-JP" sz="700" b="1">
                          <a:solidFill>
                            <a:schemeClr val="tx1">
                              <a:lumMod val="75000"/>
                              <a:lumOff val="25000"/>
                            </a:schemeClr>
                          </a:solidFill>
                          <a:latin typeface="メイリオ" panose="020B0604030504040204" pitchFamily="50" charset="-128"/>
                          <a:ea typeface="メイリオ" panose="020B0604030504040204" pitchFamily="50" charset="-128"/>
                        </a:rPr>
                        <a:t>〜</a:t>
                      </a:r>
                      <a:r>
                        <a:rPr lang="ja-JP" altLang="en-US" sz="700" b="1">
                          <a:solidFill>
                            <a:schemeClr val="tx1">
                              <a:lumMod val="75000"/>
                              <a:lumOff val="25000"/>
                            </a:schemeClr>
                          </a:solidFill>
                          <a:latin typeface="メイリオ" panose="020B0604030504040204" pitchFamily="50" charset="-128"/>
                          <a:ea typeface="メイリオ" panose="020B0604030504040204" pitchFamily="50" charset="-128"/>
                        </a:rPr>
                        <a:t>品質管理までを単一のインテリジェントネットワークで最適化する “</a:t>
                      </a:r>
                      <a:r>
                        <a:rPr lang="en-US" altLang="ja-JP" sz="700" b="1">
                          <a:solidFill>
                            <a:schemeClr val="tx1">
                              <a:lumMod val="75000"/>
                              <a:lumOff val="25000"/>
                            </a:schemeClr>
                          </a:solidFill>
                          <a:latin typeface="メイリオ" panose="020B0604030504040204" pitchFamily="50" charset="-128"/>
                          <a:ea typeface="メイリオ" panose="020B0604030504040204" pitchFamily="50" charset="-128"/>
                        </a:rPr>
                        <a:t>AI Factory” </a:t>
                      </a:r>
                      <a:r>
                        <a:rPr lang="ja-JP" altLang="en-US" sz="700" b="1">
                          <a:solidFill>
                            <a:schemeClr val="tx1">
                              <a:lumMod val="75000"/>
                              <a:lumOff val="25000"/>
                            </a:schemeClr>
                          </a:solidFill>
                          <a:latin typeface="メイリオ" panose="020B0604030504040204" pitchFamily="50" charset="-128"/>
                          <a:ea typeface="メイリオ" panose="020B0604030504040204" pitchFamily="50" charset="-128"/>
                        </a:rPr>
                        <a:t>を構築</a:t>
                      </a:r>
                      <a:r>
                        <a:rPr lang="ja-JP" altLang="en-US" sz="700">
                          <a:solidFill>
                            <a:schemeClr val="tx1">
                              <a:lumMod val="75000"/>
                              <a:lumOff val="25000"/>
                            </a:schemeClr>
                          </a:solidFill>
                          <a:latin typeface="メイリオ" panose="020B0604030504040204" pitchFamily="50" charset="-128"/>
                          <a:ea typeface="メイリオ" panose="020B0604030504040204" pitchFamily="50" charset="-128"/>
                        </a:rPr>
                        <a:t>すると公式リリース。</a:t>
                      </a:r>
                      <a:r>
                        <a:rPr lang="en-US" altLang="ja-JP" sz="700">
                          <a:solidFill>
                            <a:srgbClr val="0000FF"/>
                          </a:solidFill>
                          <a:latin typeface="メイリオ" panose="020B0604030504040204" pitchFamily="50" charset="-128"/>
                          <a:ea typeface="メイリオ" panose="020B0604030504040204" pitchFamily="50" charset="-128"/>
                          <a:hlinkClick r:id="rId12">
                            <a:extLst>
                              <a:ext uri="{A12FA001-AC4F-418D-AE19-62706E023703}">
                                <ahyp:hlinkClr xmlns:ahyp="http://schemas.microsoft.com/office/drawing/2018/hyperlinkcolor" val="tx"/>
                              </a:ext>
                            </a:extLst>
                          </a:hlinkClick>
                        </a:rPr>
                        <a:t>AI</a:t>
                      </a:r>
                      <a:r>
                        <a:rPr lang="ja-JP" altLang="en-US" sz="700">
                          <a:solidFill>
                            <a:srgbClr val="0000FF"/>
                          </a:solidFill>
                          <a:latin typeface="メイリオ" panose="020B0604030504040204" pitchFamily="50" charset="-128"/>
                          <a:ea typeface="メイリオ" panose="020B0604030504040204" pitchFamily="50" charset="-128"/>
                          <a:hlinkClick r:id="rId12">
                            <a:extLst>
                              <a:ext uri="{A12FA001-AC4F-418D-AE19-62706E023703}">
                                <ahyp:hlinkClr xmlns:ahyp="http://schemas.microsoft.com/office/drawing/2018/hyperlinkcolor" val="tx"/>
                              </a:ext>
                            </a:extLst>
                          </a:hlinkClick>
                        </a:rPr>
                        <a:t>マガジン</a:t>
                      </a:r>
                      <a:r>
                        <a:rPr lang="en-US" altLang="ja-JP" sz="700">
                          <a:solidFill>
                            <a:schemeClr val="tx1">
                              <a:lumMod val="75000"/>
                              <a:lumOff val="25000"/>
                            </a:schemeClr>
                          </a:solidFill>
                          <a:latin typeface="メイリオ" panose="020B0604030504040204" pitchFamily="50" charset="-128"/>
                          <a:ea typeface="メイリオ" panose="020B0604030504040204" pitchFamily="50" charset="-128"/>
                          <a:hlinkClick r:id="rId12">
                            <a:extLst>
                              <a:ext uri="{A12FA001-AC4F-418D-AE19-62706E023703}">
                                <ahyp:hlinkClr xmlns:ahyp="http://schemas.microsoft.com/office/drawing/2018/hyperlinkcolor" val="tx"/>
                              </a:ext>
                            </a:extLst>
                          </a:hlinkClick>
                        </a:rPr>
                        <a:t>+3NVIDIA+3Samsung Semiconductor+3</a:t>
                      </a:r>
                      <a:endParaRPr lang="ja-JP" altLang="en-US" sz="700">
                        <a:solidFill>
                          <a:schemeClr val="tx1">
                            <a:lumMod val="75000"/>
                            <a:lumOff val="25000"/>
                          </a:schemeClr>
                        </a:solidFill>
                        <a:latin typeface="メイリオ" panose="020B0604030504040204" pitchFamily="50" charset="-128"/>
                        <a:ea typeface="メイリオ" panose="020B0604030504040204" pitchFamily="50" charset="-128"/>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buNone/>
                      </a:pPr>
                      <a:r>
                        <a:rPr lang="ja-JP" altLang="en-US" sz="700">
                          <a:solidFill>
                            <a:schemeClr val="tx1">
                              <a:lumMod val="75000"/>
                              <a:lumOff val="25000"/>
                            </a:schemeClr>
                          </a:solidFill>
                          <a:latin typeface="メイリオ" panose="020B0604030504040204" pitchFamily="50" charset="-128"/>
                          <a:ea typeface="メイリオ" panose="020B0604030504040204" pitchFamily="50" charset="-128"/>
                        </a:rPr>
                        <a:t>日本メーカーで、ここまで**「</a:t>
                      </a:r>
                      <a:r>
                        <a:rPr lang="en-US" altLang="ja-JP" sz="700">
                          <a:solidFill>
                            <a:schemeClr val="tx1">
                              <a:lumMod val="75000"/>
                              <a:lumOff val="25000"/>
                            </a:schemeClr>
                          </a:solidFill>
                          <a:latin typeface="メイリオ" panose="020B0604030504040204" pitchFamily="50" charset="-128"/>
                          <a:ea typeface="メイリオ" panose="020B0604030504040204" pitchFamily="50" charset="-128"/>
                        </a:rPr>
                        <a:t>GPU</a:t>
                      </a:r>
                      <a:r>
                        <a:rPr lang="ja-JP" altLang="en-US" sz="700">
                          <a:solidFill>
                            <a:schemeClr val="tx1">
                              <a:lumMod val="75000"/>
                              <a:lumOff val="25000"/>
                            </a:schemeClr>
                          </a:solidFill>
                          <a:latin typeface="メイリオ" panose="020B0604030504040204" pitchFamily="50" charset="-128"/>
                          <a:ea typeface="メイリオ" panose="020B0604030504040204" pitchFamily="50" charset="-128"/>
                        </a:rPr>
                        <a:t>台数」「</a:t>
                      </a:r>
                      <a:r>
                        <a:rPr lang="en-US" altLang="ja-JP" sz="700">
                          <a:solidFill>
                            <a:schemeClr val="tx1">
                              <a:lumMod val="75000"/>
                              <a:lumOff val="25000"/>
                            </a:schemeClr>
                          </a:solidFill>
                          <a:latin typeface="メイリオ" panose="020B0604030504040204" pitchFamily="50" charset="-128"/>
                          <a:ea typeface="メイリオ" panose="020B0604030504040204" pitchFamily="50" charset="-128"/>
                        </a:rPr>
                        <a:t>AI Factory</a:t>
                      </a:r>
                      <a:r>
                        <a:rPr lang="ja-JP" altLang="en-US" sz="700">
                          <a:solidFill>
                            <a:schemeClr val="tx1">
                              <a:lumMod val="75000"/>
                              <a:lumOff val="25000"/>
                            </a:schemeClr>
                          </a:solidFill>
                          <a:latin typeface="メイリオ" panose="020B0604030504040204" pitchFamily="50" charset="-128"/>
                          <a:ea typeface="メイリオ" panose="020B0604030504040204" pitchFamily="50" charset="-128"/>
                        </a:rPr>
                        <a:t>構想」「グローバル展開」まで具体的に謳った事例はまだ限られている**。</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buNone/>
                      </a:pPr>
                      <a:r>
                        <a:rPr lang="ja-JP" altLang="en-US" sz="700">
                          <a:solidFill>
                            <a:schemeClr val="tx1">
                              <a:lumMod val="75000"/>
                              <a:lumOff val="25000"/>
                            </a:schemeClr>
                          </a:solidFill>
                          <a:latin typeface="メイリオ" panose="020B0604030504040204" pitchFamily="50" charset="-128"/>
                          <a:ea typeface="メイリオ" panose="020B0604030504040204" pitchFamily="50" charset="-128"/>
                        </a:rPr>
                        <a:t>「</a:t>
                      </a:r>
                      <a:r>
                        <a:rPr lang="en-US" altLang="ja-JP" sz="700" b="1">
                          <a:solidFill>
                            <a:schemeClr val="tx1">
                              <a:lumMod val="75000"/>
                              <a:lumOff val="25000"/>
                            </a:schemeClr>
                          </a:solidFill>
                          <a:latin typeface="メイリオ" panose="020B0604030504040204" pitchFamily="50" charset="-128"/>
                          <a:ea typeface="メイリオ" panose="020B0604030504040204" pitchFamily="50" charset="-128"/>
                        </a:rPr>
                        <a:t>AI</a:t>
                      </a:r>
                      <a:r>
                        <a:rPr lang="ja-JP" altLang="en-US" sz="700" b="1">
                          <a:solidFill>
                            <a:schemeClr val="tx1">
                              <a:lumMod val="75000"/>
                              <a:lumOff val="25000"/>
                            </a:schemeClr>
                          </a:solidFill>
                          <a:latin typeface="メイリオ" panose="020B0604030504040204" pitchFamily="50" charset="-128"/>
                          <a:ea typeface="メイリオ" panose="020B0604030504040204" pitchFamily="50" charset="-128"/>
                        </a:rPr>
                        <a:t>を工場に入れる</a:t>
                      </a:r>
                      <a:r>
                        <a:rPr lang="ja-JP" altLang="en-US" sz="700">
                          <a:solidFill>
                            <a:schemeClr val="tx1">
                              <a:lumMod val="75000"/>
                              <a:lumOff val="25000"/>
                            </a:schemeClr>
                          </a:solidFill>
                          <a:latin typeface="メイリオ" panose="020B0604030504040204" pitchFamily="50" charset="-128"/>
                          <a:ea typeface="メイリオ" panose="020B0604030504040204" pitchFamily="50" charset="-128"/>
                        </a:rPr>
                        <a:t>」ではなく、「</a:t>
                      </a:r>
                      <a:r>
                        <a:rPr lang="ja-JP" altLang="en-US" sz="700" b="1">
                          <a:solidFill>
                            <a:schemeClr val="tx1">
                              <a:lumMod val="75000"/>
                              <a:lumOff val="25000"/>
                            </a:schemeClr>
                          </a:solidFill>
                          <a:latin typeface="メイリオ" panose="020B0604030504040204" pitchFamily="50" charset="-128"/>
                          <a:ea typeface="メイリオ" panose="020B0604030504040204" pitchFamily="50" charset="-128"/>
                        </a:rPr>
                        <a:t>工場そのものを</a:t>
                      </a:r>
                      <a:r>
                        <a:rPr lang="en-US" altLang="ja-JP" sz="700" b="1">
                          <a:solidFill>
                            <a:schemeClr val="tx1">
                              <a:lumMod val="75000"/>
                              <a:lumOff val="25000"/>
                            </a:schemeClr>
                          </a:solidFill>
                          <a:latin typeface="メイリオ" panose="020B0604030504040204" pitchFamily="50" charset="-128"/>
                          <a:ea typeface="メイリオ" panose="020B0604030504040204" pitchFamily="50" charset="-128"/>
                        </a:rPr>
                        <a:t>AI</a:t>
                      </a:r>
                      <a:r>
                        <a:rPr lang="ja-JP" altLang="en-US" sz="700" b="1">
                          <a:solidFill>
                            <a:schemeClr val="tx1">
                              <a:lumMod val="75000"/>
                              <a:lumOff val="25000"/>
                            </a:schemeClr>
                          </a:solidFill>
                          <a:latin typeface="メイリオ" panose="020B0604030504040204" pitchFamily="50" charset="-128"/>
                          <a:ea typeface="メイリオ" panose="020B0604030504040204" pitchFamily="50" charset="-128"/>
                        </a:rPr>
                        <a:t>ネットワークとして設計する</a:t>
                      </a:r>
                      <a:r>
                        <a:rPr lang="ja-JP" altLang="en-US" sz="700">
                          <a:solidFill>
                            <a:schemeClr val="tx1">
                              <a:lumMod val="75000"/>
                              <a:lumOff val="25000"/>
                            </a:schemeClr>
                          </a:solidFill>
                          <a:latin typeface="メイリオ" panose="020B0604030504040204" pitchFamily="50" charset="-128"/>
                          <a:ea typeface="メイリオ" panose="020B0604030504040204" pitchFamily="50" charset="-128"/>
                        </a:rPr>
                        <a:t>」というレベルの宣言。</a:t>
                      </a:r>
                      <a:r>
                        <a:rPr lang="en-US" altLang="ja-JP" sz="700">
                          <a:solidFill>
                            <a:schemeClr val="tx1">
                              <a:lumMod val="75000"/>
                              <a:lumOff val="25000"/>
                            </a:schemeClr>
                          </a:solidFill>
                          <a:latin typeface="メイリオ" panose="020B0604030504040204" pitchFamily="50" charset="-128"/>
                          <a:ea typeface="メイリオ" panose="020B0604030504040204" pitchFamily="50" charset="-128"/>
                        </a:rPr>
                        <a:t>Samsung </a:t>
                      </a:r>
                      <a:r>
                        <a:rPr lang="ja-JP" altLang="en-US" sz="700">
                          <a:solidFill>
                            <a:schemeClr val="tx1">
                              <a:lumMod val="75000"/>
                              <a:lumOff val="25000"/>
                            </a:schemeClr>
                          </a:solidFill>
                          <a:latin typeface="メイリオ" panose="020B0604030504040204" pitchFamily="50" charset="-128"/>
                          <a:ea typeface="メイリオ" panose="020B0604030504040204" pitchFamily="50" charset="-128"/>
                        </a:rPr>
                        <a:t>はこれをテイラー工場など世界拠点へ拡張予定と明言。</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087471875"/>
                  </a:ext>
                </a:extLst>
              </a:tr>
              <a:tr h="143944">
                <a:tc>
                  <a:txBody>
                    <a:bodyPr/>
                    <a:lstStyle/>
                    <a:p>
                      <a:pPr>
                        <a:buNone/>
                      </a:pPr>
                      <a:r>
                        <a:rPr lang="en-US" altLang="ja-JP" sz="700" b="1">
                          <a:solidFill>
                            <a:schemeClr val="tx1">
                              <a:lumMod val="75000"/>
                              <a:lumOff val="25000"/>
                            </a:schemeClr>
                          </a:solidFill>
                          <a:latin typeface="メイリオ" panose="020B0604030504040204" pitchFamily="50" charset="-128"/>
                          <a:ea typeface="メイリオ" panose="020B0604030504040204" pitchFamily="50" charset="-128"/>
                        </a:rPr>
                        <a:t>〜2030</a:t>
                      </a:r>
                      <a:r>
                        <a:rPr lang="ja-JP" altLang="en-US" sz="700" b="1">
                          <a:solidFill>
                            <a:schemeClr val="tx1">
                              <a:lumMod val="75000"/>
                              <a:lumOff val="25000"/>
                            </a:schemeClr>
                          </a:solidFill>
                          <a:latin typeface="メイリオ" panose="020B0604030504040204" pitchFamily="50" charset="-128"/>
                          <a:ea typeface="メイリオ" panose="020B0604030504040204" pitchFamily="50" charset="-128"/>
                        </a:rPr>
                        <a:t>（構想ベース）</a:t>
                      </a:r>
                      <a:endParaRPr lang="ja-JP" altLang="en-US" sz="700">
                        <a:solidFill>
                          <a:schemeClr val="tx1">
                            <a:lumMod val="75000"/>
                            <a:lumOff val="25000"/>
                          </a:schemeClr>
                        </a:solidFill>
                        <a:latin typeface="メイリオ" panose="020B0604030504040204" pitchFamily="50" charset="-128"/>
                        <a:ea typeface="メイリオ" panose="020B0604030504040204" pitchFamily="50" charset="-128"/>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buNone/>
                      </a:pPr>
                      <a:r>
                        <a:rPr lang="ja-JP" altLang="en-US" sz="700">
                          <a:solidFill>
                            <a:schemeClr val="tx1">
                              <a:lumMod val="75000"/>
                              <a:lumOff val="25000"/>
                            </a:schemeClr>
                          </a:solidFill>
                          <a:latin typeface="メイリオ" panose="020B0604030504040204" pitchFamily="50" charset="-128"/>
                          <a:ea typeface="メイリオ" panose="020B0604030504040204" pitchFamily="50" charset="-128"/>
                        </a:rPr>
                        <a:t>上記のような投資・ビジョンにより、韓国・中国・</a:t>
                      </a:r>
                      <a:r>
                        <a:rPr lang="en-US" altLang="ja-JP" sz="700">
                          <a:solidFill>
                            <a:schemeClr val="tx1">
                              <a:lumMod val="75000"/>
                              <a:lumOff val="25000"/>
                            </a:schemeClr>
                          </a:solidFill>
                          <a:latin typeface="メイリオ" panose="020B0604030504040204" pitchFamily="50" charset="-128"/>
                          <a:ea typeface="メイリオ" panose="020B0604030504040204" pitchFamily="50" charset="-128"/>
                        </a:rPr>
                        <a:t>TSMC </a:t>
                      </a:r>
                      <a:r>
                        <a:rPr lang="ja-JP" altLang="en-US" sz="700">
                          <a:solidFill>
                            <a:schemeClr val="tx1">
                              <a:lumMod val="75000"/>
                              <a:lumOff val="25000"/>
                            </a:schemeClr>
                          </a:solidFill>
                          <a:latin typeface="メイリオ" panose="020B0604030504040204" pitchFamily="50" charset="-128"/>
                          <a:ea typeface="メイリオ" panose="020B0604030504040204" pitchFamily="50" charset="-128"/>
                        </a:rPr>
                        <a:t>などは、</a:t>
                      </a:r>
                      <a:r>
                        <a:rPr lang="en-US" altLang="ja-JP" sz="700">
                          <a:solidFill>
                            <a:schemeClr val="tx1">
                              <a:lumMod val="75000"/>
                              <a:lumOff val="25000"/>
                            </a:schemeClr>
                          </a:solidFill>
                          <a:latin typeface="メイリオ" panose="020B0604030504040204" pitchFamily="50" charset="-128"/>
                          <a:ea typeface="メイリオ" panose="020B0604030504040204" pitchFamily="50" charset="-128"/>
                        </a:rPr>
                        <a:t>2030</a:t>
                      </a:r>
                      <a:r>
                        <a:rPr lang="ja-JP" altLang="en-US" sz="700">
                          <a:solidFill>
                            <a:schemeClr val="tx1">
                              <a:lumMod val="75000"/>
                              <a:lumOff val="25000"/>
                            </a:schemeClr>
                          </a:solidFill>
                          <a:latin typeface="メイリオ" panose="020B0604030504040204" pitchFamily="50" charset="-128"/>
                          <a:ea typeface="メイリオ" panose="020B0604030504040204" pitchFamily="50" charset="-128"/>
                        </a:rPr>
                        <a:t>年頃までに </a:t>
                      </a:r>
                      <a:r>
                        <a:rPr lang="ja-JP" altLang="en-US" sz="700" b="1">
                          <a:solidFill>
                            <a:schemeClr val="tx1">
                              <a:lumMod val="75000"/>
                              <a:lumOff val="25000"/>
                            </a:schemeClr>
                          </a:solidFill>
                          <a:latin typeface="メイリオ" panose="020B0604030504040204" pitchFamily="50" charset="-128"/>
                          <a:ea typeface="メイリオ" panose="020B0604030504040204" pitchFamily="50" charset="-128"/>
                        </a:rPr>
                        <a:t>超高自動化・超高ロボット密度＋</a:t>
                      </a:r>
                      <a:r>
                        <a:rPr lang="en-US" altLang="ja-JP" sz="700" b="1">
                          <a:solidFill>
                            <a:schemeClr val="tx1">
                              <a:lumMod val="75000"/>
                              <a:lumOff val="25000"/>
                            </a:schemeClr>
                          </a:solidFill>
                          <a:latin typeface="メイリオ" panose="020B0604030504040204" pitchFamily="50" charset="-128"/>
                          <a:ea typeface="メイリオ" panose="020B0604030504040204" pitchFamily="50" charset="-128"/>
                        </a:rPr>
                        <a:t>AI</a:t>
                      </a:r>
                      <a:r>
                        <a:rPr lang="ja-JP" altLang="en-US" sz="700" b="1">
                          <a:solidFill>
                            <a:schemeClr val="tx1">
                              <a:lumMod val="75000"/>
                              <a:lumOff val="25000"/>
                            </a:schemeClr>
                          </a:solidFill>
                          <a:latin typeface="メイリオ" panose="020B0604030504040204" pitchFamily="50" charset="-128"/>
                          <a:ea typeface="メイリオ" panose="020B0604030504040204" pitchFamily="50" charset="-128"/>
                        </a:rPr>
                        <a:t>最適化</a:t>
                      </a:r>
                      <a:r>
                        <a:rPr lang="en-US" altLang="ja-JP" sz="700" b="1">
                          <a:solidFill>
                            <a:schemeClr val="tx1">
                              <a:lumMod val="75000"/>
                              <a:lumOff val="25000"/>
                            </a:schemeClr>
                          </a:solidFill>
                          <a:latin typeface="メイリオ" panose="020B0604030504040204" pitchFamily="50" charset="-128"/>
                          <a:ea typeface="メイリオ" panose="020B0604030504040204" pitchFamily="50" charset="-128"/>
                        </a:rPr>
                        <a:t>Fab</a:t>
                      </a:r>
                      <a:r>
                        <a:rPr lang="ja-JP" altLang="en-US" sz="700">
                          <a:solidFill>
                            <a:schemeClr val="tx1">
                              <a:lumMod val="75000"/>
                              <a:lumOff val="25000"/>
                            </a:schemeClr>
                          </a:solidFill>
                          <a:latin typeface="メイリオ" panose="020B0604030504040204" pitchFamily="50" charset="-128"/>
                          <a:ea typeface="メイリオ" panose="020B0604030504040204" pitchFamily="50" charset="-128"/>
                        </a:rPr>
                        <a:t> を標準にしようとしている。</a:t>
                      </a:r>
                      <a:r>
                        <a:rPr lang="en-US" altLang="ja-JP" sz="700">
                          <a:solidFill>
                            <a:schemeClr val="tx1">
                              <a:lumMod val="75000"/>
                              <a:lumOff val="25000"/>
                            </a:schemeClr>
                          </a:solidFill>
                          <a:latin typeface="メイリオ" panose="020B0604030504040204" pitchFamily="50" charset="-128"/>
                          <a:ea typeface="メイリオ" panose="020B0604030504040204" pitchFamily="50" charset="-128"/>
                          <a:hlinkClick r:id="rId8">
                            <a:extLst>
                              <a:ext uri="{A12FA001-AC4F-418D-AE19-62706E023703}">
                                <ahyp:hlinkClr xmlns:ahyp="http://schemas.microsoft.com/office/drawing/2018/hyperlinkcolor" val="tx"/>
                              </a:ext>
                            </a:extLst>
                          </a:hlinkClick>
                        </a:rPr>
                        <a:t>South China Morning Post+5Tom's Hardware+5Inspenet+5</a:t>
                      </a:r>
                      <a:endParaRPr lang="ja-JP" altLang="en-US" sz="700">
                        <a:solidFill>
                          <a:schemeClr val="tx1">
                            <a:lumMod val="75000"/>
                            <a:lumOff val="25000"/>
                          </a:schemeClr>
                        </a:solidFill>
                        <a:latin typeface="メイリオ" panose="020B0604030504040204" pitchFamily="50" charset="-128"/>
                        <a:ea typeface="メイリオ" panose="020B0604030504040204" pitchFamily="50" charset="-128"/>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buNone/>
                      </a:pPr>
                      <a:r>
                        <a:rPr lang="ja-JP" altLang="en-US" sz="700">
                          <a:solidFill>
                            <a:schemeClr val="tx1">
                              <a:lumMod val="75000"/>
                              <a:lumOff val="25000"/>
                            </a:schemeClr>
                          </a:solidFill>
                          <a:latin typeface="メイリオ" panose="020B0604030504040204" pitchFamily="50" charset="-128"/>
                          <a:ea typeface="メイリオ" panose="020B0604030504040204" pitchFamily="50" charset="-128"/>
                        </a:rPr>
                        <a:t>日本・</a:t>
                      </a:r>
                      <a:r>
                        <a:rPr lang="en-US" altLang="ja-JP" sz="700">
                          <a:solidFill>
                            <a:schemeClr val="tx1">
                              <a:lumMod val="75000"/>
                              <a:lumOff val="25000"/>
                            </a:schemeClr>
                          </a:solidFill>
                          <a:latin typeface="メイリオ" panose="020B0604030504040204" pitchFamily="50" charset="-128"/>
                          <a:ea typeface="メイリオ" panose="020B0604030504040204" pitchFamily="50" charset="-128"/>
                        </a:rPr>
                        <a:t>SSM</a:t>
                      </a:r>
                      <a:r>
                        <a:rPr lang="ja-JP" altLang="en-US" sz="700">
                          <a:solidFill>
                            <a:schemeClr val="tx1">
                              <a:lumMod val="75000"/>
                              <a:lumOff val="25000"/>
                            </a:schemeClr>
                          </a:solidFill>
                          <a:latin typeface="メイリオ" panose="020B0604030504040204" pitchFamily="50" charset="-128"/>
                          <a:ea typeface="メイリオ" panose="020B0604030504040204" pitchFamily="50" charset="-128"/>
                        </a:rPr>
                        <a:t>側の</a:t>
                      </a:r>
                      <a:r>
                        <a:rPr lang="en-US" altLang="ja-JP" sz="700">
                          <a:solidFill>
                            <a:schemeClr val="tx1">
                              <a:lumMod val="75000"/>
                              <a:lumOff val="25000"/>
                            </a:schemeClr>
                          </a:solidFill>
                          <a:latin typeface="メイリオ" panose="020B0604030504040204" pitchFamily="50" charset="-128"/>
                          <a:ea typeface="メイリオ" panose="020B0604030504040204" pitchFamily="50" charset="-128"/>
                        </a:rPr>
                        <a:t>2030</a:t>
                      </a:r>
                      <a:r>
                        <a:rPr lang="ja-JP" altLang="en-US" sz="700">
                          <a:solidFill>
                            <a:schemeClr val="tx1">
                              <a:lumMod val="75000"/>
                              <a:lumOff val="25000"/>
                            </a:schemeClr>
                          </a:solidFill>
                          <a:latin typeface="メイリオ" panose="020B0604030504040204" pitchFamily="50" charset="-128"/>
                          <a:ea typeface="メイリオ" panose="020B0604030504040204" pitchFamily="50" charset="-128"/>
                        </a:rPr>
                        <a:t>年ビジョンは、「カーボンニュートラル」「高付加価値化」「人材育成」などはあるものの、</a:t>
                      </a:r>
                      <a:r>
                        <a:rPr lang="ja-JP" altLang="en-US" sz="700" b="1">
                          <a:solidFill>
                            <a:schemeClr val="tx1">
                              <a:lumMod val="75000"/>
                              <a:lumOff val="25000"/>
                            </a:schemeClr>
                          </a:solidFill>
                          <a:latin typeface="メイリオ" panose="020B0604030504040204" pitchFamily="50" charset="-128"/>
                          <a:ea typeface="メイリオ" panose="020B0604030504040204" pitchFamily="50" charset="-128"/>
                        </a:rPr>
                        <a:t>“</a:t>
                      </a:r>
                      <a:r>
                        <a:rPr lang="en-US" altLang="ja-JP" sz="700" b="1">
                          <a:solidFill>
                            <a:schemeClr val="tx1">
                              <a:lumMod val="75000"/>
                              <a:lumOff val="25000"/>
                            </a:schemeClr>
                          </a:solidFill>
                          <a:latin typeface="メイリオ" panose="020B0604030504040204" pitchFamily="50" charset="-128"/>
                          <a:ea typeface="メイリオ" panose="020B0604030504040204" pitchFamily="50" charset="-128"/>
                        </a:rPr>
                        <a:t>AI Factory </a:t>
                      </a:r>
                      <a:r>
                        <a:rPr lang="ja-JP" altLang="en-US" sz="700" b="1">
                          <a:solidFill>
                            <a:schemeClr val="tx1">
                              <a:lumMod val="75000"/>
                              <a:lumOff val="25000"/>
                            </a:schemeClr>
                          </a:solidFill>
                          <a:latin typeface="メイリオ" panose="020B0604030504040204" pitchFamily="50" charset="-128"/>
                          <a:ea typeface="メイリオ" panose="020B0604030504040204" pitchFamily="50" charset="-128"/>
                        </a:rPr>
                        <a:t>数”や“</a:t>
                      </a:r>
                      <a:r>
                        <a:rPr lang="en-US" altLang="ja-JP" sz="700" b="1">
                          <a:solidFill>
                            <a:schemeClr val="tx1">
                              <a:lumMod val="75000"/>
                              <a:lumOff val="25000"/>
                            </a:schemeClr>
                          </a:solidFill>
                          <a:latin typeface="メイリオ" panose="020B0604030504040204" pitchFamily="50" charset="-128"/>
                          <a:ea typeface="メイリオ" panose="020B0604030504040204" pitchFamily="50" charset="-128"/>
                        </a:rPr>
                        <a:t>AI</a:t>
                      </a:r>
                      <a:r>
                        <a:rPr lang="ja-JP" altLang="en-US" sz="700" b="1">
                          <a:solidFill>
                            <a:schemeClr val="tx1">
                              <a:lumMod val="75000"/>
                              <a:lumOff val="25000"/>
                            </a:schemeClr>
                          </a:solidFill>
                          <a:latin typeface="メイリオ" panose="020B0604030504040204" pitchFamily="50" charset="-128"/>
                          <a:ea typeface="メイリオ" panose="020B0604030504040204" pitchFamily="50" charset="-128"/>
                        </a:rPr>
                        <a:t>適用ライン数”のような量的コミットは、まだはっきり打ち出されていない</a:t>
                      </a:r>
                      <a:r>
                        <a:rPr lang="ja-JP" altLang="en-US" sz="700">
                          <a:solidFill>
                            <a:schemeClr val="tx1">
                              <a:lumMod val="75000"/>
                              <a:lumOff val="25000"/>
                            </a:schemeClr>
                          </a:solidFill>
                          <a:latin typeface="メイリオ" panose="020B0604030504040204" pitchFamily="50" charset="-128"/>
                          <a:ea typeface="メイリオ" panose="020B0604030504040204" pitchFamily="50" charset="-128"/>
                        </a:rPr>
                        <a:t>ケースが多い。</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buNone/>
                      </a:pPr>
                      <a:r>
                        <a:rPr lang="ja-JP" altLang="en-US" sz="700" dirty="0">
                          <a:solidFill>
                            <a:schemeClr val="tx1">
                              <a:lumMod val="75000"/>
                              <a:lumOff val="25000"/>
                            </a:schemeClr>
                          </a:solidFill>
                          <a:latin typeface="メイリオ" panose="020B0604030504040204" pitchFamily="50" charset="-128"/>
                          <a:ea typeface="メイリオ" panose="020B0604030504040204" pitchFamily="50" charset="-128"/>
                        </a:rPr>
                        <a:t>ここがまさに、あなたが危機感を持っているポイント：</a:t>
                      </a:r>
                      <a:r>
                        <a:rPr lang="ja-JP" altLang="en-US" sz="700" b="1" dirty="0">
                          <a:solidFill>
                            <a:schemeClr val="tx1">
                              <a:lumMod val="75000"/>
                              <a:lumOff val="25000"/>
                            </a:schemeClr>
                          </a:solidFill>
                          <a:latin typeface="メイリオ" panose="020B0604030504040204" pitchFamily="50" charset="-128"/>
                          <a:ea typeface="メイリオ" panose="020B0604030504040204" pitchFamily="50" charset="-128"/>
                        </a:rPr>
                        <a:t>「</a:t>
                      </a:r>
                      <a:r>
                        <a:rPr lang="en-US" altLang="ja-JP" sz="700" b="1" dirty="0">
                          <a:solidFill>
                            <a:schemeClr val="tx1">
                              <a:lumMod val="75000"/>
                              <a:lumOff val="25000"/>
                            </a:schemeClr>
                          </a:solidFill>
                          <a:latin typeface="メイリオ" panose="020B0604030504040204" pitchFamily="50" charset="-128"/>
                          <a:ea typeface="メイリオ" panose="020B0604030504040204" pitchFamily="50" charset="-128"/>
                        </a:rPr>
                        <a:t>AI</a:t>
                      </a:r>
                      <a:r>
                        <a:rPr lang="ja-JP" altLang="en-US" sz="700" b="1" dirty="0">
                          <a:solidFill>
                            <a:schemeClr val="tx1">
                              <a:lumMod val="75000"/>
                              <a:lumOff val="25000"/>
                            </a:schemeClr>
                          </a:solidFill>
                          <a:latin typeface="メイリオ" panose="020B0604030504040204" pitchFamily="50" charset="-128"/>
                          <a:ea typeface="メイリオ" panose="020B0604030504040204" pitchFamily="50" charset="-128"/>
                        </a:rPr>
                        <a:t>前提の工場」を何ライン作るのか？を、日本側がまだ数字で言えていない</a:t>
                      </a:r>
                      <a:r>
                        <a:rPr lang="ja-JP" altLang="en-US" sz="700" dirty="0">
                          <a:solidFill>
                            <a:schemeClr val="tx1">
                              <a:lumMod val="75000"/>
                              <a:lumOff val="25000"/>
                            </a:schemeClr>
                          </a:solidFill>
                          <a:latin typeface="メイリオ" panose="020B0604030504040204" pitchFamily="50" charset="-128"/>
                          <a:ea typeface="メイリオ" panose="020B0604030504040204" pitchFamily="50" charset="-128"/>
                        </a:rPr>
                        <a:t>。</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166952325"/>
                  </a:ext>
                </a:extLst>
              </a:tr>
            </a:tbl>
          </a:graphicData>
        </a:graphic>
      </p:graphicFrame>
    </p:spTree>
    <p:extLst>
      <p:ext uri="{BB962C8B-B14F-4D97-AF65-F5344CB8AC3E}">
        <p14:creationId xmlns:p14="http://schemas.microsoft.com/office/powerpoint/2010/main" val="651355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2366</TotalTime>
  <Words>4508</Words>
  <Application>Microsoft Office PowerPoint</Application>
  <PresentationFormat>ユーザー設定</PresentationFormat>
  <Paragraphs>306</Paragraphs>
  <Slides>14</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14</vt:i4>
      </vt:variant>
    </vt:vector>
  </HeadingPairs>
  <TitlesOfParts>
    <vt:vector size="18" baseType="lpstr">
      <vt:lpstr>メイリオ</vt:lpstr>
      <vt:lpstr>Arial</vt:lpstr>
      <vt:lpstr>Calibri</vt:lpstr>
      <vt:lpstr>Office Theme</vt:lpstr>
      <vt:lpstr>AIエージェント導入を失敗する企業に必要な 主な対策パターン</vt:lpstr>
      <vt:lpstr>【Summary】 AIエージェント導入を失敗する企業に必要な主な対策パターン</vt:lpstr>
      <vt:lpstr>AIワークフロー／業務プロセスの再設計</vt:lpstr>
      <vt:lpstr>AIワークフロー／業務プロセスの再設計</vt:lpstr>
      <vt:lpstr>経営／現場の強いリーダーシップとガバナンス</vt:lpstr>
      <vt:lpstr>スモールスケールからのスケーラブル実装</vt:lpstr>
      <vt:lpstr>データ・モデル運用と改善ループ構築</vt:lpstr>
      <vt:lpstr>適用領域・目的の明確化とKPI設計</vt:lpstr>
      <vt:lpstr>「AI変革」は“新しい産業革命”</vt:lpstr>
      <vt:lpstr>私たちを取り巻く背景</vt:lpstr>
      <vt:lpstr>私たちを取り巻く背景</vt:lpstr>
      <vt:lpstr>AI化を進める課題</vt:lpstr>
      <vt:lpstr>取り組み, 実行計画</vt:lpstr>
      <vt:lpstr>(参考) 世界のスマートファクトリー・AI年表</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浦幸隆</dc:creator>
  <cp:keywords/>
  <dc:description>generated using python-pptx</dc:description>
  <cp:lastModifiedBy>幸隆 浦</cp:lastModifiedBy>
  <cp:revision>39</cp:revision>
  <dcterms:created xsi:type="dcterms:W3CDTF">2013-01-27T09:14:16Z</dcterms:created>
  <dcterms:modified xsi:type="dcterms:W3CDTF">2025-11-16T12:49:51Z</dcterms:modified>
  <cp:category/>
</cp:coreProperties>
</file>