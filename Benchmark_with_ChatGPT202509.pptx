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6" r:id="rId3"/>
    <p:sldId id="257" r:id="rId4"/>
    <p:sldId id="258" r:id="rId5"/>
    <p:sldId id="259" r:id="rId6"/>
    <p:sldId id="260" r:id="rId7"/>
    <p:sldId id="261" r:id="rId8"/>
    <p:sldId id="262" r:id="rId9"/>
    <p:sldId id="268" r:id="rId10"/>
    <p:sldId id="263" r:id="rId11"/>
    <p:sldId id="269" r:id="rId12"/>
    <p:sldId id="264" r:id="rId13"/>
    <p:sldId id="270" r:id="rId14"/>
    <p:sldId id="265" r:id="rId15"/>
    <p:sldId id="271" r:id="rId16"/>
    <p:sldId id="266" r:id="rId17"/>
    <p:sldId id="272" r:id="rId18"/>
    <p:sldId id="267" r:id="rId19"/>
    <p:sldId id="27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100" d="100"/>
          <a:sy n="100" d="100"/>
        </p:scale>
        <p:origin x="936"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5FD975-D081-48BC-80FF-5371AAA3DA7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9B7590C-CFDD-D70C-8E9F-1842808240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264D34E-4408-BC51-7E8A-9262D7EC2A7B}"/>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1AA1936B-4C2E-17F6-E283-AA01614E49B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F754E33-DA2B-C062-0CF4-66E5574A387F}"/>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3135920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C08C92-D90F-757B-CE80-C3388E26A47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1B185DB-7FD0-A80E-CBE7-D6D769F18D6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7A0F7E-B12B-0D30-9121-12862D9E0491}"/>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F3350B1F-F81E-58C7-15AE-A54D77BBE46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6606A8B-D1B7-3901-10CF-2458EB3B55B9}"/>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3613756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E9BB86-A763-7C3C-A1BB-4A64587BAAF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61A7D7-D795-0654-882F-204C2AAEE6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B101260-F3B3-28A8-5662-AAB077443034}"/>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F4392A2F-B763-0F2B-8815-A1AA1138F7F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940E708-B8DC-8284-D48F-848909EC9501}"/>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274296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AE8860-86EC-0A49-5F4E-8E8757577C7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2A73DBB-F5D6-4F59-3AF8-7B45615501C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C7ABFCD-DC8A-A62F-6DEB-3EE5682C244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50B50F4-6D7F-7BAD-9F06-3B31BEC3D875}"/>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AE508CD3-A4A0-1A48-D08C-8275D938B23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2325A7-7686-3F8B-E426-9938C2DA1682}"/>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340598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C96A83-4A30-D88A-9397-A8A7BB6703A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9581888-A190-BF65-B4F0-0FC32F698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07F5C0-2664-13E7-BD5D-E322D901142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D4A85C7-C5E9-D909-D57D-4940425BC9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C29E18-31E3-B4A9-7423-71E4CCFCBCA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0F755D2-D1B0-055C-6A3C-82AD82191B28}"/>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8" name="フッター プレースホルダー 7">
            <a:extLst>
              <a:ext uri="{FF2B5EF4-FFF2-40B4-BE49-F238E27FC236}">
                <a16:creationId xmlns:a16="http://schemas.microsoft.com/office/drawing/2014/main" id="{1683A1FD-6B4A-E76D-43AD-E7E35A4333F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79C85AC-B459-B654-EE01-B8D95DB95B7C}"/>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2190580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E0143A-CA98-EC5F-9786-C2F84DDC27D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C7603E6-037F-A08D-1B8C-9B1DBF4830BF}"/>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4" name="フッター プレースホルダー 3">
            <a:extLst>
              <a:ext uri="{FF2B5EF4-FFF2-40B4-BE49-F238E27FC236}">
                <a16:creationId xmlns:a16="http://schemas.microsoft.com/office/drawing/2014/main" id="{7ED1715F-B5E7-E8AB-F775-EBFEB186444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DAC4649-F464-4570-1652-34AA62C220C6}"/>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1999681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5AD9BD0-33DE-2F54-939A-3B20BD729003}"/>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3" name="フッター プレースホルダー 2">
            <a:extLst>
              <a:ext uri="{FF2B5EF4-FFF2-40B4-BE49-F238E27FC236}">
                <a16:creationId xmlns:a16="http://schemas.microsoft.com/office/drawing/2014/main" id="{B241D208-247B-DD1E-A047-94731F4F7B6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FBDA22F-CE14-0B9A-86F5-E83B32940AF3}"/>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1544332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A50DD6-4629-AE4A-0F0C-7F74F522F06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2B04E8-4C5B-6CE4-946C-7A5631A7D7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ACA75F0-20D1-DA4F-5827-5AE8607481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0365A2C-6387-0B48-6202-B54209474332}"/>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DBE843DD-2743-B56D-46C7-05A15512A0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B9C2DDE-5557-9FBD-A081-121F2DE52C05}"/>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3339795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3F5D01-E3FA-9EB9-0654-1F08EFC2F83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C98D6DC-9E4D-BBC1-15B8-4CF8B1918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967EDE9-CB96-B660-597F-E84E81A80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25317EC-A405-419E-5256-787D23E41D6D}"/>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27FA0060-163D-A1B5-B369-6CF96A2B394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AD35ADB-F5DE-C215-1FEE-120010C9B5BD}"/>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601654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386733-06C7-5F66-B9B6-21584031DF6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5CFDE65-B2AE-9092-14E8-3AA4DE41667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B480F19-BD50-B89F-0869-EE659F75F389}"/>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9ECD10F9-EB06-316D-0B00-B71082740E2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EE2824-6D1B-6618-1F8D-86F899426E52}"/>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1686470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761CEE5-7BD2-DACB-8B10-5246D84C404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996E9E7-4F7C-EAF1-CEA0-CBE2E167276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E4E3F50-70EE-F396-DE30-C1DD04B89E5A}"/>
              </a:ext>
            </a:extLst>
          </p:cNvPr>
          <p:cNvSpPr>
            <a:spLocks noGrp="1"/>
          </p:cNvSpPr>
          <p:nvPr>
            <p:ph type="dt" sz="half" idx="10"/>
          </p:nvPr>
        </p:nvSpPr>
        <p:spPr/>
        <p:txBody>
          <a:bodyPr/>
          <a:lstStyle/>
          <a:p>
            <a:fld id="{B5A69809-B320-4997-949A-CC6660150491}"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52267CD8-EB2F-FA10-FD46-3AE2107F13D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007657-E95E-0E1D-DEAB-73502A02E387}"/>
              </a:ext>
            </a:extLst>
          </p:cNvPr>
          <p:cNvSpPr>
            <a:spLocks noGrp="1"/>
          </p:cNvSpPr>
          <p:nvPr>
            <p:ph type="sldNum" sz="quarter" idx="12"/>
          </p:nvPr>
        </p:nvSpPr>
        <p:spPr/>
        <p:txBody>
          <a:body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1168146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1C3BA02-D8FC-A713-C4AD-E9FD3950AF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431FE2B-8CB7-670D-2558-D50EE3D8E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63B1C0C-E583-626F-7456-393E18E8FB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A69809-B320-4997-949A-CC6660150491}"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F57AA1B8-A21D-B435-05E7-CC84EE870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6C1E372-A805-2D17-D5EC-7831E296CB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B565E-98F6-40F3-9B7F-9EF8E48DBC0A}" type="slidenum">
              <a:rPr kumimoji="1" lang="ja-JP" altLang="en-US" smtClean="0"/>
              <a:t>‹#›</a:t>
            </a:fld>
            <a:endParaRPr kumimoji="1" lang="ja-JP" altLang="en-US"/>
          </a:p>
        </p:txBody>
      </p:sp>
    </p:spTree>
    <p:extLst>
      <p:ext uri="{BB962C8B-B14F-4D97-AF65-F5344CB8AC3E}">
        <p14:creationId xmlns:p14="http://schemas.microsoft.com/office/powerpoint/2010/main" val="1267435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s://www.sciencedirect.com/science/article/abs/pii/S0278612524001407?utm_source=chatgpt.com" TargetMode="External"/><Relationship Id="rId3" Type="http://schemas.openxmlformats.org/officeDocument/2006/relationships/hyperlink" Target="https://www.synopsys.com/blogs/chip-design/semiconductor-yield-analysis-machine-learning.html?utm_source=chatgpt.com" TargetMode="External"/><Relationship Id="rId7" Type="http://schemas.openxmlformats.org/officeDocument/2006/relationships/hyperlink" Target="https://arxiv.org/abs/2406.11308?utm_source=chatgpt.com" TargetMode="External"/><Relationship Id="rId2" Type="http://schemas.openxmlformats.org/officeDocument/2006/relationships/hyperlink" Target="https://arxiv.org/abs/2403.12381?utm_source=chatgpt.com" TargetMode="External"/><Relationship Id="rId1" Type="http://schemas.openxmlformats.org/officeDocument/2006/relationships/slideLayout" Target="../slideLayouts/slideLayout1.xml"/><Relationship Id="rId6" Type="http://schemas.openxmlformats.org/officeDocument/2006/relationships/hyperlink" Target="https://arxiv.org/abs/2504.13613?utm_source=chatgpt.com" TargetMode="External"/><Relationship Id="rId5" Type="http://schemas.openxmlformats.org/officeDocument/2006/relationships/hyperlink" Target="https://arxiv.org/abs/2505.03848?utm_source=chatgpt.com" TargetMode="External"/><Relationship Id="rId4" Type="http://schemas.openxmlformats.org/officeDocument/2006/relationships/hyperlink" Target="https://en.wikipedia.org/wiki/Virtual_metrology?utm_source=chatgpt.com" TargetMode="External"/><Relationship Id="rId9" Type="http://schemas.openxmlformats.org/officeDocument/2006/relationships/hyperlink" Target="https://www.mdpi.com/2076-3417/13/4/2660?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27DE4-97E8-8725-5238-7991B0F0509B}"/>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5B7A60C-48C6-0945-E93A-842738210F05}"/>
              </a:ext>
            </a:extLst>
          </p:cNvPr>
          <p:cNvSpPr txBox="1"/>
          <p:nvPr/>
        </p:nvSpPr>
        <p:spPr>
          <a:xfrm>
            <a:off x="1848684" y="3105834"/>
            <a:ext cx="8494633" cy="646331"/>
          </a:xfrm>
          <a:prstGeom prst="rect">
            <a:avLst/>
          </a:prstGeom>
          <a:noFill/>
        </p:spPr>
        <p:txBody>
          <a:bodyPr wrap="none" rtlCol="0">
            <a:spAutoFit/>
          </a:bodyPr>
          <a:lstStyle/>
          <a:p>
            <a:pPr algn="ctr"/>
            <a:r>
              <a:rPr kumimoji="1" lang="ja-JP" altLang="en-US" sz="3600" dirty="0">
                <a:latin typeface="メイリオ" panose="020B0604030504040204" pitchFamily="50" charset="-128"/>
                <a:ea typeface="メイリオ" panose="020B0604030504040204" pitchFamily="50" charset="-128"/>
              </a:rPr>
              <a:t>データサイエンスの仕事の将来を考える</a:t>
            </a:r>
          </a:p>
        </p:txBody>
      </p:sp>
    </p:spTree>
    <p:extLst>
      <p:ext uri="{BB962C8B-B14F-4D97-AF65-F5344CB8AC3E}">
        <p14:creationId xmlns:p14="http://schemas.microsoft.com/office/powerpoint/2010/main" val="416618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8F4E071-6E72-A738-46D1-D032D4860DC8}"/>
              </a:ext>
            </a:extLst>
          </p:cNvPr>
          <p:cNvSpPr txBox="1"/>
          <p:nvPr/>
        </p:nvSpPr>
        <p:spPr>
          <a:xfrm>
            <a:off x="3415618" y="3105834"/>
            <a:ext cx="5360763" cy="646331"/>
          </a:xfrm>
          <a:prstGeom prst="rect">
            <a:avLst/>
          </a:prstGeom>
          <a:noFill/>
        </p:spPr>
        <p:txBody>
          <a:bodyPr wrap="none" rtlCol="0">
            <a:spAutoFit/>
          </a:bodyPr>
          <a:lstStyle/>
          <a:p>
            <a:r>
              <a:rPr kumimoji="1" lang="en-US" altLang="ja-JP" sz="3600" dirty="0">
                <a:latin typeface="メイリオ" panose="020B0604030504040204" pitchFamily="50" charset="-128"/>
                <a:ea typeface="メイリオ" panose="020B0604030504040204" pitchFamily="50" charset="-128"/>
              </a:rPr>
              <a:t>ChatGPT</a:t>
            </a:r>
            <a:r>
              <a:rPr kumimoji="1" lang="ja-JP" altLang="en-US" sz="3600" dirty="0">
                <a:latin typeface="メイリオ" panose="020B0604030504040204" pitchFamily="50" charset="-128"/>
                <a:ea typeface="メイリオ" panose="020B0604030504040204" pitchFamily="50" charset="-128"/>
              </a:rPr>
              <a:t>使ってますか？</a:t>
            </a:r>
          </a:p>
        </p:txBody>
      </p:sp>
    </p:spTree>
    <p:extLst>
      <p:ext uri="{BB962C8B-B14F-4D97-AF65-F5344CB8AC3E}">
        <p14:creationId xmlns:p14="http://schemas.microsoft.com/office/powerpoint/2010/main" val="428524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53B12-E209-AD2B-4E91-5AEC003A85B8}"/>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AA3665-113A-E699-66DE-5A795D5828DE}"/>
              </a:ext>
            </a:extLst>
          </p:cNvPr>
          <p:cNvSpPr txBox="1"/>
          <p:nvPr/>
        </p:nvSpPr>
        <p:spPr>
          <a:xfrm>
            <a:off x="215217" y="147482"/>
            <a:ext cx="1452642" cy="400110"/>
          </a:xfrm>
          <a:prstGeom prst="rect">
            <a:avLst/>
          </a:prstGeom>
          <a:noFill/>
        </p:spPr>
        <p:txBody>
          <a:bodyPr wrap="none" rtlCol="0">
            <a:spAutoFit/>
          </a:bodyPr>
          <a:lstStyle/>
          <a:p>
            <a:r>
              <a:rPr lang="en-US" altLang="ja-JP" sz="2000" u="sng" dirty="0">
                <a:latin typeface="メイリオ" panose="020B0604030504040204" pitchFamily="50" charset="-128"/>
                <a:ea typeface="メイリオ" panose="020B0604030504040204" pitchFamily="50" charset="-128"/>
              </a:rPr>
              <a:t>LLM</a:t>
            </a:r>
            <a:r>
              <a:rPr lang="ja-JP" altLang="en-US" sz="2000" u="sng" dirty="0">
                <a:latin typeface="メイリオ" panose="020B0604030504040204" pitchFamily="50" charset="-128"/>
                <a:ea typeface="メイリオ" panose="020B0604030504040204" pitchFamily="50" charset="-128"/>
              </a:rPr>
              <a:t>の進化</a:t>
            </a:r>
            <a:endParaRPr kumimoji="1" lang="ja-JP" altLang="en-US" sz="2000" u="sng"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2A36A53F-08F7-3803-9F67-D8D91BBF9FBD}"/>
              </a:ext>
            </a:extLst>
          </p:cNvPr>
          <p:cNvSpPr txBox="1"/>
          <p:nvPr/>
        </p:nvSpPr>
        <p:spPr>
          <a:xfrm>
            <a:off x="941538" y="682062"/>
            <a:ext cx="902811"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2017</a:t>
            </a:r>
            <a:r>
              <a:rPr kumimoji="1" lang="ja-JP" altLang="en-US" sz="1600" dirty="0">
                <a:latin typeface="メイリオ" panose="020B0604030504040204" pitchFamily="50" charset="-128"/>
                <a:ea typeface="メイリオ" panose="020B0604030504040204" pitchFamily="50" charset="-128"/>
              </a:rPr>
              <a:t>年</a:t>
            </a:r>
          </a:p>
        </p:txBody>
      </p:sp>
      <p:sp>
        <p:nvSpPr>
          <p:cNvPr id="6" name="矢印: 下 5">
            <a:extLst>
              <a:ext uri="{FF2B5EF4-FFF2-40B4-BE49-F238E27FC236}">
                <a16:creationId xmlns:a16="http://schemas.microsoft.com/office/drawing/2014/main" id="{62248692-3DEE-4951-7D7B-936941E7758F}"/>
              </a:ext>
            </a:extLst>
          </p:cNvPr>
          <p:cNvSpPr/>
          <p:nvPr/>
        </p:nvSpPr>
        <p:spPr>
          <a:xfrm>
            <a:off x="522822" y="682062"/>
            <a:ext cx="350047" cy="5543928"/>
          </a:xfrm>
          <a:prstGeom prst="downArrow">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9F3BA4A1-08B5-68BC-F7FF-A9BE15B3A1E1}"/>
              </a:ext>
            </a:extLst>
          </p:cNvPr>
          <p:cNvSpPr txBox="1"/>
          <p:nvPr/>
        </p:nvSpPr>
        <p:spPr>
          <a:xfrm>
            <a:off x="941535" y="1366932"/>
            <a:ext cx="1580882"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2018</a:t>
            </a:r>
            <a:r>
              <a:rPr lang="en-US" altLang="ja-JP" sz="1600" dirty="0">
                <a:latin typeface="メイリオ" panose="020B0604030504040204" pitchFamily="50" charset="-128"/>
                <a:ea typeface="メイリオ" panose="020B0604030504040204" pitchFamily="50" charset="-128"/>
              </a:rPr>
              <a:t>~2019</a:t>
            </a:r>
            <a:r>
              <a:rPr lang="ja-JP" altLang="en-US" sz="1600" dirty="0">
                <a:latin typeface="メイリオ" panose="020B0604030504040204" pitchFamily="50" charset="-128"/>
                <a:ea typeface="メイリオ" panose="020B0604030504040204" pitchFamily="50" charset="-128"/>
              </a:rPr>
              <a:t>年</a:t>
            </a:r>
            <a:endParaRPr kumimoji="1" lang="ja-JP" altLang="en-US" sz="16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EC61E4AD-C3C9-5F26-264F-4AACFAF0D7A1}"/>
              </a:ext>
            </a:extLst>
          </p:cNvPr>
          <p:cNvSpPr txBox="1"/>
          <p:nvPr/>
        </p:nvSpPr>
        <p:spPr>
          <a:xfrm>
            <a:off x="948522" y="2051802"/>
            <a:ext cx="1580882"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2020</a:t>
            </a:r>
            <a:r>
              <a:rPr lang="en-US" altLang="ja-JP" sz="1600" dirty="0">
                <a:latin typeface="メイリオ" panose="020B0604030504040204" pitchFamily="50" charset="-128"/>
                <a:ea typeface="メイリオ" panose="020B0604030504040204" pitchFamily="50" charset="-128"/>
              </a:rPr>
              <a:t>~2021</a:t>
            </a:r>
            <a:r>
              <a:rPr lang="ja-JP" altLang="en-US" sz="1600" dirty="0">
                <a:latin typeface="メイリオ" panose="020B0604030504040204" pitchFamily="50" charset="-128"/>
                <a:ea typeface="メイリオ" panose="020B0604030504040204" pitchFamily="50" charset="-128"/>
              </a:rPr>
              <a:t>年</a:t>
            </a:r>
            <a:endParaRPr kumimoji="1" lang="ja-JP" altLang="en-US" sz="1600"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EA3D0194-E769-6C2B-DA27-5210EFFA59D4}"/>
              </a:ext>
            </a:extLst>
          </p:cNvPr>
          <p:cNvSpPr txBox="1"/>
          <p:nvPr/>
        </p:nvSpPr>
        <p:spPr>
          <a:xfrm>
            <a:off x="948522" y="2964732"/>
            <a:ext cx="902811"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2022</a:t>
            </a:r>
            <a:r>
              <a:rPr kumimoji="1" lang="ja-JP" altLang="en-US" sz="1600" dirty="0">
                <a:latin typeface="メイリオ" panose="020B0604030504040204" pitchFamily="50" charset="-128"/>
                <a:ea typeface="メイリオ" panose="020B0604030504040204" pitchFamily="50" charset="-128"/>
              </a:rPr>
              <a:t>年</a:t>
            </a:r>
          </a:p>
        </p:txBody>
      </p:sp>
      <p:sp>
        <p:nvSpPr>
          <p:cNvPr id="10" name="テキスト ボックス 9">
            <a:extLst>
              <a:ext uri="{FF2B5EF4-FFF2-40B4-BE49-F238E27FC236}">
                <a16:creationId xmlns:a16="http://schemas.microsoft.com/office/drawing/2014/main" id="{7AA26029-947E-BC79-902B-913A1159FFDE}"/>
              </a:ext>
            </a:extLst>
          </p:cNvPr>
          <p:cNvSpPr txBox="1"/>
          <p:nvPr/>
        </p:nvSpPr>
        <p:spPr>
          <a:xfrm>
            <a:off x="948522" y="3877662"/>
            <a:ext cx="902811"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2023</a:t>
            </a:r>
            <a:r>
              <a:rPr kumimoji="1" lang="ja-JP" altLang="en-US" sz="1600" dirty="0">
                <a:latin typeface="メイリオ" panose="020B0604030504040204" pitchFamily="50" charset="-128"/>
                <a:ea typeface="メイリオ" panose="020B0604030504040204" pitchFamily="50" charset="-128"/>
              </a:rPr>
              <a:t>年</a:t>
            </a:r>
          </a:p>
        </p:txBody>
      </p:sp>
      <p:sp>
        <p:nvSpPr>
          <p:cNvPr id="11" name="テキスト ボックス 10">
            <a:extLst>
              <a:ext uri="{FF2B5EF4-FFF2-40B4-BE49-F238E27FC236}">
                <a16:creationId xmlns:a16="http://schemas.microsoft.com/office/drawing/2014/main" id="{0CDD1E0A-5892-C417-BA34-03E33A2910B2}"/>
              </a:ext>
            </a:extLst>
          </p:cNvPr>
          <p:cNvSpPr txBox="1"/>
          <p:nvPr/>
        </p:nvSpPr>
        <p:spPr>
          <a:xfrm>
            <a:off x="948522" y="4790592"/>
            <a:ext cx="902811"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2024</a:t>
            </a:r>
            <a:r>
              <a:rPr kumimoji="1" lang="ja-JP" altLang="en-US" sz="1600" dirty="0">
                <a:latin typeface="メイリオ" panose="020B0604030504040204" pitchFamily="50" charset="-128"/>
                <a:ea typeface="メイリオ" panose="020B0604030504040204" pitchFamily="50" charset="-128"/>
              </a:rPr>
              <a:t>年</a:t>
            </a:r>
          </a:p>
        </p:txBody>
      </p:sp>
      <p:sp>
        <p:nvSpPr>
          <p:cNvPr id="12" name="テキスト ボックス 11">
            <a:extLst>
              <a:ext uri="{FF2B5EF4-FFF2-40B4-BE49-F238E27FC236}">
                <a16:creationId xmlns:a16="http://schemas.microsoft.com/office/drawing/2014/main" id="{869B0917-968A-D450-342F-59FA1314BDFC}"/>
              </a:ext>
            </a:extLst>
          </p:cNvPr>
          <p:cNvSpPr txBox="1"/>
          <p:nvPr/>
        </p:nvSpPr>
        <p:spPr>
          <a:xfrm>
            <a:off x="948522" y="5703522"/>
            <a:ext cx="902811" cy="338554"/>
          </a:xfrm>
          <a:prstGeom prst="rect">
            <a:avLst/>
          </a:prstGeom>
          <a:noFill/>
          <a:effectLst>
            <a:outerShdw blurRad="50800" dist="38100" dir="2700000" algn="tl" rotWithShape="0">
              <a:prstClr val="black">
                <a:alpha val="40000"/>
              </a:prstClr>
            </a:outerShdw>
          </a:effectLst>
        </p:spPr>
        <p:txBody>
          <a:bodyPr wrap="none" rtlCol="0">
            <a:spAutoFit/>
          </a:bodyPr>
          <a:lstStyle/>
          <a:p>
            <a:r>
              <a:rPr kumimoji="1" lang="en-US" altLang="ja-JP" sz="1600" dirty="0">
                <a:latin typeface="メイリオ" panose="020B0604030504040204" pitchFamily="50" charset="-128"/>
                <a:ea typeface="メイリオ" panose="020B0604030504040204" pitchFamily="50" charset="-128"/>
              </a:rPr>
              <a:t>2025</a:t>
            </a:r>
            <a:r>
              <a:rPr kumimoji="1" lang="ja-JP" altLang="en-US" sz="1600" dirty="0">
                <a:latin typeface="メイリオ" panose="020B0604030504040204" pitchFamily="50" charset="-128"/>
                <a:ea typeface="メイリオ" panose="020B0604030504040204" pitchFamily="50" charset="-128"/>
              </a:rPr>
              <a:t>年</a:t>
            </a:r>
          </a:p>
        </p:txBody>
      </p:sp>
      <p:sp>
        <p:nvSpPr>
          <p:cNvPr id="15" name="テキスト ボックス 14">
            <a:extLst>
              <a:ext uri="{FF2B5EF4-FFF2-40B4-BE49-F238E27FC236}">
                <a16:creationId xmlns:a16="http://schemas.microsoft.com/office/drawing/2014/main" id="{F681B00E-0142-0B50-6234-76E21A9069DD}"/>
              </a:ext>
            </a:extLst>
          </p:cNvPr>
          <p:cNvSpPr txBox="1"/>
          <p:nvPr/>
        </p:nvSpPr>
        <p:spPr>
          <a:xfrm>
            <a:off x="2904565" y="451229"/>
            <a:ext cx="6096000" cy="769441"/>
          </a:xfrm>
          <a:prstGeom prst="rect">
            <a:avLst/>
          </a:prstGeom>
          <a:noFill/>
        </p:spPr>
        <p:txBody>
          <a:bodyPr wrap="square" anchor="ctr">
            <a:spAutoFit/>
          </a:bodyPr>
          <a:lstStyle/>
          <a:p>
            <a:r>
              <a:rPr lang="en-US" altLang="ja-JP" sz="1200" b="1" dirty="0">
                <a:latin typeface="メイリオ" panose="020B0604030504040204" pitchFamily="50" charset="-128"/>
                <a:ea typeface="メイリオ" panose="020B0604030504040204" pitchFamily="50" charset="-128"/>
              </a:rPr>
              <a:t>2017</a:t>
            </a:r>
            <a:r>
              <a:rPr lang="ja-JP" altLang="en-US" sz="1200" b="1" dirty="0">
                <a:latin typeface="メイリオ" panose="020B0604030504040204" pitchFamily="50" charset="-128"/>
                <a:ea typeface="メイリオ" panose="020B0604030504040204" pitchFamily="50" charset="-128"/>
              </a:rPr>
              <a:t>年：起点</a:t>
            </a:r>
            <a:endParaRPr lang="en-US" altLang="ja-JP" sz="1200" b="1" dirty="0">
              <a:latin typeface="メイリオ" panose="020B0604030504040204" pitchFamily="50" charset="-128"/>
              <a:ea typeface="メイリオ" panose="020B0604030504040204" pitchFamily="50" charset="-128"/>
            </a:endParaRPr>
          </a:p>
          <a:p>
            <a:r>
              <a:rPr lang="en-US" altLang="ja-JP" sz="1200" b="1" dirty="0">
                <a:latin typeface="メイリオ" panose="020B0604030504040204" pitchFamily="50" charset="-128"/>
                <a:ea typeface="メイリオ" panose="020B0604030504040204" pitchFamily="50" charset="-128"/>
              </a:rPr>
              <a:t>Attention is All You Need</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Google</a:t>
            </a:r>
            <a:r>
              <a:rPr lang="ja-JP" altLang="en-US" sz="1200" dirty="0">
                <a:latin typeface="メイリオ" panose="020B0604030504040204" pitchFamily="50" charset="-128"/>
                <a:ea typeface="メイリオ" panose="020B0604030504040204" pitchFamily="50" charset="-128"/>
              </a:rPr>
              <a:t>）論文発表</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Transformer </a:t>
            </a:r>
            <a:r>
              <a:rPr lang="ja-JP" altLang="en-US" sz="1000" dirty="0">
                <a:latin typeface="メイリオ" panose="020B0604030504040204" pitchFamily="50" charset="-128"/>
                <a:ea typeface="メイリオ" panose="020B0604030504040204" pitchFamily="50" charset="-128"/>
              </a:rPr>
              <a:t>アーキテクチャが提案され、従来の</a:t>
            </a:r>
            <a:r>
              <a:rPr lang="en-US" altLang="ja-JP" sz="1000" dirty="0">
                <a:latin typeface="メイリオ" panose="020B0604030504040204" pitchFamily="50" charset="-128"/>
                <a:ea typeface="メイリオ" panose="020B0604030504040204" pitchFamily="50" charset="-128"/>
              </a:rPr>
              <a:t>RNN/LSTM</a:t>
            </a:r>
            <a:r>
              <a:rPr lang="ja-JP" altLang="en-US" sz="1000" dirty="0">
                <a:latin typeface="メイリオ" panose="020B0604030504040204" pitchFamily="50" charset="-128"/>
                <a:ea typeface="メイリオ" panose="020B0604030504040204" pitchFamily="50" charset="-128"/>
              </a:rPr>
              <a:t>を凌駕。</a:t>
            </a:r>
            <a:br>
              <a:rPr lang="ja-JP" altLang="en-US" sz="10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自然言語処理の基盤技術が刷新。</a:t>
            </a:r>
            <a:endParaRPr lang="ja-JP" altLang="en-US" sz="12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F07B42FC-7B70-87ED-AD90-17B09C523F8D}"/>
              </a:ext>
            </a:extLst>
          </p:cNvPr>
          <p:cNvSpPr txBox="1"/>
          <p:nvPr/>
        </p:nvSpPr>
        <p:spPr>
          <a:xfrm>
            <a:off x="6672123" y="1028377"/>
            <a:ext cx="5071821" cy="954107"/>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rPr>
              <a:t>2018–2019</a:t>
            </a:r>
            <a:r>
              <a:rPr lang="ja-JP" altLang="en-US" sz="1200" b="1" dirty="0">
                <a:latin typeface="メイリオ" panose="020B0604030504040204" pitchFamily="50" charset="-128"/>
                <a:ea typeface="メイリオ" panose="020B0604030504040204" pitchFamily="50" charset="-128"/>
              </a:rPr>
              <a:t>年：事前学習モデルの登場</a:t>
            </a:r>
          </a:p>
          <a:p>
            <a:r>
              <a:rPr lang="en-US" altLang="ja-JP" sz="1200" b="1" dirty="0">
                <a:latin typeface="メイリオ" panose="020B0604030504040204" pitchFamily="50" charset="-128"/>
                <a:ea typeface="メイリオ" panose="020B0604030504040204" pitchFamily="50" charset="-128"/>
              </a:rPr>
              <a:t>BERT</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2018, Google</a:t>
            </a:r>
            <a:r>
              <a:rPr lang="ja-JP" altLang="en-US" sz="1200" b="1" dirty="0">
                <a:latin typeface="メイリオ" panose="020B0604030504040204" pitchFamily="50" charset="-128"/>
                <a:ea typeface="メイリオ" panose="020B0604030504040204" pitchFamily="50" charset="-128"/>
              </a:rPr>
              <a:t>）</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双方向文脈理解。検索や</a:t>
            </a:r>
            <a:r>
              <a:rPr lang="en-US" altLang="ja-JP" sz="1000" dirty="0">
                <a:latin typeface="メイリオ" panose="020B0604030504040204" pitchFamily="50" charset="-128"/>
                <a:ea typeface="メイリオ" panose="020B0604030504040204" pitchFamily="50" charset="-128"/>
              </a:rPr>
              <a:t>QA</a:t>
            </a:r>
            <a:r>
              <a:rPr lang="ja-JP" altLang="en-US" sz="1000" dirty="0">
                <a:latin typeface="メイリオ" panose="020B0604030504040204" pitchFamily="50" charset="-128"/>
                <a:ea typeface="メイリオ" panose="020B0604030504040204" pitchFamily="50" charset="-128"/>
              </a:rPr>
              <a:t>で急速に採用。</a:t>
            </a:r>
          </a:p>
          <a:p>
            <a:r>
              <a:rPr lang="en-US" altLang="ja-JP" sz="1200" b="1" dirty="0">
                <a:latin typeface="メイリオ" panose="020B0604030504040204" pitchFamily="50" charset="-128"/>
                <a:ea typeface="メイリオ" panose="020B0604030504040204" pitchFamily="50" charset="-128"/>
              </a:rPr>
              <a:t>GPT-1</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2018, OpenAI</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GPT-2</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2019</a:t>
            </a:r>
            <a:r>
              <a:rPr lang="ja-JP" altLang="en-US" sz="1200" b="1" dirty="0">
                <a:latin typeface="メイリオ" panose="020B0604030504040204" pitchFamily="50" charset="-128"/>
                <a:ea typeface="メイリオ" panose="020B0604030504040204" pitchFamily="50" charset="-128"/>
              </a:rPr>
              <a:t>）</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自然文生成が飛躍。公開時には「悪用リスク」で完全公開を控えるほどの性能。</a:t>
            </a:r>
          </a:p>
        </p:txBody>
      </p:sp>
      <p:sp>
        <p:nvSpPr>
          <p:cNvPr id="18" name="テキスト ボックス 17">
            <a:extLst>
              <a:ext uri="{FF2B5EF4-FFF2-40B4-BE49-F238E27FC236}">
                <a16:creationId xmlns:a16="http://schemas.microsoft.com/office/drawing/2014/main" id="{83B7D7B0-E98A-3904-E580-16008F6BE726}"/>
              </a:ext>
            </a:extLst>
          </p:cNvPr>
          <p:cNvSpPr txBox="1"/>
          <p:nvPr/>
        </p:nvSpPr>
        <p:spPr>
          <a:xfrm>
            <a:off x="2904565" y="1651692"/>
            <a:ext cx="6096000" cy="1138773"/>
          </a:xfrm>
          <a:prstGeom prst="rect">
            <a:avLst/>
          </a:prstGeom>
          <a:noFill/>
        </p:spPr>
        <p:txBody>
          <a:bodyPr wrap="square" anchor="ctr">
            <a:spAutoFit/>
          </a:bodyPr>
          <a:lstStyle/>
          <a:p>
            <a:pPr>
              <a:buNone/>
            </a:pPr>
            <a:r>
              <a:rPr lang="en-US" altLang="ja-JP" sz="1200" b="1" dirty="0">
                <a:latin typeface="メイリオ" panose="020B0604030504040204" pitchFamily="50" charset="-128"/>
                <a:ea typeface="メイリオ" panose="020B0604030504040204" pitchFamily="50" charset="-128"/>
              </a:rPr>
              <a:t>2020–2021</a:t>
            </a:r>
            <a:r>
              <a:rPr lang="ja-JP" altLang="en-US" sz="1200" b="1" dirty="0">
                <a:latin typeface="メイリオ" panose="020B0604030504040204" pitchFamily="50" charset="-128"/>
                <a:ea typeface="メイリオ" panose="020B0604030504040204" pitchFamily="50" charset="-128"/>
              </a:rPr>
              <a:t>年：大規模化と実用化</a:t>
            </a:r>
          </a:p>
          <a:p>
            <a:pPr>
              <a:buFont typeface="Arial" panose="020B0604020202020204" pitchFamily="34" charset="0"/>
              <a:buChar char="•"/>
            </a:pPr>
            <a:r>
              <a:rPr lang="en-US" altLang="ja-JP" sz="1200" b="1" dirty="0">
                <a:latin typeface="メイリオ" panose="020B0604030504040204" pitchFamily="50" charset="-128"/>
                <a:ea typeface="メイリオ" panose="020B0604030504040204" pitchFamily="50" charset="-128"/>
              </a:rPr>
              <a:t>GPT-3</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2020, OpenAI</a:t>
            </a:r>
            <a:r>
              <a:rPr lang="ja-JP" altLang="en-US" sz="1200" b="1" dirty="0">
                <a:latin typeface="メイリオ" panose="020B0604030504040204" pitchFamily="50" charset="-128"/>
                <a:ea typeface="メイリオ" panose="020B0604030504040204" pitchFamily="50" charset="-128"/>
              </a:rPr>
              <a:t>）</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175B</a:t>
            </a:r>
            <a:r>
              <a:rPr lang="ja-JP" altLang="en-US" sz="1000" dirty="0">
                <a:latin typeface="メイリオ" panose="020B0604030504040204" pitchFamily="50" charset="-128"/>
                <a:ea typeface="メイリオ" panose="020B0604030504040204" pitchFamily="50" charset="-128"/>
              </a:rPr>
              <a:t>パラメータ。</a:t>
            </a:r>
            <a:r>
              <a:rPr lang="en-US" altLang="ja-JP" sz="1000" dirty="0">
                <a:latin typeface="メイリオ" panose="020B0604030504040204" pitchFamily="50" charset="-128"/>
                <a:ea typeface="メイリオ" panose="020B0604030504040204" pitchFamily="50" charset="-128"/>
              </a:rPr>
              <a:t>Few-shot/Zero-shot</a:t>
            </a:r>
            <a:r>
              <a:rPr lang="ja-JP" altLang="en-US" sz="1000" dirty="0">
                <a:latin typeface="メイリオ" panose="020B0604030504040204" pitchFamily="50" charset="-128"/>
                <a:ea typeface="メイリオ" panose="020B0604030504040204" pitchFamily="50" charset="-128"/>
              </a:rPr>
              <a:t>学習が可能に。</a:t>
            </a:r>
            <a:br>
              <a:rPr lang="ja-JP" altLang="en-US" sz="10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a:t>
            </a:r>
            <a:r>
              <a:rPr lang="en-US" altLang="ja-JP" sz="1000" dirty="0">
                <a:latin typeface="メイリオ" panose="020B0604030504040204" pitchFamily="50" charset="-128"/>
                <a:ea typeface="メイリオ" panose="020B0604030504040204" pitchFamily="50" charset="-128"/>
              </a:rPr>
              <a:t>API</a:t>
            </a:r>
            <a:r>
              <a:rPr lang="ja-JP" altLang="en-US" sz="1000" dirty="0">
                <a:latin typeface="メイリオ" panose="020B0604030504040204" pitchFamily="50" charset="-128"/>
                <a:ea typeface="メイリオ" panose="020B0604030504040204" pitchFamily="50" charset="-128"/>
              </a:rPr>
              <a:t>提供開始で、企業が実サービスに導入し始める。</a:t>
            </a:r>
          </a:p>
          <a:p>
            <a:pPr>
              <a:buFont typeface="Arial" panose="020B0604020202020204" pitchFamily="34" charset="0"/>
              <a:buChar char="•"/>
            </a:pPr>
            <a:r>
              <a:rPr lang="en-US" altLang="ja-JP" sz="1200" b="1" dirty="0">
                <a:latin typeface="メイリオ" panose="020B0604030504040204" pitchFamily="50" charset="-128"/>
                <a:ea typeface="メイリオ" panose="020B0604030504040204" pitchFamily="50" charset="-128"/>
              </a:rPr>
              <a:t>T5, Megatron, Switch Transformer</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さらなるモデルスケールの拡大。</a:t>
            </a:r>
          </a:p>
        </p:txBody>
      </p:sp>
      <p:sp>
        <p:nvSpPr>
          <p:cNvPr id="20" name="テキスト ボックス 19">
            <a:extLst>
              <a:ext uri="{FF2B5EF4-FFF2-40B4-BE49-F238E27FC236}">
                <a16:creationId xmlns:a16="http://schemas.microsoft.com/office/drawing/2014/main" id="{B025B945-2DB7-8ADA-8D49-272849FE50EF}"/>
              </a:ext>
            </a:extLst>
          </p:cNvPr>
          <p:cNvSpPr txBox="1"/>
          <p:nvPr/>
        </p:nvSpPr>
        <p:spPr>
          <a:xfrm>
            <a:off x="6672123" y="2640910"/>
            <a:ext cx="5071821" cy="1138773"/>
          </a:xfrm>
          <a:prstGeom prst="rect">
            <a:avLst/>
          </a:prstGeom>
          <a:noFill/>
        </p:spPr>
        <p:txBody>
          <a:bodyPr wrap="square">
            <a:spAutoFit/>
          </a:bodyPr>
          <a:lstStyle/>
          <a:p>
            <a:pPr>
              <a:buNone/>
            </a:pPr>
            <a:r>
              <a:rPr lang="en-US" altLang="ja-JP" sz="1200" b="1" dirty="0">
                <a:latin typeface="メイリオ" panose="020B0604030504040204" pitchFamily="50" charset="-128"/>
                <a:ea typeface="メイリオ" panose="020B0604030504040204" pitchFamily="50" charset="-128"/>
              </a:rPr>
              <a:t>2022</a:t>
            </a:r>
            <a:r>
              <a:rPr lang="ja-JP" altLang="en-US" sz="1200" b="1" dirty="0">
                <a:latin typeface="メイリオ" panose="020B0604030504040204" pitchFamily="50" charset="-128"/>
                <a:ea typeface="メイリオ" panose="020B0604030504040204" pitchFamily="50" charset="-128"/>
              </a:rPr>
              <a:t>年：生成</a:t>
            </a:r>
            <a:r>
              <a:rPr lang="en-US" altLang="ja-JP" sz="1200" b="1" dirty="0">
                <a:latin typeface="メイリオ" panose="020B0604030504040204" pitchFamily="50" charset="-128"/>
                <a:ea typeface="メイリオ" panose="020B0604030504040204" pitchFamily="50" charset="-128"/>
              </a:rPr>
              <a:t>AI</a:t>
            </a:r>
            <a:r>
              <a:rPr lang="ja-JP" altLang="en-US" sz="1200" b="1" dirty="0">
                <a:latin typeface="メイリオ" panose="020B0604030504040204" pitchFamily="50" charset="-128"/>
                <a:ea typeface="メイリオ" panose="020B0604030504040204" pitchFamily="50" charset="-128"/>
              </a:rPr>
              <a:t>の一般公開</a:t>
            </a:r>
          </a:p>
          <a:p>
            <a:pPr>
              <a:buFont typeface="Arial" panose="020B0604020202020204" pitchFamily="34" charset="0"/>
              <a:buChar char="•"/>
            </a:pPr>
            <a:r>
              <a:rPr lang="en-US" altLang="ja-JP" sz="1200" b="1" dirty="0">
                <a:solidFill>
                  <a:srgbClr val="FF0000"/>
                </a:solidFill>
                <a:latin typeface="メイリオ" panose="020B0604030504040204" pitchFamily="50" charset="-128"/>
                <a:ea typeface="メイリオ" panose="020B0604030504040204" pitchFamily="50" charset="-128"/>
              </a:rPr>
              <a:t>ChatGPT</a:t>
            </a:r>
            <a:r>
              <a:rPr lang="ja-JP" altLang="en-US" sz="1200" b="1" dirty="0">
                <a:solidFill>
                  <a:srgbClr val="FF0000"/>
                </a:solidFill>
                <a:latin typeface="メイリオ" panose="020B0604030504040204" pitchFamily="50" charset="-128"/>
                <a:ea typeface="メイリオ" panose="020B0604030504040204" pitchFamily="50" charset="-128"/>
              </a:rPr>
              <a:t>（</a:t>
            </a:r>
            <a:r>
              <a:rPr lang="en-US" altLang="ja-JP" sz="1200" b="1" dirty="0">
                <a:solidFill>
                  <a:srgbClr val="FF0000"/>
                </a:solidFill>
                <a:latin typeface="メイリオ" panose="020B0604030504040204" pitchFamily="50" charset="-128"/>
                <a:ea typeface="メイリオ" panose="020B0604030504040204" pitchFamily="50" charset="-128"/>
              </a:rPr>
              <a:t>2022</a:t>
            </a:r>
            <a:r>
              <a:rPr lang="ja-JP" altLang="en-US" sz="1200" b="1" dirty="0">
                <a:solidFill>
                  <a:srgbClr val="FF0000"/>
                </a:solidFill>
                <a:latin typeface="メイリオ" panose="020B0604030504040204" pitchFamily="50" charset="-128"/>
                <a:ea typeface="メイリオ" panose="020B0604030504040204" pitchFamily="50" charset="-128"/>
              </a:rPr>
              <a:t>年</a:t>
            </a:r>
            <a:r>
              <a:rPr lang="en-US" altLang="ja-JP" sz="1200" b="1" dirty="0">
                <a:solidFill>
                  <a:srgbClr val="FF0000"/>
                </a:solidFill>
                <a:latin typeface="メイリオ" panose="020B0604030504040204" pitchFamily="50" charset="-128"/>
                <a:ea typeface="メイリオ" panose="020B0604030504040204" pitchFamily="50" charset="-128"/>
              </a:rPr>
              <a:t>11</a:t>
            </a:r>
            <a:r>
              <a:rPr lang="ja-JP" altLang="en-US" sz="1200" b="1" dirty="0">
                <a:solidFill>
                  <a:srgbClr val="FF0000"/>
                </a:solidFill>
                <a:latin typeface="メイリオ" panose="020B0604030504040204" pitchFamily="50" charset="-128"/>
                <a:ea typeface="メイリオ" panose="020B0604030504040204" pitchFamily="50" charset="-128"/>
              </a:rPr>
              <a:t>月</a:t>
            </a:r>
            <a:r>
              <a:rPr lang="en-US" altLang="ja-JP" sz="1200" b="1" dirty="0">
                <a:solidFill>
                  <a:srgbClr val="FF0000"/>
                </a:solidFill>
                <a:latin typeface="メイリオ" panose="020B0604030504040204" pitchFamily="50" charset="-128"/>
                <a:ea typeface="メイリオ" panose="020B0604030504040204" pitchFamily="50" charset="-128"/>
              </a:rPr>
              <a:t>, OpenAI</a:t>
            </a:r>
            <a:r>
              <a:rPr lang="ja-JP" altLang="en-US" sz="1200" b="1" dirty="0">
                <a:solidFill>
                  <a:srgbClr val="FF0000"/>
                </a:solidFill>
                <a:latin typeface="メイリオ" panose="020B0604030504040204" pitchFamily="50" charset="-128"/>
                <a:ea typeface="メイリオ" panose="020B0604030504040204" pitchFamily="50" charset="-128"/>
              </a:rPr>
              <a:t>）</a:t>
            </a:r>
            <a:br>
              <a:rPr lang="ja-JP" altLang="en-US" sz="1200" dirty="0">
                <a:solidFill>
                  <a:srgbClr val="FF0000"/>
                </a:solidFill>
                <a:latin typeface="メイリオ" panose="020B0604030504040204" pitchFamily="50" charset="-128"/>
                <a:ea typeface="メイリオ" panose="020B0604030504040204" pitchFamily="50" charset="-128"/>
              </a:rPr>
            </a:br>
            <a:r>
              <a:rPr lang="ja-JP" altLang="en-US" sz="1000" dirty="0">
                <a:solidFill>
                  <a:srgbClr val="FF0000"/>
                </a:solidFill>
                <a:latin typeface="メイリオ" panose="020B0604030504040204" pitchFamily="50" charset="-128"/>
                <a:ea typeface="メイリオ" panose="020B0604030504040204" pitchFamily="50" charset="-128"/>
              </a:rPr>
              <a:t>→ </a:t>
            </a:r>
            <a:r>
              <a:rPr lang="en-US" altLang="ja-JP" sz="1000" dirty="0">
                <a:solidFill>
                  <a:srgbClr val="FF0000"/>
                </a:solidFill>
                <a:latin typeface="メイリオ" panose="020B0604030504040204" pitchFamily="50" charset="-128"/>
                <a:ea typeface="メイリオ" panose="020B0604030504040204" pitchFamily="50" charset="-128"/>
              </a:rPr>
              <a:t>GPT-3.5</a:t>
            </a:r>
            <a:r>
              <a:rPr lang="ja-JP" altLang="en-US" sz="1000" dirty="0">
                <a:solidFill>
                  <a:srgbClr val="FF0000"/>
                </a:solidFill>
                <a:latin typeface="メイリオ" panose="020B0604030504040204" pitchFamily="50" charset="-128"/>
                <a:ea typeface="メイリオ" panose="020B0604030504040204" pitchFamily="50" charset="-128"/>
              </a:rPr>
              <a:t>＋</a:t>
            </a:r>
            <a:r>
              <a:rPr lang="en-US" altLang="ja-JP" sz="1000" dirty="0">
                <a:solidFill>
                  <a:srgbClr val="FF0000"/>
                </a:solidFill>
                <a:latin typeface="メイリオ" panose="020B0604030504040204" pitchFamily="50" charset="-128"/>
                <a:ea typeface="メイリオ" panose="020B0604030504040204" pitchFamily="50" charset="-128"/>
              </a:rPr>
              <a:t>RLHF</a:t>
            </a:r>
            <a:r>
              <a:rPr lang="ja-JP" altLang="en-US" sz="1000" dirty="0">
                <a:solidFill>
                  <a:srgbClr val="FF0000"/>
                </a:solidFill>
                <a:latin typeface="メイリオ" panose="020B0604030504040204" pitchFamily="50" charset="-128"/>
                <a:ea typeface="メイリオ" panose="020B0604030504040204" pitchFamily="50" charset="-128"/>
              </a:rPr>
              <a:t>（人間フィードバック強化学習）。</a:t>
            </a:r>
            <a:br>
              <a:rPr lang="ja-JP" altLang="en-US" sz="1000" dirty="0">
                <a:solidFill>
                  <a:srgbClr val="FF0000"/>
                </a:solidFill>
                <a:latin typeface="メイリオ" panose="020B0604030504040204" pitchFamily="50" charset="-128"/>
                <a:ea typeface="メイリオ" panose="020B0604030504040204" pitchFamily="50" charset="-128"/>
              </a:rPr>
            </a:br>
            <a:r>
              <a:rPr lang="ja-JP" altLang="en-US" sz="1000" dirty="0">
                <a:solidFill>
                  <a:srgbClr val="FF0000"/>
                </a:solidFill>
                <a:latin typeface="メイリオ" panose="020B0604030504040204" pitchFamily="50" charset="-128"/>
                <a:ea typeface="メイリオ" panose="020B0604030504040204" pitchFamily="50" charset="-128"/>
              </a:rPr>
              <a:t>→ 爆発的に普及、数カ月で</a:t>
            </a:r>
            <a:r>
              <a:rPr lang="en-US" altLang="ja-JP" sz="1000" dirty="0">
                <a:solidFill>
                  <a:srgbClr val="FF0000"/>
                </a:solidFill>
                <a:latin typeface="メイリオ" panose="020B0604030504040204" pitchFamily="50" charset="-128"/>
                <a:ea typeface="メイリオ" panose="020B0604030504040204" pitchFamily="50" charset="-128"/>
              </a:rPr>
              <a:t>1</a:t>
            </a:r>
            <a:r>
              <a:rPr lang="ja-JP" altLang="en-US" sz="1000" dirty="0">
                <a:solidFill>
                  <a:srgbClr val="FF0000"/>
                </a:solidFill>
                <a:latin typeface="メイリオ" panose="020B0604030504040204" pitchFamily="50" charset="-128"/>
                <a:ea typeface="メイリオ" panose="020B0604030504040204" pitchFamily="50" charset="-128"/>
              </a:rPr>
              <a:t>億ユーザーに到達。</a:t>
            </a:r>
          </a:p>
          <a:p>
            <a:pPr>
              <a:buFont typeface="Arial" panose="020B0604020202020204" pitchFamily="34" charset="0"/>
              <a:buChar char="•"/>
            </a:pPr>
            <a:r>
              <a:rPr lang="en-US" altLang="ja-JP" sz="1200" b="1" dirty="0">
                <a:latin typeface="メイリオ" panose="020B0604030504040204" pitchFamily="50" charset="-128"/>
                <a:ea typeface="メイリオ" panose="020B0604030504040204" pitchFamily="50" charset="-128"/>
              </a:rPr>
              <a:t>Stable Diffusion / DALL·E 2</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マルチモーダル生成</a:t>
            </a:r>
            <a:r>
              <a:rPr lang="en-US" altLang="ja-JP" sz="1000" dirty="0">
                <a:latin typeface="メイリオ" panose="020B0604030504040204" pitchFamily="50" charset="-128"/>
                <a:ea typeface="メイリオ" panose="020B0604030504040204" pitchFamily="50" charset="-128"/>
              </a:rPr>
              <a:t>AI</a:t>
            </a:r>
            <a:r>
              <a:rPr lang="ja-JP" altLang="en-US" sz="1000" dirty="0">
                <a:latin typeface="メイリオ" panose="020B0604030504040204" pitchFamily="50" charset="-128"/>
                <a:ea typeface="メイリオ" panose="020B0604030504040204" pitchFamily="50" charset="-128"/>
              </a:rPr>
              <a:t>（テキスト→画像）が社会的に注目を集める。</a:t>
            </a:r>
          </a:p>
        </p:txBody>
      </p:sp>
      <p:sp>
        <p:nvSpPr>
          <p:cNvPr id="21" name="テキスト ボックス 20">
            <a:extLst>
              <a:ext uri="{FF2B5EF4-FFF2-40B4-BE49-F238E27FC236}">
                <a16:creationId xmlns:a16="http://schemas.microsoft.com/office/drawing/2014/main" id="{8C32FF5A-04A9-3DDC-A021-3A0B158B7684}"/>
              </a:ext>
            </a:extLst>
          </p:cNvPr>
          <p:cNvSpPr txBox="1"/>
          <p:nvPr/>
        </p:nvSpPr>
        <p:spPr>
          <a:xfrm>
            <a:off x="2176044" y="3477552"/>
            <a:ext cx="6096000" cy="1138773"/>
          </a:xfrm>
          <a:prstGeom prst="rect">
            <a:avLst/>
          </a:prstGeom>
          <a:noFill/>
        </p:spPr>
        <p:txBody>
          <a:bodyPr wrap="square" anchor="ctr">
            <a:spAutoFit/>
          </a:bodyPr>
          <a:lstStyle/>
          <a:p>
            <a:r>
              <a:rPr lang="en-US" altLang="ja-JP" sz="1200" b="1" dirty="0">
                <a:latin typeface="メイリオ" panose="020B0604030504040204" pitchFamily="50" charset="-128"/>
                <a:ea typeface="メイリオ" panose="020B0604030504040204" pitchFamily="50" charset="-128"/>
              </a:rPr>
              <a:t>2023</a:t>
            </a:r>
            <a:r>
              <a:rPr lang="ja-JP" altLang="en-US" sz="1200" b="1" dirty="0">
                <a:latin typeface="メイリオ" panose="020B0604030504040204" pitchFamily="50" charset="-128"/>
                <a:ea typeface="メイリオ" panose="020B0604030504040204" pitchFamily="50" charset="-128"/>
              </a:rPr>
              <a:t>年：実用フェーズ</a:t>
            </a:r>
          </a:p>
          <a:p>
            <a:r>
              <a:rPr lang="en-US" altLang="ja-JP" sz="1200" b="1" dirty="0">
                <a:latin typeface="メイリオ" panose="020B0604030504040204" pitchFamily="50" charset="-128"/>
                <a:ea typeface="メイリオ" panose="020B0604030504040204" pitchFamily="50" charset="-128"/>
              </a:rPr>
              <a:t>GPT-4</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2023</a:t>
            </a:r>
            <a:r>
              <a:rPr lang="ja-JP" altLang="en-US" sz="1200" b="1" dirty="0">
                <a:latin typeface="メイリオ" panose="020B0604030504040204" pitchFamily="50" charset="-128"/>
                <a:ea typeface="メイリオ" panose="020B0604030504040204" pitchFamily="50" charset="-128"/>
              </a:rPr>
              <a:t>年</a:t>
            </a:r>
            <a:r>
              <a:rPr lang="en-US" altLang="ja-JP" sz="1200" b="1" dirty="0">
                <a:latin typeface="メイリオ" panose="020B0604030504040204" pitchFamily="50" charset="-128"/>
                <a:ea typeface="メイリオ" panose="020B0604030504040204" pitchFamily="50" charset="-128"/>
              </a:rPr>
              <a:t>3</a:t>
            </a:r>
            <a:r>
              <a:rPr lang="ja-JP" altLang="en-US" sz="1200" b="1" dirty="0">
                <a:latin typeface="メイリオ" panose="020B0604030504040204" pitchFamily="50" charset="-128"/>
                <a:ea typeface="メイリオ" panose="020B0604030504040204" pitchFamily="50" charset="-128"/>
              </a:rPr>
              <a:t>月）</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マルチモーダル対応（画像入力対応）、精度・安全性が飛躍。</a:t>
            </a:r>
          </a:p>
          <a:p>
            <a:r>
              <a:rPr lang="en-US" altLang="ja-JP" sz="1200" b="1" dirty="0">
                <a:latin typeface="メイリオ" panose="020B0604030504040204" pitchFamily="50" charset="-128"/>
                <a:ea typeface="メイリオ" panose="020B0604030504040204" pitchFamily="50" charset="-128"/>
              </a:rPr>
              <a:t>Claude</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Anthropic</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 Bard</a:t>
            </a:r>
            <a:r>
              <a:rPr lang="ja-JP" altLang="en-US" sz="1200" b="1" dirty="0">
                <a:latin typeface="メイリオ" panose="020B0604030504040204" pitchFamily="50" charset="-128"/>
                <a:ea typeface="メイリオ" panose="020B0604030504040204" pitchFamily="50" charset="-128"/>
              </a:rPr>
              <a:t>（</a:t>
            </a:r>
            <a:r>
              <a:rPr lang="en-US" altLang="ja-JP" sz="1200" b="1" dirty="0" err="1">
                <a:latin typeface="メイリオ" panose="020B0604030504040204" pitchFamily="50" charset="-128"/>
                <a:ea typeface="メイリオ" panose="020B0604030504040204" pitchFamily="50" charset="-128"/>
              </a:rPr>
              <a:t>Google→Gemini</a:t>
            </a:r>
            <a:r>
              <a:rPr lang="ja-JP" altLang="en-US" sz="1200" b="1" dirty="0">
                <a:latin typeface="メイリオ" panose="020B0604030504040204" pitchFamily="50" charset="-128"/>
                <a:ea typeface="メイリオ" panose="020B0604030504040204" pitchFamily="50" charset="-128"/>
              </a:rPr>
              <a:t>へ改名）</a:t>
            </a:r>
            <a:r>
              <a:rPr lang="en-US" altLang="ja-JP" sz="1200" b="1" dirty="0">
                <a:latin typeface="メイリオ" panose="020B0604030504040204" pitchFamily="50" charset="-128"/>
                <a:ea typeface="メイリオ" panose="020B0604030504040204" pitchFamily="50" charset="-128"/>
              </a:rPr>
              <a:t>, </a:t>
            </a:r>
            <a:r>
              <a:rPr lang="en-US" altLang="ja-JP" sz="1200" b="1" dirty="0" err="1">
                <a:latin typeface="メイリオ" panose="020B0604030504040204" pitchFamily="50" charset="-128"/>
                <a:ea typeface="メイリオ" panose="020B0604030504040204" pitchFamily="50" charset="-128"/>
              </a:rPr>
              <a:t>LLaMA</a:t>
            </a: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Meta</a:t>
            </a:r>
            <a:r>
              <a:rPr lang="ja-JP" altLang="en-US" sz="1200" b="1" dirty="0">
                <a:latin typeface="メイリオ" panose="020B0604030504040204" pitchFamily="50" charset="-128"/>
                <a:ea typeface="メイリオ" panose="020B0604030504040204" pitchFamily="50" charset="-128"/>
              </a:rPr>
              <a:t>）</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複数の企業が強力な基盤モデルを公開。オープンソース化の流れも加速。</a:t>
            </a:r>
          </a:p>
          <a:p>
            <a:r>
              <a:rPr lang="ja-JP" altLang="en-US" sz="1000" b="1" dirty="0">
                <a:solidFill>
                  <a:srgbClr val="FF0000"/>
                </a:solidFill>
                <a:latin typeface="メイリオ" panose="020B0604030504040204" pitchFamily="50" charset="-128"/>
                <a:ea typeface="メイリオ" panose="020B0604030504040204" pitchFamily="50" charset="-128"/>
              </a:rPr>
              <a:t>企業導入</a:t>
            </a:r>
            <a:r>
              <a:rPr lang="ja-JP" altLang="en-US" sz="1000" dirty="0">
                <a:solidFill>
                  <a:srgbClr val="FF0000"/>
                </a:solidFill>
                <a:latin typeface="メイリオ" panose="020B0604030504040204" pitchFamily="50" charset="-128"/>
                <a:ea typeface="メイリオ" panose="020B0604030504040204" pitchFamily="50" charset="-128"/>
              </a:rPr>
              <a:t>：オフィスソフト、検索、開発支援、顧客対応などに組込開始。</a:t>
            </a:r>
          </a:p>
        </p:txBody>
      </p:sp>
      <p:sp>
        <p:nvSpPr>
          <p:cNvPr id="23" name="テキスト ボックス 22">
            <a:extLst>
              <a:ext uri="{FF2B5EF4-FFF2-40B4-BE49-F238E27FC236}">
                <a16:creationId xmlns:a16="http://schemas.microsoft.com/office/drawing/2014/main" id="{52A75D55-0127-3B87-97D3-2DDCF2ED1A1E}"/>
              </a:ext>
            </a:extLst>
          </p:cNvPr>
          <p:cNvSpPr txBox="1"/>
          <p:nvPr/>
        </p:nvSpPr>
        <p:spPr>
          <a:xfrm>
            <a:off x="7631346" y="4374437"/>
            <a:ext cx="4202067" cy="1446550"/>
          </a:xfrm>
          <a:prstGeom prst="rect">
            <a:avLst/>
          </a:prstGeom>
          <a:noFill/>
        </p:spPr>
        <p:txBody>
          <a:bodyPr wrap="square">
            <a:spAutoFit/>
          </a:bodyPr>
          <a:lstStyle/>
          <a:p>
            <a:pPr>
              <a:buNone/>
            </a:pPr>
            <a:r>
              <a:rPr lang="en-US" altLang="ja-JP" sz="1200" b="1" dirty="0">
                <a:latin typeface="メイリオ" panose="020B0604030504040204" pitchFamily="50" charset="-128"/>
                <a:ea typeface="メイリオ" panose="020B0604030504040204" pitchFamily="50" charset="-128"/>
              </a:rPr>
              <a:t>2024</a:t>
            </a:r>
            <a:r>
              <a:rPr lang="ja-JP" altLang="en-US" sz="1200" b="1" dirty="0">
                <a:latin typeface="メイリオ" panose="020B0604030504040204" pitchFamily="50" charset="-128"/>
                <a:ea typeface="メイリオ" panose="020B0604030504040204" pitchFamily="50" charset="-128"/>
              </a:rPr>
              <a:t>年：産業への深い統合</a:t>
            </a:r>
          </a:p>
          <a:p>
            <a:pPr>
              <a:buFont typeface="Arial" panose="020B0604020202020204" pitchFamily="34" charset="0"/>
              <a:buChar char="•"/>
            </a:pPr>
            <a:r>
              <a:rPr lang="en-US" altLang="ja-JP" sz="1200" b="1" dirty="0">
                <a:latin typeface="メイリオ" panose="020B0604030504040204" pitchFamily="50" charset="-128"/>
                <a:ea typeface="メイリオ" panose="020B0604030504040204" pitchFamily="50" charset="-128"/>
              </a:rPr>
              <a:t>GPT-4 Turbo / Claude 2 / Gemini 1.5 / </a:t>
            </a:r>
            <a:r>
              <a:rPr lang="en-US" altLang="ja-JP" sz="1200" b="1" dirty="0" err="1">
                <a:latin typeface="メイリオ" panose="020B0604030504040204" pitchFamily="50" charset="-128"/>
                <a:ea typeface="メイリオ" panose="020B0604030504040204" pitchFamily="50" charset="-128"/>
              </a:rPr>
              <a:t>LLaMA</a:t>
            </a:r>
            <a:r>
              <a:rPr lang="en-US" altLang="ja-JP" sz="1200" b="1" dirty="0">
                <a:latin typeface="メイリオ" panose="020B0604030504040204" pitchFamily="50" charset="-128"/>
                <a:ea typeface="メイリオ" panose="020B0604030504040204" pitchFamily="50" charset="-128"/>
              </a:rPr>
              <a:t> 2</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長文コンテキスト処理（数十万トークン）が可能に。</a:t>
            </a:r>
            <a:br>
              <a:rPr lang="ja-JP" altLang="en-US" sz="10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コード生成・分析タスクの精度向上。</a:t>
            </a:r>
          </a:p>
          <a:p>
            <a:pPr>
              <a:buFont typeface="Arial" panose="020B0604020202020204" pitchFamily="34" charset="0"/>
              <a:buChar char="•"/>
            </a:pPr>
            <a:r>
              <a:rPr lang="ja-JP" altLang="en-US" sz="1200" b="1" dirty="0">
                <a:solidFill>
                  <a:srgbClr val="FF0000"/>
                </a:solidFill>
                <a:latin typeface="メイリオ" panose="020B0604030504040204" pitchFamily="50" charset="-128"/>
                <a:ea typeface="メイリオ" panose="020B0604030504040204" pitchFamily="50" charset="-128"/>
              </a:rPr>
              <a:t>エンタープライズ展開</a:t>
            </a:r>
            <a:br>
              <a:rPr lang="ja-JP" altLang="en-US" sz="1200" dirty="0">
                <a:solidFill>
                  <a:srgbClr val="FF0000"/>
                </a:solidFill>
                <a:latin typeface="メイリオ" panose="020B0604030504040204" pitchFamily="50" charset="-128"/>
                <a:ea typeface="メイリオ" panose="020B0604030504040204" pitchFamily="50" charset="-128"/>
              </a:rPr>
            </a:br>
            <a:r>
              <a:rPr lang="ja-JP" altLang="en-US" sz="1000" dirty="0">
                <a:solidFill>
                  <a:srgbClr val="FF0000"/>
                </a:solidFill>
                <a:latin typeface="メイリオ" panose="020B0604030504040204" pitchFamily="50" charset="-128"/>
                <a:ea typeface="メイリオ" panose="020B0604030504040204" pitchFamily="50" charset="-128"/>
              </a:rPr>
              <a:t>→ 法務・金融・製造（品質解析や歩留まり解析）への応用。</a:t>
            </a:r>
          </a:p>
          <a:p>
            <a:pPr>
              <a:buFont typeface="Arial" panose="020B0604020202020204" pitchFamily="34" charset="0"/>
              <a:buChar char="•"/>
            </a:pPr>
            <a:r>
              <a:rPr lang="en-US" altLang="ja-JP" sz="1200" b="1" dirty="0">
                <a:latin typeface="メイリオ" panose="020B0604030504040204" pitchFamily="50" charset="-128"/>
                <a:ea typeface="メイリオ" panose="020B0604030504040204" pitchFamily="50" charset="-128"/>
              </a:rPr>
              <a:t>AI PC / </a:t>
            </a:r>
            <a:r>
              <a:rPr lang="ja-JP" altLang="en-US" sz="1200" b="1" dirty="0">
                <a:latin typeface="メイリオ" panose="020B0604030504040204" pitchFamily="50" charset="-128"/>
                <a:ea typeface="メイリオ" panose="020B0604030504040204" pitchFamily="50" charset="-128"/>
              </a:rPr>
              <a:t>エッジ展開</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デバイス上で動く軽量</a:t>
            </a:r>
            <a:r>
              <a:rPr lang="en-US" altLang="ja-JP" sz="1000" dirty="0">
                <a:latin typeface="メイリオ" panose="020B0604030504040204" pitchFamily="50" charset="-128"/>
                <a:ea typeface="メイリオ" panose="020B0604030504040204" pitchFamily="50" charset="-128"/>
              </a:rPr>
              <a:t>LLM</a:t>
            </a:r>
            <a:r>
              <a:rPr lang="ja-JP" altLang="en-US" sz="1000" dirty="0">
                <a:latin typeface="メイリオ" panose="020B0604030504040204" pitchFamily="50" charset="-128"/>
                <a:ea typeface="メイリオ" panose="020B0604030504040204" pitchFamily="50" charset="-128"/>
              </a:rPr>
              <a:t>（数十億パラメータ）が普及開始。</a:t>
            </a:r>
          </a:p>
        </p:txBody>
      </p:sp>
      <p:sp>
        <p:nvSpPr>
          <p:cNvPr id="25" name="テキスト ボックス 24">
            <a:extLst>
              <a:ext uri="{FF2B5EF4-FFF2-40B4-BE49-F238E27FC236}">
                <a16:creationId xmlns:a16="http://schemas.microsoft.com/office/drawing/2014/main" id="{01238382-9592-A64A-FDDD-E36CB52E078F}"/>
              </a:ext>
            </a:extLst>
          </p:cNvPr>
          <p:cNvSpPr txBox="1"/>
          <p:nvPr/>
        </p:nvSpPr>
        <p:spPr>
          <a:xfrm>
            <a:off x="2176044" y="5211079"/>
            <a:ext cx="6781800" cy="1323439"/>
          </a:xfrm>
          <a:prstGeom prst="rect">
            <a:avLst/>
          </a:prstGeom>
          <a:noFill/>
        </p:spPr>
        <p:txBody>
          <a:bodyPr wrap="square" anchor="ctr">
            <a:spAutoFit/>
          </a:bodyPr>
          <a:lstStyle/>
          <a:p>
            <a:pPr>
              <a:buNone/>
            </a:pPr>
            <a:r>
              <a:rPr lang="en-US" altLang="ja-JP" sz="1200" b="1" dirty="0">
                <a:latin typeface="メイリオ" panose="020B0604030504040204" pitchFamily="50" charset="-128"/>
                <a:ea typeface="メイリオ" panose="020B0604030504040204" pitchFamily="50" charset="-128"/>
              </a:rPr>
              <a:t>2025</a:t>
            </a:r>
            <a:r>
              <a:rPr lang="ja-JP" altLang="en-US" sz="1200" b="1" dirty="0">
                <a:latin typeface="メイリオ" panose="020B0604030504040204" pitchFamily="50" charset="-128"/>
                <a:ea typeface="メイリオ" panose="020B0604030504040204" pitchFamily="50" charset="-128"/>
              </a:rPr>
              <a:t>年：現状（直近の方向性）</a:t>
            </a:r>
          </a:p>
          <a:p>
            <a:pPr>
              <a:buFont typeface="Arial" panose="020B0604020202020204" pitchFamily="34" charset="0"/>
              <a:buChar char="•"/>
            </a:pPr>
            <a:r>
              <a:rPr lang="en-US" altLang="ja-JP" sz="1200" b="1" dirty="0">
                <a:latin typeface="メイリオ" panose="020B0604030504040204" pitchFamily="50" charset="-128"/>
                <a:ea typeface="メイリオ" panose="020B0604030504040204" pitchFamily="50" charset="-128"/>
              </a:rPr>
              <a:t>GPT-5 / Claude 3 / Gemini 2 / </a:t>
            </a:r>
            <a:r>
              <a:rPr lang="en-US" altLang="ja-JP" sz="1200" b="1" dirty="0" err="1">
                <a:latin typeface="メイリオ" panose="020B0604030504040204" pitchFamily="50" charset="-128"/>
                <a:ea typeface="メイリオ" panose="020B0604030504040204" pitchFamily="50" charset="-128"/>
              </a:rPr>
              <a:t>LLaMA</a:t>
            </a:r>
            <a:r>
              <a:rPr lang="en-US" altLang="ja-JP" sz="1200" b="1" dirty="0">
                <a:latin typeface="メイリオ" panose="020B0604030504040204" pitchFamily="50" charset="-128"/>
                <a:ea typeface="メイリオ" panose="020B0604030504040204" pitchFamily="50" charset="-128"/>
              </a:rPr>
              <a:t> 3</a:t>
            </a:r>
            <a:br>
              <a:rPr lang="ja-JP" altLang="en-US" sz="1200" dirty="0">
                <a:latin typeface="メイリオ" panose="020B0604030504040204" pitchFamily="50" charset="-128"/>
                <a:ea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rPr>
              <a:t>→ 推論の一貫性、マルチモーダル融合（テキスト＋画像＋音声＋動画）が進展。</a:t>
            </a:r>
          </a:p>
          <a:p>
            <a:pPr>
              <a:buFont typeface="Arial" panose="020B0604020202020204" pitchFamily="34" charset="0"/>
              <a:buChar char="•"/>
            </a:pPr>
            <a:r>
              <a:rPr lang="ja-JP" altLang="en-US" sz="1200" b="1" dirty="0">
                <a:solidFill>
                  <a:srgbClr val="0000FF"/>
                </a:solidFill>
                <a:latin typeface="メイリオ" panose="020B0604030504040204" pitchFamily="50" charset="-128"/>
                <a:ea typeface="メイリオ" panose="020B0604030504040204" pitchFamily="50" charset="-128"/>
              </a:rPr>
              <a:t>エージェント化</a:t>
            </a:r>
            <a:br>
              <a:rPr lang="ja-JP" altLang="en-US" sz="1200" dirty="0">
                <a:solidFill>
                  <a:srgbClr val="0000FF"/>
                </a:solidFill>
                <a:latin typeface="メイリオ" panose="020B0604030504040204" pitchFamily="50" charset="-128"/>
                <a:ea typeface="メイリオ" panose="020B0604030504040204" pitchFamily="50" charset="-128"/>
              </a:rPr>
            </a:br>
            <a:r>
              <a:rPr lang="ja-JP" altLang="en-US" sz="1000" dirty="0">
                <a:solidFill>
                  <a:srgbClr val="0000FF"/>
                </a:solidFill>
                <a:latin typeface="メイリオ" panose="020B0604030504040204" pitchFamily="50" charset="-128"/>
                <a:ea typeface="メイリオ" panose="020B0604030504040204" pitchFamily="50" charset="-128"/>
              </a:rPr>
              <a:t>→ </a:t>
            </a:r>
            <a:r>
              <a:rPr lang="en-US" altLang="ja-JP" sz="1000" dirty="0">
                <a:solidFill>
                  <a:srgbClr val="0000FF"/>
                </a:solidFill>
                <a:latin typeface="メイリオ" panose="020B0604030504040204" pitchFamily="50" charset="-128"/>
                <a:ea typeface="メイリオ" panose="020B0604030504040204" pitchFamily="50" charset="-128"/>
              </a:rPr>
              <a:t>LLM</a:t>
            </a:r>
            <a:r>
              <a:rPr lang="ja-JP" altLang="en-US" sz="1000" dirty="0">
                <a:solidFill>
                  <a:srgbClr val="0000FF"/>
                </a:solidFill>
                <a:latin typeface="メイリオ" panose="020B0604030504040204" pitchFamily="50" charset="-128"/>
                <a:ea typeface="メイリオ" panose="020B0604030504040204" pitchFamily="50" charset="-128"/>
              </a:rPr>
              <a:t>が自律的にタスクを計画・実行する「</a:t>
            </a:r>
            <a:r>
              <a:rPr lang="en-US" altLang="ja-JP" sz="1000" dirty="0">
                <a:solidFill>
                  <a:srgbClr val="0000FF"/>
                </a:solidFill>
                <a:latin typeface="メイリオ" panose="020B0604030504040204" pitchFamily="50" charset="-128"/>
                <a:ea typeface="メイリオ" panose="020B0604030504040204" pitchFamily="50" charset="-128"/>
              </a:rPr>
              <a:t>AI</a:t>
            </a:r>
            <a:r>
              <a:rPr lang="ja-JP" altLang="en-US" sz="1000" dirty="0">
                <a:solidFill>
                  <a:srgbClr val="0000FF"/>
                </a:solidFill>
                <a:latin typeface="メイリオ" panose="020B0604030504040204" pitchFamily="50" charset="-128"/>
                <a:ea typeface="メイリオ" panose="020B0604030504040204" pitchFamily="50" charset="-128"/>
              </a:rPr>
              <a:t>エージェント」として利用が進む。</a:t>
            </a:r>
          </a:p>
          <a:p>
            <a:pPr>
              <a:buFont typeface="Arial" panose="020B0604020202020204" pitchFamily="34" charset="0"/>
              <a:buChar char="•"/>
            </a:pPr>
            <a:r>
              <a:rPr lang="ja-JP" altLang="en-US" sz="1200" b="1" dirty="0">
                <a:solidFill>
                  <a:srgbClr val="0000FF"/>
                </a:solidFill>
                <a:latin typeface="メイリオ" panose="020B0604030504040204" pitchFamily="50" charset="-128"/>
                <a:ea typeface="メイリオ" panose="020B0604030504040204" pitchFamily="50" charset="-128"/>
              </a:rPr>
              <a:t>産業適用</a:t>
            </a:r>
            <a:br>
              <a:rPr lang="ja-JP" altLang="en-US" sz="1200" dirty="0">
                <a:solidFill>
                  <a:srgbClr val="0000FF"/>
                </a:solidFill>
                <a:latin typeface="メイリオ" panose="020B0604030504040204" pitchFamily="50" charset="-128"/>
                <a:ea typeface="メイリオ" panose="020B0604030504040204" pitchFamily="50" charset="-128"/>
              </a:rPr>
            </a:br>
            <a:r>
              <a:rPr lang="ja-JP" altLang="en-US" sz="1000" dirty="0">
                <a:solidFill>
                  <a:srgbClr val="0000FF"/>
                </a:solidFill>
                <a:latin typeface="メイリオ" panose="020B0604030504040204" pitchFamily="50" charset="-128"/>
                <a:ea typeface="メイリオ" panose="020B0604030504040204" pitchFamily="50" charset="-128"/>
              </a:rPr>
              <a:t>→ 半導体製造、医薬、金融など規制産業でも「監査証跡付き</a:t>
            </a:r>
            <a:r>
              <a:rPr lang="en-US" altLang="ja-JP" sz="1000" dirty="0">
                <a:solidFill>
                  <a:srgbClr val="0000FF"/>
                </a:solidFill>
                <a:latin typeface="メイリオ" panose="020B0604030504040204" pitchFamily="50" charset="-128"/>
                <a:ea typeface="メイリオ" panose="020B0604030504040204" pitchFamily="50" charset="-128"/>
              </a:rPr>
              <a:t>LLM</a:t>
            </a:r>
            <a:r>
              <a:rPr lang="ja-JP" altLang="en-US" sz="1000" dirty="0">
                <a:solidFill>
                  <a:srgbClr val="0000FF"/>
                </a:solidFill>
                <a:latin typeface="メイリオ" panose="020B0604030504040204" pitchFamily="50" charset="-128"/>
                <a:ea typeface="メイリオ" panose="020B0604030504040204" pitchFamily="50" charset="-128"/>
              </a:rPr>
              <a:t>」が導入され始めている。</a:t>
            </a:r>
          </a:p>
        </p:txBody>
      </p:sp>
    </p:spTree>
    <p:extLst>
      <p:ext uri="{BB962C8B-B14F-4D97-AF65-F5344CB8AC3E}">
        <p14:creationId xmlns:p14="http://schemas.microsoft.com/office/powerpoint/2010/main" val="2913917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01C4-1795-FDBB-8672-374E6E19698B}"/>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8BC9061-DB2C-AE00-240C-14549D3FB06E}"/>
              </a:ext>
            </a:extLst>
          </p:cNvPr>
          <p:cNvSpPr txBox="1"/>
          <p:nvPr/>
        </p:nvSpPr>
        <p:spPr>
          <a:xfrm>
            <a:off x="215217" y="147482"/>
            <a:ext cx="2478564" cy="400110"/>
          </a:xfrm>
          <a:prstGeom prst="rect">
            <a:avLst/>
          </a:prstGeom>
          <a:noFill/>
        </p:spPr>
        <p:txBody>
          <a:bodyPr wrap="none" rtlCol="0">
            <a:spAutoFit/>
          </a:bodyPr>
          <a:lstStyle/>
          <a:p>
            <a:r>
              <a:rPr kumimoji="1" lang="en-US" altLang="ja-JP" sz="2000" u="sng" dirty="0">
                <a:latin typeface="メイリオ" panose="020B0604030504040204" pitchFamily="50" charset="-128"/>
                <a:ea typeface="メイリオ" panose="020B0604030504040204" pitchFamily="50" charset="-128"/>
              </a:rPr>
              <a:t>LLM</a:t>
            </a:r>
            <a:r>
              <a:rPr kumimoji="1" lang="ja-JP" altLang="en-US" sz="2000" u="sng" dirty="0">
                <a:latin typeface="メイリオ" panose="020B0604030504040204" pitchFamily="50" charset="-128"/>
                <a:ea typeface="メイリオ" panose="020B0604030504040204" pitchFamily="50" charset="-128"/>
              </a:rPr>
              <a:t>との付き合い方</a:t>
            </a:r>
          </a:p>
        </p:txBody>
      </p:sp>
      <p:sp>
        <p:nvSpPr>
          <p:cNvPr id="4" name="テキスト ボックス 3">
            <a:extLst>
              <a:ext uri="{FF2B5EF4-FFF2-40B4-BE49-F238E27FC236}">
                <a16:creationId xmlns:a16="http://schemas.microsoft.com/office/drawing/2014/main" id="{6755A365-1D8E-67D6-4FC9-C24C5097BE3C}"/>
              </a:ext>
            </a:extLst>
          </p:cNvPr>
          <p:cNvSpPr txBox="1"/>
          <p:nvPr/>
        </p:nvSpPr>
        <p:spPr>
          <a:xfrm>
            <a:off x="215217" y="635605"/>
            <a:ext cx="11483724" cy="369332"/>
          </a:xfrm>
          <a:prstGeom prst="rect">
            <a:avLst/>
          </a:prstGeom>
          <a:noFill/>
        </p:spPr>
        <p:txBody>
          <a:bodyPr wrap="square">
            <a:spAutoFit/>
          </a:bodyPr>
          <a:lstStyle/>
          <a:p>
            <a:r>
              <a:rPr lang="en-US" altLang="ja-JP" dirty="0">
                <a:latin typeface="メイリオ" panose="020B0604030504040204" pitchFamily="50" charset="-128"/>
                <a:ea typeface="メイリオ" panose="020B0604030504040204" pitchFamily="50" charset="-128"/>
              </a:rPr>
              <a:t>LLM</a:t>
            </a:r>
            <a:r>
              <a:rPr lang="ja-JP" altLang="en-US" dirty="0">
                <a:latin typeface="メイリオ" panose="020B0604030504040204" pitchFamily="50" charset="-128"/>
                <a:ea typeface="メイリオ" panose="020B0604030504040204" pitchFamily="50" charset="-128"/>
              </a:rPr>
              <a:t>の使い方は変化している。「解析 → 生成 → 調査 → 根拠づけ → 意思決定 → 行動」</a:t>
            </a:r>
          </a:p>
        </p:txBody>
      </p:sp>
      <p:sp>
        <p:nvSpPr>
          <p:cNvPr id="13" name="テキスト ボックス 12">
            <a:extLst>
              <a:ext uri="{FF2B5EF4-FFF2-40B4-BE49-F238E27FC236}">
                <a16:creationId xmlns:a16="http://schemas.microsoft.com/office/drawing/2014/main" id="{E4E216FF-FC82-5C40-6C20-DC1C30097710}"/>
              </a:ext>
            </a:extLst>
          </p:cNvPr>
          <p:cNvSpPr txBox="1"/>
          <p:nvPr/>
        </p:nvSpPr>
        <p:spPr>
          <a:xfrm>
            <a:off x="688119" y="1240620"/>
            <a:ext cx="4986538" cy="769441"/>
          </a:xfrm>
          <a:prstGeom prst="rect">
            <a:avLst/>
          </a:prstGeom>
          <a:noFill/>
        </p:spPr>
        <p:txBody>
          <a:bodyPr wrap="square">
            <a:spAutoFit/>
          </a:bodyPr>
          <a:lstStyle/>
          <a:p>
            <a:r>
              <a:rPr lang="en-US" altLang="ja-JP" sz="1400" b="1" dirty="0">
                <a:latin typeface="メイリオ" panose="020B0604030504040204" pitchFamily="50" charset="-128"/>
                <a:ea typeface="メイリオ" panose="020B0604030504040204" pitchFamily="50" charset="-128"/>
              </a:rPr>
              <a:t>1. </a:t>
            </a:r>
            <a:r>
              <a:rPr lang="ja-JP" altLang="en-US" sz="1400" b="1" dirty="0">
                <a:latin typeface="メイリオ" panose="020B0604030504040204" pitchFamily="50" charset="-128"/>
                <a:ea typeface="メイリオ" panose="020B0604030504040204" pitchFamily="50" charset="-128"/>
              </a:rPr>
              <a:t>テキスト解析・自動化の入り口（</a:t>
            </a:r>
            <a:r>
              <a:rPr lang="en-US" altLang="ja-JP" sz="1400" b="1" dirty="0">
                <a:latin typeface="メイリオ" panose="020B0604030504040204" pitchFamily="50" charset="-128"/>
                <a:ea typeface="メイリオ" panose="020B0604030504040204" pitchFamily="50" charset="-128"/>
              </a:rPr>
              <a:t>2017〜2020</a:t>
            </a:r>
            <a:r>
              <a:rPr lang="ja-JP" altLang="en-US" sz="1400" b="1" dirty="0">
                <a:latin typeface="メイリオ" panose="020B0604030504040204" pitchFamily="50" charset="-128"/>
                <a:ea typeface="メイリオ" panose="020B0604030504040204" pitchFamily="50" charset="-128"/>
              </a:rPr>
              <a:t>）</a:t>
            </a:r>
          </a:p>
          <a:p>
            <a:r>
              <a:rPr lang="ja-JP" altLang="en-US" sz="1000" b="1" dirty="0">
                <a:latin typeface="メイリオ" panose="020B0604030504040204" pitchFamily="50" charset="-128"/>
                <a:ea typeface="メイリオ" panose="020B0604030504040204" pitchFamily="50" charset="-128"/>
              </a:rPr>
              <a:t>主な使い方</a:t>
            </a:r>
            <a:r>
              <a:rPr lang="ja-JP" altLang="en-US" sz="1000" dirty="0">
                <a:latin typeface="メイリオ" panose="020B0604030504040204" pitchFamily="50" charset="-128"/>
                <a:ea typeface="メイリオ" panose="020B0604030504040204" pitchFamily="50" charset="-128"/>
              </a:rPr>
              <a:t>：文章要約、キーワード抽出、感情分析、分類</a:t>
            </a:r>
          </a:p>
          <a:p>
            <a:r>
              <a:rPr lang="ja-JP" altLang="en-US" sz="1000" b="1" dirty="0">
                <a:latin typeface="メイリオ" panose="020B0604030504040204" pitchFamily="50" charset="-128"/>
                <a:ea typeface="メイリオ" panose="020B0604030504040204" pitchFamily="50" charset="-128"/>
              </a:rPr>
              <a:t>背景</a:t>
            </a:r>
            <a:r>
              <a:rPr lang="ja-JP" altLang="en-US" sz="10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BERT</a:t>
            </a:r>
            <a:r>
              <a:rPr lang="ja-JP" altLang="en-US" sz="1000" dirty="0">
                <a:latin typeface="メイリオ" panose="020B0604030504040204" pitchFamily="50" charset="-128"/>
                <a:ea typeface="メイリオ" panose="020B0604030504040204" pitchFamily="50" charset="-128"/>
              </a:rPr>
              <a:t>などが登場し、「大量文書の一括処理」ができるように</a:t>
            </a:r>
          </a:p>
          <a:p>
            <a:r>
              <a:rPr lang="ja-JP" altLang="en-US" sz="1000" b="1" dirty="0">
                <a:latin typeface="メイリオ" panose="020B0604030504040204" pitchFamily="50" charset="-128"/>
                <a:ea typeface="メイリオ" panose="020B0604030504040204" pitchFamily="50" charset="-128"/>
              </a:rPr>
              <a:t>利用シーン</a:t>
            </a:r>
            <a:r>
              <a:rPr lang="ja-JP" altLang="en-US" sz="10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SNS</a:t>
            </a:r>
            <a:r>
              <a:rPr lang="ja-JP" altLang="en-US" sz="1000" dirty="0">
                <a:latin typeface="メイリオ" panose="020B0604030504040204" pitchFamily="50" charset="-128"/>
                <a:ea typeface="メイリオ" panose="020B0604030504040204" pitchFamily="50" charset="-128"/>
              </a:rPr>
              <a:t>分析、</a:t>
            </a:r>
            <a:r>
              <a:rPr lang="en-US" altLang="ja-JP" sz="1000" dirty="0">
                <a:latin typeface="メイリオ" panose="020B0604030504040204" pitchFamily="50" charset="-128"/>
                <a:ea typeface="メイリオ" panose="020B0604030504040204" pitchFamily="50" charset="-128"/>
              </a:rPr>
              <a:t>FAQ</a:t>
            </a:r>
            <a:r>
              <a:rPr lang="ja-JP" altLang="en-US" sz="1000" dirty="0">
                <a:latin typeface="メイリオ" panose="020B0604030504040204" pitchFamily="50" charset="-128"/>
                <a:ea typeface="メイリオ" panose="020B0604030504040204" pitchFamily="50" charset="-128"/>
              </a:rPr>
              <a:t>自動応答、顧客レビューの自動タグ付け</a:t>
            </a:r>
          </a:p>
        </p:txBody>
      </p:sp>
      <p:sp>
        <p:nvSpPr>
          <p:cNvPr id="15" name="テキスト ボックス 14">
            <a:extLst>
              <a:ext uri="{FF2B5EF4-FFF2-40B4-BE49-F238E27FC236}">
                <a16:creationId xmlns:a16="http://schemas.microsoft.com/office/drawing/2014/main" id="{31195B89-C768-7BAA-BE61-FDD4EE516D5D}"/>
              </a:ext>
            </a:extLst>
          </p:cNvPr>
          <p:cNvSpPr txBox="1"/>
          <p:nvPr/>
        </p:nvSpPr>
        <p:spPr>
          <a:xfrm>
            <a:off x="688119" y="2621140"/>
            <a:ext cx="4986537" cy="1323439"/>
          </a:xfrm>
          <a:prstGeom prst="rect">
            <a:avLst/>
          </a:prstGeom>
          <a:noFill/>
        </p:spPr>
        <p:txBody>
          <a:bodyPr wrap="square">
            <a:spAutoFit/>
          </a:bodyPr>
          <a:lstStyle/>
          <a:p>
            <a:pPr>
              <a:buNone/>
            </a:pPr>
            <a:r>
              <a:rPr lang="en-US" altLang="ja-JP" sz="1400" b="1" dirty="0">
                <a:latin typeface="メイリオ" panose="020B0604030504040204" pitchFamily="50" charset="-128"/>
                <a:ea typeface="メイリオ" panose="020B0604030504040204" pitchFamily="50" charset="-128"/>
              </a:rPr>
              <a:t>2. </a:t>
            </a:r>
            <a:r>
              <a:rPr lang="ja-JP" altLang="en-US" sz="1400" b="1" dirty="0">
                <a:latin typeface="メイリオ" panose="020B0604030504040204" pitchFamily="50" charset="-128"/>
                <a:ea typeface="メイリオ" panose="020B0604030504040204" pitchFamily="50" charset="-128"/>
              </a:rPr>
              <a:t>文章生成・下書き支援（</a:t>
            </a:r>
            <a:r>
              <a:rPr lang="en-US" altLang="ja-JP" sz="1400" b="1" dirty="0">
                <a:latin typeface="メイリオ" panose="020B0604030504040204" pitchFamily="50" charset="-128"/>
                <a:ea typeface="メイリオ" panose="020B0604030504040204" pitchFamily="50" charset="-128"/>
              </a:rPr>
              <a:t>2020〜2022</a:t>
            </a:r>
            <a:r>
              <a:rPr lang="ja-JP" altLang="en-US" sz="1400" b="1"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050" b="1" dirty="0">
                <a:latin typeface="メイリオ" panose="020B0604030504040204" pitchFamily="50" charset="-128"/>
                <a:ea typeface="メイリオ" panose="020B0604030504040204" pitchFamily="50" charset="-128"/>
              </a:rPr>
              <a:t>主な使い方</a:t>
            </a:r>
            <a:r>
              <a:rPr lang="ja-JP" altLang="en-US" sz="1050" dirty="0">
                <a:latin typeface="メイリオ" panose="020B0604030504040204" pitchFamily="50" charset="-128"/>
                <a:ea typeface="メイリオ" panose="020B0604030504040204" pitchFamily="50" charset="-128"/>
              </a:rPr>
              <a:t>：文章の自動生成、レポートの雛形、メール自動応答</a:t>
            </a:r>
          </a:p>
          <a:p>
            <a:pPr>
              <a:buFont typeface="Arial" panose="020B0604020202020204" pitchFamily="34" charset="0"/>
              <a:buChar char="•"/>
            </a:pPr>
            <a:r>
              <a:rPr lang="ja-JP" altLang="en-US" sz="1050" b="1" dirty="0">
                <a:latin typeface="メイリオ" panose="020B0604030504040204" pitchFamily="50" charset="-128"/>
                <a:ea typeface="メイリオ" panose="020B0604030504040204" pitchFamily="50" charset="-128"/>
              </a:rPr>
              <a:t>背景</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GPT-3</a:t>
            </a:r>
            <a:r>
              <a:rPr lang="ja-JP" altLang="en-US" sz="1050" dirty="0">
                <a:latin typeface="メイリオ" panose="020B0604030504040204" pitchFamily="50" charset="-128"/>
                <a:ea typeface="メイリオ" panose="020B0604030504040204" pitchFamily="50" charset="-128"/>
              </a:rPr>
              <a:t>登場で「自然な文章」が生成可能に</a:t>
            </a:r>
          </a:p>
          <a:p>
            <a:pPr>
              <a:buFont typeface="Arial" panose="020B0604020202020204" pitchFamily="34" charset="0"/>
              <a:buChar char="•"/>
            </a:pPr>
            <a:r>
              <a:rPr lang="ja-JP" altLang="en-US" sz="1050" b="1" dirty="0">
                <a:latin typeface="メイリオ" panose="020B0604030504040204" pitchFamily="50" charset="-128"/>
                <a:ea typeface="メイリオ" panose="020B0604030504040204" pitchFamily="50" charset="-128"/>
              </a:rPr>
              <a:t>利用シーン</a:t>
            </a:r>
            <a:r>
              <a:rPr lang="ja-JP" altLang="en-US" sz="105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050" dirty="0">
                <a:latin typeface="メイリオ" panose="020B0604030504040204" pitchFamily="50" charset="-128"/>
                <a:ea typeface="メイリオ" panose="020B0604030504040204" pitchFamily="50" charset="-128"/>
              </a:rPr>
              <a:t>広告コピー生成</a:t>
            </a:r>
          </a:p>
          <a:p>
            <a:pPr marL="742950" lvl="1" indent="-285750">
              <a:buFont typeface="Arial" panose="020B0604020202020204" pitchFamily="34" charset="0"/>
              <a:buChar char="•"/>
            </a:pPr>
            <a:r>
              <a:rPr lang="ja-JP" altLang="en-US" sz="1050" dirty="0">
                <a:latin typeface="メイリオ" panose="020B0604030504040204" pitchFamily="50" charset="-128"/>
                <a:ea typeface="メイリオ" panose="020B0604030504040204" pitchFamily="50" charset="-128"/>
              </a:rPr>
              <a:t>論文・ブログのドラフト作成</a:t>
            </a:r>
          </a:p>
          <a:p>
            <a:pPr marL="742950" lvl="1" indent="-285750">
              <a:buFont typeface="Arial" panose="020B0604020202020204" pitchFamily="34" charset="0"/>
              <a:buChar char="•"/>
            </a:pPr>
            <a:r>
              <a:rPr lang="ja-JP" altLang="en-US" sz="1050" dirty="0">
                <a:latin typeface="メイリオ" panose="020B0604030504040204" pitchFamily="50" charset="-128"/>
                <a:ea typeface="メイリオ" panose="020B0604030504040204" pitchFamily="50" charset="-128"/>
              </a:rPr>
              <a:t>プログラムのサンプルコード生成</a:t>
            </a:r>
          </a:p>
        </p:txBody>
      </p:sp>
      <p:sp>
        <p:nvSpPr>
          <p:cNvPr id="17" name="テキスト ボックス 16">
            <a:extLst>
              <a:ext uri="{FF2B5EF4-FFF2-40B4-BE49-F238E27FC236}">
                <a16:creationId xmlns:a16="http://schemas.microsoft.com/office/drawing/2014/main" id="{6EF2F8C2-4BBF-B800-02D8-2531DC7F5979}"/>
              </a:ext>
            </a:extLst>
          </p:cNvPr>
          <p:cNvSpPr txBox="1"/>
          <p:nvPr/>
        </p:nvSpPr>
        <p:spPr>
          <a:xfrm>
            <a:off x="688119" y="4555658"/>
            <a:ext cx="4986536" cy="1323439"/>
          </a:xfrm>
          <a:prstGeom prst="rect">
            <a:avLst/>
          </a:prstGeom>
          <a:noFill/>
        </p:spPr>
        <p:txBody>
          <a:bodyPr wrap="square">
            <a:spAutoFit/>
          </a:bodyPr>
          <a:lstStyle/>
          <a:p>
            <a:pPr>
              <a:buNone/>
            </a:pPr>
            <a:r>
              <a:rPr lang="en-US" altLang="ja-JP" sz="1400" b="1" dirty="0">
                <a:latin typeface="メイリオ" panose="020B0604030504040204" pitchFamily="50" charset="-128"/>
                <a:ea typeface="メイリオ" panose="020B0604030504040204" pitchFamily="50" charset="-128"/>
              </a:rPr>
              <a:t>3. </a:t>
            </a:r>
            <a:r>
              <a:rPr lang="ja-JP" altLang="en-US" sz="1400" b="1" dirty="0">
                <a:latin typeface="メイリオ" panose="020B0604030504040204" pitchFamily="50" charset="-128"/>
                <a:ea typeface="メイリオ" panose="020B0604030504040204" pitchFamily="50" charset="-128"/>
              </a:rPr>
              <a:t>調べ物・知識探索のアシスタント化（</a:t>
            </a:r>
            <a:r>
              <a:rPr lang="en-US" altLang="ja-JP" sz="1400" b="1" dirty="0">
                <a:latin typeface="メイリオ" panose="020B0604030504040204" pitchFamily="50" charset="-128"/>
                <a:ea typeface="メイリオ" panose="020B0604030504040204" pitchFamily="50" charset="-128"/>
              </a:rPr>
              <a:t>2022〜2023</a:t>
            </a:r>
            <a:r>
              <a:rPr lang="ja-JP" altLang="en-US" sz="1400" b="1"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050" b="1" dirty="0">
                <a:latin typeface="メイリオ" panose="020B0604030504040204" pitchFamily="50" charset="-128"/>
                <a:ea typeface="メイリオ" panose="020B0604030504040204" pitchFamily="50" charset="-128"/>
              </a:rPr>
              <a:t>主な使い方</a:t>
            </a:r>
            <a:r>
              <a:rPr lang="ja-JP" altLang="en-US" sz="1050" dirty="0">
                <a:latin typeface="メイリオ" panose="020B0604030504040204" pitchFamily="50" charset="-128"/>
                <a:ea typeface="メイリオ" panose="020B0604030504040204" pitchFamily="50" charset="-128"/>
              </a:rPr>
              <a:t>：調べ物、知識整理、専門用語の解説</a:t>
            </a:r>
          </a:p>
          <a:p>
            <a:pPr>
              <a:buFont typeface="Arial" panose="020B0604020202020204" pitchFamily="34" charset="0"/>
              <a:buChar char="•"/>
            </a:pPr>
            <a:r>
              <a:rPr lang="ja-JP" altLang="en-US" sz="1050" b="1" dirty="0">
                <a:latin typeface="メイリオ" panose="020B0604030504040204" pitchFamily="50" charset="-128"/>
                <a:ea typeface="メイリオ" panose="020B0604030504040204" pitchFamily="50" charset="-128"/>
              </a:rPr>
              <a:t>背景</a:t>
            </a:r>
            <a:r>
              <a:rPr lang="ja-JP" altLang="en-US" sz="1050" dirty="0">
                <a:latin typeface="メイリオ" panose="020B0604030504040204" pitchFamily="50" charset="-128"/>
                <a:ea typeface="メイリオ" panose="020B0604030504040204" pitchFamily="50" charset="-128"/>
              </a:rPr>
              <a:t>：</a:t>
            </a:r>
            <a:r>
              <a:rPr lang="en-US" altLang="ja-JP" sz="1050" dirty="0">
                <a:latin typeface="メイリオ" panose="020B0604030504040204" pitchFamily="50" charset="-128"/>
                <a:ea typeface="メイリオ" panose="020B0604030504040204" pitchFamily="50" charset="-128"/>
              </a:rPr>
              <a:t>ChatGPT</a:t>
            </a:r>
            <a:r>
              <a:rPr lang="ja-JP" altLang="en-US" sz="1050" dirty="0">
                <a:latin typeface="メイリオ" panose="020B0604030504040204" pitchFamily="50" charset="-128"/>
                <a:ea typeface="メイリオ" panose="020B0604030504040204" pitchFamily="50" charset="-128"/>
              </a:rPr>
              <a:t>公開（</a:t>
            </a:r>
            <a:r>
              <a:rPr lang="en-US" altLang="ja-JP" sz="1050" dirty="0">
                <a:latin typeface="メイリオ" panose="020B0604030504040204" pitchFamily="50" charset="-128"/>
                <a:ea typeface="メイリオ" panose="020B0604030504040204" pitchFamily="50" charset="-128"/>
              </a:rPr>
              <a:t>2022</a:t>
            </a:r>
            <a:r>
              <a:rPr lang="ja-JP" altLang="en-US" sz="1050" dirty="0">
                <a:latin typeface="メイリオ" panose="020B0604030504040204" pitchFamily="50" charset="-128"/>
                <a:ea typeface="メイリオ" panose="020B0604030504040204" pitchFamily="50" charset="-128"/>
              </a:rPr>
              <a:t>年）で、会話形式で知識を聞けるように</a:t>
            </a:r>
          </a:p>
          <a:p>
            <a:pPr>
              <a:buFont typeface="Arial" panose="020B0604020202020204" pitchFamily="34" charset="0"/>
              <a:buChar char="•"/>
            </a:pPr>
            <a:r>
              <a:rPr lang="ja-JP" altLang="en-US" sz="1050" b="1" dirty="0">
                <a:latin typeface="メイリオ" panose="020B0604030504040204" pitchFamily="50" charset="-128"/>
                <a:ea typeface="メイリオ" panose="020B0604030504040204" pitchFamily="50" charset="-128"/>
              </a:rPr>
              <a:t>利用シーン</a:t>
            </a:r>
            <a:r>
              <a:rPr lang="ja-JP" altLang="en-US" sz="105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050" dirty="0">
                <a:latin typeface="メイリオ" panose="020B0604030504040204" pitchFamily="50" charset="-128"/>
                <a:ea typeface="メイリオ" panose="020B0604030504040204" pitchFamily="50" charset="-128"/>
              </a:rPr>
              <a:t>新しい分野の学習（「○○を初心者に説明して」）</a:t>
            </a:r>
          </a:p>
          <a:p>
            <a:pPr marL="742950" lvl="1" indent="-285750">
              <a:buFont typeface="Arial" panose="020B0604020202020204" pitchFamily="34" charset="0"/>
              <a:buChar char="•"/>
            </a:pPr>
            <a:r>
              <a:rPr lang="ja-JP" altLang="en-US" sz="1050" dirty="0">
                <a:latin typeface="メイリオ" panose="020B0604030504040204" pitchFamily="50" charset="-128"/>
                <a:ea typeface="メイリオ" panose="020B0604030504040204" pitchFamily="50" charset="-128"/>
              </a:rPr>
              <a:t>法律・医療・製造など、専門情報の概要把握</a:t>
            </a:r>
          </a:p>
          <a:p>
            <a:pPr marL="742950" lvl="1" indent="-285750">
              <a:buFont typeface="Arial" panose="020B0604020202020204" pitchFamily="34" charset="0"/>
              <a:buChar char="•"/>
            </a:pPr>
            <a:r>
              <a:rPr lang="ja-JP" altLang="en-US" sz="1050" dirty="0">
                <a:latin typeface="メイリオ" panose="020B0604030504040204" pitchFamily="50" charset="-128"/>
                <a:ea typeface="メイリオ" panose="020B0604030504040204" pitchFamily="50" charset="-128"/>
              </a:rPr>
              <a:t>コードの修正ポイントを会話で確認</a:t>
            </a:r>
          </a:p>
        </p:txBody>
      </p:sp>
      <p:sp>
        <p:nvSpPr>
          <p:cNvPr id="19" name="テキスト ボックス 18">
            <a:extLst>
              <a:ext uri="{FF2B5EF4-FFF2-40B4-BE49-F238E27FC236}">
                <a16:creationId xmlns:a16="http://schemas.microsoft.com/office/drawing/2014/main" id="{16161A05-ABC1-24E2-D2E0-DB7EAC743CD7}"/>
              </a:ext>
            </a:extLst>
          </p:cNvPr>
          <p:cNvSpPr txBox="1"/>
          <p:nvPr/>
        </p:nvSpPr>
        <p:spPr>
          <a:xfrm>
            <a:off x="6481482" y="1240620"/>
            <a:ext cx="4986536" cy="1538883"/>
          </a:xfrm>
          <a:prstGeom prst="rect">
            <a:avLst/>
          </a:prstGeom>
          <a:noFill/>
        </p:spPr>
        <p:txBody>
          <a:bodyPr wrap="square">
            <a:spAutoFit/>
          </a:bodyPr>
          <a:lstStyle/>
          <a:p>
            <a:pPr>
              <a:buNone/>
            </a:pPr>
            <a:r>
              <a:rPr lang="en-US" altLang="ja-JP" sz="1400" b="1" dirty="0">
                <a:latin typeface="メイリオ" panose="020B0604030504040204" pitchFamily="50" charset="-128"/>
                <a:ea typeface="メイリオ" panose="020B0604030504040204" pitchFamily="50" charset="-128"/>
              </a:rPr>
              <a:t>4. </a:t>
            </a:r>
            <a:r>
              <a:rPr lang="ja-JP" altLang="en-US" sz="1400" b="1" dirty="0">
                <a:latin typeface="メイリオ" panose="020B0604030504040204" pitchFamily="50" charset="-128"/>
                <a:ea typeface="メイリオ" panose="020B0604030504040204" pitchFamily="50" charset="-128"/>
              </a:rPr>
              <a:t>根拠づけ・情報検索との融合（</a:t>
            </a:r>
            <a:r>
              <a:rPr lang="en-US" altLang="ja-JP" sz="1400" b="1" dirty="0">
                <a:latin typeface="メイリオ" panose="020B0604030504040204" pitchFamily="50" charset="-128"/>
                <a:ea typeface="メイリオ" panose="020B0604030504040204" pitchFamily="50" charset="-128"/>
              </a:rPr>
              <a:t>2023〜2024</a:t>
            </a:r>
            <a:r>
              <a:rPr lang="ja-JP" altLang="en-US" sz="1400" b="1"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主な使い方</a:t>
            </a:r>
            <a:r>
              <a:rPr lang="ja-JP" altLang="en-US" sz="10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「答え」だけでなく </a:t>
            </a:r>
            <a:r>
              <a:rPr lang="ja-JP" altLang="en-US" sz="1000" b="1" dirty="0">
                <a:latin typeface="メイリオ" panose="020B0604030504040204" pitchFamily="50" charset="-128"/>
                <a:ea typeface="メイリオ" panose="020B0604030504040204" pitchFamily="50" charset="-128"/>
              </a:rPr>
              <a:t>根拠や出典つきの回答</a:t>
            </a:r>
            <a:r>
              <a:rPr lang="ja-JP" altLang="en-US" sz="1000" dirty="0">
                <a:latin typeface="メイリオ" panose="020B0604030504040204" pitchFamily="50" charset="-128"/>
                <a:ea typeface="メイリオ" panose="020B0604030504040204" pitchFamily="50" charset="-128"/>
              </a:rPr>
              <a:t> を得る</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リサーチのスピードを加速</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背景</a:t>
            </a:r>
            <a:r>
              <a:rPr lang="ja-JP" altLang="en-US" sz="1000" dirty="0">
                <a:latin typeface="メイリオ" panose="020B0604030504040204" pitchFamily="50" charset="-128"/>
                <a:ea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接続、</a:t>
            </a:r>
            <a:r>
              <a:rPr lang="en-US" altLang="ja-JP" sz="1000" dirty="0">
                <a:latin typeface="メイリオ" panose="020B0604030504040204" pitchFamily="50" charset="-128"/>
                <a:ea typeface="メイリオ" panose="020B0604030504040204" pitchFamily="50" charset="-128"/>
              </a:rPr>
              <a:t>RAG</a:t>
            </a:r>
            <a:r>
              <a:rPr lang="ja-JP" altLang="en-US" sz="1000" dirty="0">
                <a:latin typeface="メイリオ" panose="020B0604030504040204" pitchFamily="50" charset="-128"/>
                <a:ea typeface="メイリオ" panose="020B0604030504040204" pitchFamily="50" charset="-128"/>
              </a:rPr>
              <a:t>（検索＋生成）の普及</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利用シーン</a:t>
            </a:r>
            <a:r>
              <a:rPr lang="ja-JP" altLang="en-US" sz="10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報告書作成時に「一次情報のリンク」を併記</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学術論文・技術文書の引用探索</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社内文書の横断検索</a:t>
            </a:r>
          </a:p>
        </p:txBody>
      </p:sp>
      <p:sp>
        <p:nvSpPr>
          <p:cNvPr id="21" name="テキスト ボックス 20">
            <a:extLst>
              <a:ext uri="{FF2B5EF4-FFF2-40B4-BE49-F238E27FC236}">
                <a16:creationId xmlns:a16="http://schemas.microsoft.com/office/drawing/2014/main" id="{892D7A3E-3A49-3561-5E3A-9C4574627D93}"/>
              </a:ext>
            </a:extLst>
          </p:cNvPr>
          <p:cNvSpPr txBox="1"/>
          <p:nvPr/>
        </p:nvSpPr>
        <p:spPr>
          <a:xfrm>
            <a:off x="6481482" y="3329027"/>
            <a:ext cx="4986536" cy="1231106"/>
          </a:xfrm>
          <a:prstGeom prst="rect">
            <a:avLst/>
          </a:prstGeom>
          <a:noFill/>
        </p:spPr>
        <p:txBody>
          <a:bodyPr wrap="square">
            <a:spAutoFit/>
          </a:bodyPr>
          <a:lstStyle/>
          <a:p>
            <a:pPr>
              <a:buNone/>
            </a:pPr>
            <a:r>
              <a:rPr lang="en-US" altLang="ja-JP" sz="1400" b="1" dirty="0">
                <a:latin typeface="メイリオ" panose="020B0604030504040204" pitchFamily="50" charset="-128"/>
                <a:ea typeface="メイリオ" panose="020B0604030504040204" pitchFamily="50" charset="-128"/>
              </a:rPr>
              <a:t>5. </a:t>
            </a:r>
            <a:r>
              <a:rPr lang="ja-JP" altLang="en-US" sz="1400" b="1" dirty="0">
                <a:latin typeface="メイリオ" panose="020B0604030504040204" pitchFamily="50" charset="-128"/>
                <a:ea typeface="メイリオ" panose="020B0604030504040204" pitchFamily="50" charset="-128"/>
              </a:rPr>
              <a:t>意思決定の補助（</a:t>
            </a:r>
            <a:r>
              <a:rPr lang="en-US" altLang="ja-JP" sz="1400" b="1" dirty="0">
                <a:latin typeface="メイリオ" panose="020B0604030504040204" pitchFamily="50" charset="-128"/>
                <a:ea typeface="メイリオ" panose="020B0604030504040204" pitchFamily="50" charset="-128"/>
              </a:rPr>
              <a:t>2024〜</a:t>
            </a:r>
            <a:r>
              <a:rPr lang="ja-JP" altLang="en-US" sz="1400" b="1" dirty="0">
                <a:latin typeface="メイリオ" panose="020B0604030504040204" pitchFamily="50" charset="-128"/>
                <a:ea typeface="メイリオ" panose="020B0604030504040204" pitchFamily="50" charset="-128"/>
              </a:rPr>
              <a:t>現在）</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主な使い方</a:t>
            </a:r>
            <a:r>
              <a:rPr lang="ja-JP" altLang="en-US" sz="1000" dirty="0">
                <a:latin typeface="メイリオ" panose="020B0604030504040204" pitchFamily="50" charset="-128"/>
                <a:ea typeface="メイリオ" panose="020B0604030504040204" pitchFamily="50" charset="-128"/>
              </a:rPr>
              <a:t>：選択肢の比較、利害の整理、意思決定の支援</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背景</a:t>
            </a:r>
            <a:r>
              <a:rPr lang="ja-JP" altLang="en-US" sz="1000" dirty="0">
                <a:latin typeface="メイリオ" panose="020B0604030504040204" pitchFamily="50" charset="-128"/>
                <a:ea typeface="メイリオ" panose="020B0604030504040204" pitchFamily="50" charset="-128"/>
              </a:rPr>
              <a:t>：対話の精度向上、長文コンテキスト対応（数万</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数十万トークン）</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利用シーン</a:t>
            </a:r>
            <a:r>
              <a:rPr lang="ja-JP" altLang="en-US" sz="10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投資・キャリア・プロジェクト選択の相談</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企業の新規事業検討（市場調査＋リスク整理）</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製造現場での異常対応の優先度づけ</a:t>
            </a:r>
          </a:p>
        </p:txBody>
      </p:sp>
      <p:sp>
        <p:nvSpPr>
          <p:cNvPr id="23" name="テキスト ボックス 22">
            <a:extLst>
              <a:ext uri="{FF2B5EF4-FFF2-40B4-BE49-F238E27FC236}">
                <a16:creationId xmlns:a16="http://schemas.microsoft.com/office/drawing/2014/main" id="{947C2BB7-1EB1-391F-CE6C-752AAD77F563}"/>
              </a:ext>
            </a:extLst>
          </p:cNvPr>
          <p:cNvSpPr txBox="1"/>
          <p:nvPr/>
        </p:nvSpPr>
        <p:spPr>
          <a:xfrm>
            <a:off x="6481482" y="4955768"/>
            <a:ext cx="5217459" cy="923330"/>
          </a:xfrm>
          <a:prstGeom prst="rect">
            <a:avLst/>
          </a:prstGeom>
          <a:noFill/>
        </p:spPr>
        <p:txBody>
          <a:bodyPr wrap="square">
            <a:spAutoFit/>
          </a:bodyPr>
          <a:lstStyle/>
          <a:p>
            <a:pPr>
              <a:buNone/>
            </a:pPr>
            <a:r>
              <a:rPr lang="en-US" altLang="ja-JP" sz="1400" b="1" dirty="0">
                <a:latin typeface="メイリオ" panose="020B0604030504040204" pitchFamily="50" charset="-128"/>
                <a:ea typeface="メイリオ" panose="020B0604030504040204" pitchFamily="50" charset="-128"/>
              </a:rPr>
              <a:t>6. </a:t>
            </a:r>
            <a:r>
              <a:rPr lang="ja-JP" altLang="en-US" sz="1400" b="1" dirty="0">
                <a:latin typeface="メイリオ" panose="020B0604030504040204" pitchFamily="50" charset="-128"/>
                <a:ea typeface="メイリオ" panose="020B0604030504040204" pitchFamily="50" charset="-128"/>
              </a:rPr>
              <a:t>これから（</a:t>
            </a:r>
            <a:r>
              <a:rPr lang="en-US" altLang="ja-JP" sz="1400" b="1" dirty="0">
                <a:latin typeface="メイリオ" panose="020B0604030504040204" pitchFamily="50" charset="-128"/>
                <a:ea typeface="メイリオ" panose="020B0604030504040204" pitchFamily="50" charset="-128"/>
              </a:rPr>
              <a:t>2030</a:t>
            </a:r>
            <a:r>
              <a:rPr lang="ja-JP" altLang="en-US" sz="1400" b="1" dirty="0">
                <a:latin typeface="メイリオ" panose="020B0604030504040204" pitchFamily="50" charset="-128"/>
                <a:ea typeface="メイリオ" panose="020B0604030504040204" pitchFamily="50" charset="-128"/>
              </a:rPr>
              <a:t>に向けて）</a:t>
            </a:r>
          </a:p>
          <a:p>
            <a:pPr>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予想される使い方</a:t>
            </a:r>
            <a:r>
              <a:rPr lang="ja-JP" altLang="en-US" sz="10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000" b="1" dirty="0">
                <a:latin typeface="メイリオ" panose="020B0604030504040204" pitchFamily="50" charset="-128"/>
                <a:ea typeface="メイリオ" panose="020B0604030504040204" pitchFamily="50" charset="-128"/>
              </a:rPr>
              <a:t>自律エージェント</a:t>
            </a:r>
            <a:r>
              <a:rPr lang="ja-JP" altLang="en-US" sz="1000" dirty="0">
                <a:latin typeface="メイリオ" panose="020B0604030504040204" pitchFamily="50" charset="-128"/>
                <a:ea typeface="メイリオ" panose="020B0604030504040204" pitchFamily="50" charset="-128"/>
              </a:rPr>
              <a:t>として、情報収集</a:t>
            </a:r>
            <a:r>
              <a:rPr lang="en-US" altLang="ja-JP" sz="1000" dirty="0">
                <a:latin typeface="メイリオ" panose="020B0604030504040204" pitchFamily="50" charset="-128"/>
                <a:ea typeface="メイリオ" panose="020B0604030504040204" pitchFamily="50" charset="-128"/>
              </a:rPr>
              <a:t>〜</a:t>
            </a:r>
            <a:r>
              <a:rPr lang="ja-JP" altLang="en-US" sz="1000" dirty="0">
                <a:latin typeface="メイリオ" panose="020B0604030504040204" pitchFamily="50" charset="-128"/>
                <a:ea typeface="メイリオ" panose="020B0604030504040204" pitchFamily="50" charset="-128"/>
              </a:rPr>
              <a:t>タスク実行まで半自動で行う</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「相談相手」から「共同実行者」へ進化</a:t>
            </a:r>
          </a:p>
          <a:p>
            <a:pPr marL="742950" lvl="1" indent="-285750">
              <a:buFont typeface="Arial" panose="020B0604020202020204" pitchFamily="34" charset="0"/>
              <a:buChar char="•"/>
            </a:pPr>
            <a:r>
              <a:rPr lang="ja-JP" altLang="en-US" sz="1000" dirty="0">
                <a:latin typeface="メイリオ" panose="020B0604030504040204" pitchFamily="50" charset="-128"/>
                <a:ea typeface="メイリオ" panose="020B0604030504040204" pitchFamily="50" charset="-128"/>
              </a:rPr>
              <a:t>意思決定だけでなく、</a:t>
            </a:r>
            <a:r>
              <a:rPr lang="ja-JP" altLang="en-US" sz="1000" b="1" dirty="0">
                <a:latin typeface="メイリオ" panose="020B0604030504040204" pitchFamily="50" charset="-128"/>
                <a:ea typeface="メイリオ" panose="020B0604030504040204" pitchFamily="50" charset="-128"/>
              </a:rPr>
              <a:t>実際の行動（実験計画、工程最適化）まで担う</a:t>
            </a:r>
            <a:endParaRPr lang="ja-JP" altLang="en-US" sz="1000"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ED9A9427-F01C-82C1-DCA6-EA9CCDF8ADC6}"/>
              </a:ext>
            </a:extLst>
          </p:cNvPr>
          <p:cNvSpPr txBox="1"/>
          <p:nvPr/>
        </p:nvSpPr>
        <p:spPr>
          <a:xfrm>
            <a:off x="354138" y="6090066"/>
            <a:ext cx="11483724" cy="646331"/>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仕事は楽になりましたか？　個人的にはより求められるレベルが上がり、独占的なものが効かなくなって</a:t>
            </a:r>
            <a:endParaRPr lang="en-US" altLang="ja-JP" dirty="0">
              <a:latin typeface="メイリオ" panose="020B0604030504040204" pitchFamily="50" charset="-128"/>
              <a:ea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rPr>
              <a:t>強く競争にさらされるようになって厳しくなってきていると感じてます。</a:t>
            </a:r>
          </a:p>
        </p:txBody>
      </p:sp>
    </p:spTree>
    <p:extLst>
      <p:ext uri="{BB962C8B-B14F-4D97-AF65-F5344CB8AC3E}">
        <p14:creationId xmlns:p14="http://schemas.microsoft.com/office/powerpoint/2010/main" val="2093951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E6AC4-C5B9-3F7B-05FC-F633D308F7A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E34F7649-16B8-48A1-C6AB-B20D3E5F7265}"/>
              </a:ext>
            </a:extLst>
          </p:cNvPr>
          <p:cNvSpPr txBox="1"/>
          <p:nvPr/>
        </p:nvSpPr>
        <p:spPr>
          <a:xfrm>
            <a:off x="1848683" y="2828835"/>
            <a:ext cx="8494633" cy="1200329"/>
          </a:xfrm>
          <a:prstGeom prst="rect">
            <a:avLst/>
          </a:prstGeom>
          <a:noFill/>
        </p:spPr>
        <p:txBody>
          <a:bodyPr wrap="none" rtlCol="0">
            <a:spAutoFit/>
          </a:bodyPr>
          <a:lstStyle/>
          <a:p>
            <a:pPr algn="ctr"/>
            <a:r>
              <a:rPr kumimoji="1" lang="ja-JP" altLang="en-US" sz="3600" dirty="0">
                <a:latin typeface="メイリオ" panose="020B0604030504040204" pitchFamily="50" charset="-128"/>
                <a:ea typeface="メイリオ" panose="020B0604030504040204" pitchFamily="50" charset="-128"/>
              </a:rPr>
              <a:t>データサイエンスの仕事の将来について</a:t>
            </a:r>
            <a:endParaRPr kumimoji="1" lang="en-US" altLang="ja-JP" sz="3600" dirty="0">
              <a:latin typeface="メイリオ" panose="020B0604030504040204" pitchFamily="50" charset="-128"/>
              <a:ea typeface="メイリオ" panose="020B0604030504040204" pitchFamily="50" charset="-128"/>
            </a:endParaRPr>
          </a:p>
          <a:p>
            <a:pPr algn="ctr"/>
            <a:r>
              <a:rPr lang="en-US" altLang="ja-JP" sz="3600" dirty="0">
                <a:latin typeface="メイリオ" panose="020B0604030504040204" pitchFamily="50" charset="-128"/>
                <a:ea typeface="メイリオ" panose="020B0604030504040204" pitchFamily="50" charset="-128"/>
              </a:rPr>
              <a:t>GPT-5</a:t>
            </a:r>
            <a:r>
              <a:rPr lang="ja-JP" altLang="en-US" sz="3600" dirty="0">
                <a:latin typeface="メイリオ" panose="020B0604030504040204" pitchFamily="50" charset="-128"/>
                <a:ea typeface="メイリオ" panose="020B0604030504040204" pitchFamily="50" charset="-128"/>
              </a:rPr>
              <a:t>に</a:t>
            </a:r>
            <a:r>
              <a:rPr kumimoji="1" lang="ja-JP" altLang="en-US" sz="3600" dirty="0">
                <a:latin typeface="メイリオ" panose="020B0604030504040204" pitchFamily="50" charset="-128"/>
                <a:ea typeface="メイリオ" panose="020B0604030504040204" pitchFamily="50" charset="-128"/>
              </a:rPr>
              <a:t>聞いてみた</a:t>
            </a:r>
          </a:p>
        </p:txBody>
      </p:sp>
    </p:spTree>
    <p:extLst>
      <p:ext uri="{BB962C8B-B14F-4D97-AF65-F5344CB8AC3E}">
        <p14:creationId xmlns:p14="http://schemas.microsoft.com/office/powerpoint/2010/main" val="54752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FD7B-4E7E-0305-621D-48A1098E02E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5236DE1-FFEB-AB7C-F1D4-C7C0FA92A724}"/>
              </a:ext>
            </a:extLst>
          </p:cNvPr>
          <p:cNvSpPr txBox="1"/>
          <p:nvPr/>
        </p:nvSpPr>
        <p:spPr>
          <a:xfrm>
            <a:off x="215217" y="147482"/>
            <a:ext cx="3775393" cy="400110"/>
          </a:xfrm>
          <a:prstGeom prst="rect">
            <a:avLst/>
          </a:prstGeom>
          <a:noFill/>
        </p:spPr>
        <p:txBody>
          <a:bodyPr wrap="none" rtlCol="0">
            <a:spAutoFit/>
          </a:bodyPr>
          <a:lstStyle/>
          <a:p>
            <a:r>
              <a:rPr lang="ja-JP" altLang="en-US" sz="2000" u="sng" dirty="0">
                <a:latin typeface="メイリオ" panose="020B0604030504040204" pitchFamily="50" charset="-128"/>
                <a:ea typeface="メイリオ" panose="020B0604030504040204" pitchFamily="50" charset="-128"/>
              </a:rPr>
              <a:t>現状</a:t>
            </a:r>
            <a:r>
              <a:rPr kumimoji="1" lang="ja-JP" altLang="en-US" sz="2000" u="sng" dirty="0">
                <a:latin typeface="メイリオ" panose="020B0604030504040204" pitchFamily="50" charset="-128"/>
                <a:ea typeface="メイリオ" panose="020B0604030504040204" pitchFamily="50" charset="-128"/>
              </a:rPr>
              <a:t>のデータサイエンスの動向</a:t>
            </a:r>
          </a:p>
        </p:txBody>
      </p:sp>
      <p:graphicFrame>
        <p:nvGraphicFramePr>
          <p:cNvPr id="5" name="表 4">
            <a:extLst>
              <a:ext uri="{FF2B5EF4-FFF2-40B4-BE49-F238E27FC236}">
                <a16:creationId xmlns:a16="http://schemas.microsoft.com/office/drawing/2014/main" id="{66FB35B2-26A1-9BE0-F2AF-4851936BFAC9}"/>
              </a:ext>
            </a:extLst>
          </p:cNvPr>
          <p:cNvGraphicFramePr>
            <a:graphicFrameLocks noGrp="1"/>
          </p:cNvGraphicFramePr>
          <p:nvPr>
            <p:extLst>
              <p:ext uri="{D42A27DB-BD31-4B8C-83A1-F6EECF244321}">
                <p14:modId xmlns:p14="http://schemas.microsoft.com/office/powerpoint/2010/main" val="1148222773"/>
              </p:ext>
            </p:extLst>
          </p:nvPr>
        </p:nvGraphicFramePr>
        <p:xfrm>
          <a:off x="304831" y="1092949"/>
          <a:ext cx="11618228" cy="5129447"/>
        </p:xfrm>
        <a:graphic>
          <a:graphicData uri="http://schemas.openxmlformats.org/drawingml/2006/table">
            <a:tbl>
              <a:tblPr>
                <a:tableStyleId>{2D5ABB26-0587-4C30-8999-92F81FD0307C}</a:tableStyleId>
              </a:tblPr>
              <a:tblGrid>
                <a:gridCol w="2904557">
                  <a:extLst>
                    <a:ext uri="{9D8B030D-6E8A-4147-A177-3AD203B41FA5}">
                      <a16:colId xmlns:a16="http://schemas.microsoft.com/office/drawing/2014/main" val="1125702862"/>
                    </a:ext>
                  </a:extLst>
                </a:gridCol>
                <a:gridCol w="2904557">
                  <a:extLst>
                    <a:ext uri="{9D8B030D-6E8A-4147-A177-3AD203B41FA5}">
                      <a16:colId xmlns:a16="http://schemas.microsoft.com/office/drawing/2014/main" val="2770956163"/>
                    </a:ext>
                  </a:extLst>
                </a:gridCol>
                <a:gridCol w="2904557">
                  <a:extLst>
                    <a:ext uri="{9D8B030D-6E8A-4147-A177-3AD203B41FA5}">
                      <a16:colId xmlns:a16="http://schemas.microsoft.com/office/drawing/2014/main" val="2779277147"/>
                    </a:ext>
                  </a:extLst>
                </a:gridCol>
                <a:gridCol w="2904557">
                  <a:extLst>
                    <a:ext uri="{9D8B030D-6E8A-4147-A177-3AD203B41FA5}">
                      <a16:colId xmlns:a16="http://schemas.microsoft.com/office/drawing/2014/main" val="3407369177"/>
                    </a:ext>
                  </a:extLst>
                </a:gridCol>
              </a:tblGrid>
              <a:tr h="265047">
                <a:tc>
                  <a:txBody>
                    <a:bodyPr/>
                    <a:lstStyle/>
                    <a:p>
                      <a:pPr>
                        <a:buNone/>
                      </a:pPr>
                      <a:r>
                        <a:rPr lang="ja-JP" altLang="en-US" sz="1100" dirty="0">
                          <a:solidFill>
                            <a:srgbClr val="FFFFFF"/>
                          </a:solidFill>
                          <a:latin typeface="メイリオ" panose="020B0604030504040204" pitchFamily="50" charset="-128"/>
                          <a:ea typeface="メイリオ" panose="020B0604030504040204" pitchFamily="50" charset="-128"/>
                        </a:rPr>
                        <a:t>技術／手法</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a:buNone/>
                      </a:pPr>
                      <a:r>
                        <a:rPr lang="ja-JP" altLang="en-US" sz="1100" dirty="0">
                          <a:solidFill>
                            <a:srgbClr val="FFFFFF"/>
                          </a:solidFill>
                          <a:latin typeface="メイリオ" panose="020B0604030504040204" pitchFamily="50" charset="-128"/>
                          <a:ea typeface="メイリオ" panose="020B0604030504040204" pitchFamily="50" charset="-128"/>
                        </a:rPr>
                        <a:t>用途・役割</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a:buNone/>
                      </a:pPr>
                      <a:r>
                        <a:rPr lang="ja-JP" altLang="en-US" sz="1100" dirty="0">
                          <a:solidFill>
                            <a:srgbClr val="FFFFFF"/>
                          </a:solidFill>
                          <a:latin typeface="メイリオ" panose="020B0604030504040204" pitchFamily="50" charset="-128"/>
                          <a:ea typeface="メイリオ" panose="020B0604030504040204" pitchFamily="50" charset="-128"/>
                        </a:rPr>
                        <a:t>メリット・強み</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pPr>
                        <a:buNone/>
                      </a:pPr>
                      <a:r>
                        <a:rPr lang="ja-JP" altLang="en-US" sz="1100" dirty="0">
                          <a:solidFill>
                            <a:srgbClr val="FFFFFF"/>
                          </a:solidFill>
                          <a:latin typeface="メイリオ" panose="020B0604030504040204" pitchFamily="50" charset="-128"/>
                          <a:ea typeface="メイリオ" panose="020B0604030504040204" pitchFamily="50" charset="-128"/>
                        </a:rPr>
                        <a:t>注意点・導入時の課題</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865054109"/>
                  </a:ext>
                </a:extLst>
              </a:tr>
              <a:tr h="608050">
                <a:tc>
                  <a:txBody>
                    <a:bodyPr/>
                    <a:lstStyle/>
                    <a:p>
                      <a:pPr>
                        <a:buNone/>
                      </a:pPr>
                      <a:r>
                        <a:rPr lang="en-US" sz="1100" b="1" dirty="0">
                          <a:latin typeface="メイリオ" panose="020B0604030504040204" pitchFamily="50" charset="-128"/>
                          <a:ea typeface="メイリオ" panose="020B0604030504040204" pitchFamily="50" charset="-128"/>
                        </a:rPr>
                        <a:t>Explainable </a:t>
                      </a:r>
                      <a:r>
                        <a:rPr lang="en-US" sz="1100" b="1" dirty="0" err="1">
                          <a:latin typeface="メイリオ" panose="020B0604030504040204" pitchFamily="50" charset="-128"/>
                          <a:ea typeface="メイリオ" panose="020B0604030504040204" pitchFamily="50" charset="-128"/>
                        </a:rPr>
                        <a:t>AutoML（xAutoML</a:t>
                      </a:r>
                      <a:r>
                        <a:rPr lang="en-US" sz="1100" b="1" dirty="0">
                          <a:latin typeface="メイリオ" panose="020B0604030504040204" pitchFamily="50" charset="-128"/>
                          <a:ea typeface="メイリオ" panose="020B0604030504040204" pitchFamily="50" charset="-128"/>
                        </a:rPr>
                        <a:t>）</a:t>
                      </a:r>
                      <a:endParaRPr lang="en-US" sz="1100" dirty="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半導体スマート製造で、歩留まり予測モデルの自動構築＋可説明性を付与</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モデル構築を半自動化でき、さらに特徴量の重要性や因果推論的な説明を出せる</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学習データや前処理のドメイン知見がないと過剰な特徴選択やバイアスの発生リスクあり </a:t>
                      </a:r>
                      <a:r>
                        <a:rPr lang="en-US" altLang="ja-JP" sz="1100" dirty="0" err="1">
                          <a:latin typeface="メイリオ" panose="020B0604030504040204" pitchFamily="50" charset="-128"/>
                          <a:ea typeface="メイリオ" panose="020B0604030504040204" pitchFamily="50" charset="-128"/>
                          <a:hlinkClick r:id="rId2"/>
                        </a:rPr>
                        <a:t>arXiv</a:t>
                      </a:r>
                      <a:endParaRPr lang="ja-JP" altLang="en-US" sz="1100" dirty="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5740978"/>
                  </a:ext>
                </a:extLst>
              </a:tr>
              <a:tr h="436549">
                <a:tc>
                  <a:txBody>
                    <a:bodyPr/>
                    <a:lstStyle/>
                    <a:p>
                      <a:pPr>
                        <a:buNone/>
                      </a:pPr>
                      <a:r>
                        <a:rPr lang="ja-JP" altLang="en-US" sz="1100" b="1">
                          <a:latin typeface="メイリオ" panose="020B0604030504040204" pitchFamily="50" charset="-128"/>
                          <a:ea typeface="メイリオ" panose="020B0604030504040204" pitchFamily="50" charset="-128"/>
                        </a:rPr>
                        <a:t>リアルタイムデータ解析（</a:t>
                      </a:r>
                      <a:r>
                        <a:rPr lang="en-US" altLang="ja-JP" sz="1100" b="1">
                          <a:latin typeface="メイリオ" panose="020B0604030504040204" pitchFamily="50" charset="-128"/>
                          <a:ea typeface="メイリオ" panose="020B0604030504040204" pitchFamily="50" charset="-128"/>
                        </a:rPr>
                        <a:t>RTDI</a:t>
                      </a:r>
                      <a:r>
                        <a:rPr lang="ja-JP" altLang="en-US" sz="1100" b="1">
                          <a:latin typeface="メイリオ" panose="020B0604030504040204" pitchFamily="50" charset="-128"/>
                          <a:ea typeface="メイリオ" panose="020B0604030504040204" pitchFamily="50" charset="-128"/>
                        </a:rPr>
                        <a:t>）＋アダプティブテスト</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テストデータをリアルタイムで使い、欠陥品・境界品を即時識別・分離</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テスト後工程に進む前に不良を除去でき、歩留まり悪化を抑制可能 </a:t>
                      </a:r>
                      <a:r>
                        <a:rPr lang="en-US" altLang="ja-JP" sz="1100">
                          <a:latin typeface="メイリオ" panose="020B0604030504040204" pitchFamily="50" charset="-128"/>
                          <a:ea typeface="メイリオ" panose="020B0604030504040204" pitchFamily="50" charset="-128"/>
                          <a:hlinkClick r:id="rId3"/>
                        </a:rPr>
                        <a:t>Synopsys</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高速処理インフラが必要。遅延やネットワーク帯域など実装面の制約あり</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279695"/>
                  </a:ext>
                </a:extLst>
              </a:tr>
              <a:tr h="608050">
                <a:tc>
                  <a:txBody>
                    <a:bodyPr/>
                    <a:lstStyle/>
                    <a:p>
                      <a:pPr>
                        <a:buNone/>
                      </a:pPr>
                      <a:r>
                        <a:rPr lang="ja-JP" altLang="en-US" sz="1100" b="1" dirty="0">
                          <a:latin typeface="メイリオ" panose="020B0604030504040204" pitchFamily="50" charset="-128"/>
                          <a:ea typeface="メイリオ" panose="020B0604030504040204" pitchFamily="50" charset="-128"/>
                        </a:rPr>
                        <a:t>仮想計測（</a:t>
                      </a:r>
                      <a:r>
                        <a:rPr lang="en-US" sz="1100" b="1" dirty="0">
                          <a:latin typeface="メイリオ" panose="020B0604030504040204" pitchFamily="50" charset="-128"/>
                          <a:ea typeface="メイリオ" panose="020B0604030504040204" pitchFamily="50" charset="-128"/>
                        </a:rPr>
                        <a:t>Virtual Metrology）</a:t>
                      </a:r>
                      <a:endParaRPr lang="en-US" sz="1100" dirty="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実測できない／コストのかかるプロセスパラメータを、センサー／機器データから予測</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測定レス／非破壊段階でパラメータを補填でき、データの穴あき対応・モデル精度向上に寄与 </a:t>
                      </a:r>
                      <a:r>
                        <a:rPr lang="ja-JP" altLang="en-US" sz="1100" dirty="0">
                          <a:latin typeface="メイリオ" panose="020B0604030504040204" pitchFamily="50" charset="-128"/>
                          <a:ea typeface="メイリオ" panose="020B0604030504040204" pitchFamily="50" charset="-128"/>
                          <a:hlinkClick r:id="rId4"/>
                        </a:rPr>
                        <a:t>ウィキペディア</a:t>
                      </a:r>
                      <a:endParaRPr lang="ja-JP" altLang="en-US" sz="1100" dirty="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モデル誤差に対する補正が常に必要。環境変動に弱い場合がある</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6712938"/>
                  </a:ext>
                </a:extLst>
              </a:tr>
              <a:tr h="608050">
                <a:tc>
                  <a:txBody>
                    <a:bodyPr/>
                    <a:lstStyle/>
                    <a:p>
                      <a:pPr>
                        <a:buNone/>
                      </a:pPr>
                      <a:r>
                        <a:rPr lang="ja-JP" altLang="en-US" sz="1100" b="1">
                          <a:latin typeface="メイリオ" panose="020B0604030504040204" pitchFamily="50" charset="-128"/>
                          <a:ea typeface="メイリオ" panose="020B0604030504040204" pitchFamily="50" charset="-128"/>
                        </a:rPr>
                        <a:t>異常検知＋クラスタリング強化（</a:t>
                      </a:r>
                      <a:r>
                        <a:rPr lang="en-US" sz="1100" b="1">
                          <a:latin typeface="メイリオ" panose="020B0604030504040204" pitchFamily="50" charset="-128"/>
                          <a:ea typeface="メイリオ" panose="020B0604030504040204" pitchFamily="50" charset="-128"/>
                        </a:rPr>
                        <a:t>Deep TDA + Self-Supervised / Transfer Learning）</a:t>
                      </a:r>
                      <a:endParaRPr 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大量の未ラベル画像データを処理し、潜在パターン／欠陥クラスタを自律抽出</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ラベルが十分でない場面でも欠陥傾向を見つけ出せる。学習資源を抑える転移学習活用も可能 </a:t>
                      </a:r>
                      <a:r>
                        <a:rPr lang="en-US" altLang="ja-JP" sz="1100">
                          <a:latin typeface="メイリオ" panose="020B0604030504040204" pitchFamily="50" charset="-128"/>
                          <a:ea typeface="メイリオ" panose="020B0604030504040204" pitchFamily="50" charset="-128"/>
                          <a:hlinkClick r:id="rId5"/>
                        </a:rPr>
                        <a:t>arXiv</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解釈性が低くなることあり。クラスタの意味解釈にエンジニアのドメイン知見が必須</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163847"/>
                  </a:ext>
                </a:extLst>
              </a:tr>
              <a:tr h="608050">
                <a:tc>
                  <a:txBody>
                    <a:bodyPr/>
                    <a:lstStyle/>
                    <a:p>
                      <a:pPr>
                        <a:buNone/>
                      </a:pPr>
                      <a:r>
                        <a:rPr lang="ja-JP" altLang="en-US" sz="1100" b="1">
                          <a:latin typeface="メイリオ" panose="020B0604030504040204" pitchFamily="50" charset="-128"/>
                          <a:ea typeface="メイリオ" panose="020B0604030504040204" pitchFamily="50" charset="-128"/>
                        </a:rPr>
                        <a:t>量子ベイズ推論（</a:t>
                      </a:r>
                      <a:r>
                        <a:rPr lang="en-US" sz="1100" b="1">
                          <a:latin typeface="メイリオ" panose="020B0604030504040204" pitchFamily="50" charset="-128"/>
                          <a:ea typeface="メイリオ" panose="020B0604030504040204" pitchFamily="50" charset="-128"/>
                        </a:rPr>
                        <a:t>Quantum Bayesian Inference）</a:t>
                      </a:r>
                      <a:endParaRPr 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ウェハバンプマップ（欠陥配置分布）などを解析し、故障起点区画を推定</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古典法より高速に原因探索が可能という将来的な可能性 </a:t>
                      </a:r>
                      <a:r>
                        <a:rPr lang="en-US" altLang="ja-JP" sz="1100">
                          <a:latin typeface="メイリオ" panose="020B0604030504040204" pitchFamily="50" charset="-128"/>
                          <a:ea typeface="メイリオ" panose="020B0604030504040204" pitchFamily="50" charset="-128"/>
                          <a:hlinkClick r:id="rId6"/>
                        </a:rPr>
                        <a:t>arXiv</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現時点では実用化にはハードル高。量子アルゴリズム・量子ハードウェアの成熟度制約あり</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0274013"/>
                  </a:ext>
                </a:extLst>
              </a:tr>
              <a:tr h="779551">
                <a:tc>
                  <a:txBody>
                    <a:bodyPr/>
                    <a:lstStyle/>
                    <a:p>
                      <a:pPr>
                        <a:buNone/>
                      </a:pPr>
                      <a:r>
                        <a:rPr lang="ja-JP" altLang="en-US" sz="1100" b="1">
                          <a:latin typeface="メイリオ" panose="020B0604030504040204" pitchFamily="50" charset="-128"/>
                          <a:ea typeface="メイリオ" panose="020B0604030504040204" pitchFamily="50" charset="-128"/>
                        </a:rPr>
                        <a:t>因果機械学習（</a:t>
                      </a:r>
                      <a:r>
                        <a:rPr lang="en-US" sz="1100" b="1">
                          <a:latin typeface="メイリオ" panose="020B0604030504040204" pitchFamily="50" charset="-128"/>
                          <a:ea typeface="メイリオ" panose="020B0604030504040204" pitchFamily="50" charset="-128"/>
                        </a:rPr>
                        <a:t>Causal ML）</a:t>
                      </a:r>
                      <a:r>
                        <a:rPr lang="ja-JP" altLang="en-US" sz="1100" b="1">
                          <a:latin typeface="メイリオ" panose="020B0604030504040204" pitchFamily="50" charset="-128"/>
                          <a:ea typeface="メイリオ" panose="020B0604030504040204" pitchFamily="50" charset="-128"/>
                        </a:rPr>
                        <a:t>を使った再加工政策の最適化</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再加工（リワーク）をすべきか否か、どのロットに対して適用かを因果効果として判断</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単なる相関モデルではなく「この処置をしたら歩留まりが改善するか」を予測可能。実データで </a:t>
                      </a:r>
                      <a:r>
                        <a:rPr lang="en-US" altLang="ja-JP" sz="1100">
                          <a:latin typeface="メイリオ" panose="020B0604030504040204" pitchFamily="50" charset="-128"/>
                          <a:ea typeface="メイリオ" panose="020B0604030504040204" pitchFamily="50" charset="-128"/>
                        </a:rPr>
                        <a:t>LED </a:t>
                      </a:r>
                      <a:r>
                        <a:rPr lang="ja-JP" altLang="en-US" sz="1100">
                          <a:latin typeface="メイリオ" panose="020B0604030504040204" pitchFamily="50" charset="-128"/>
                          <a:ea typeface="メイリオ" panose="020B0604030504040204" pitchFamily="50" charset="-128"/>
                        </a:rPr>
                        <a:t>製造で </a:t>
                      </a:r>
                      <a:r>
                        <a:rPr lang="en-US" altLang="ja-JP" sz="1100">
                          <a:latin typeface="メイリオ" panose="020B0604030504040204" pitchFamily="50" charset="-128"/>
                          <a:ea typeface="メイリオ" panose="020B0604030504040204" pitchFamily="50" charset="-128"/>
                        </a:rPr>
                        <a:t>2</a:t>
                      </a:r>
                      <a:r>
                        <a:rPr lang="ja-JP" altLang="en-US" sz="1100">
                          <a:latin typeface="メイリオ" panose="020B0604030504040204" pitchFamily="50" charset="-128"/>
                          <a:ea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rPr>
                        <a:t>3 % </a:t>
                      </a:r>
                      <a:r>
                        <a:rPr lang="ja-JP" altLang="en-US" sz="1100">
                          <a:latin typeface="メイリオ" panose="020B0604030504040204" pitchFamily="50" charset="-128"/>
                          <a:ea typeface="メイリオ" panose="020B0604030504040204" pitchFamily="50" charset="-128"/>
                        </a:rPr>
                        <a:t>歩留まり改善を報告した例もあり </a:t>
                      </a:r>
                      <a:r>
                        <a:rPr lang="en-US" altLang="ja-JP" sz="1100">
                          <a:latin typeface="メイリオ" panose="020B0604030504040204" pitchFamily="50" charset="-128"/>
                          <a:ea typeface="メイリオ" panose="020B0604030504040204" pitchFamily="50" charset="-128"/>
                          <a:hlinkClick r:id="rId7"/>
                        </a:rPr>
                        <a:t>arXiv</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因果構造仮定の妥当性、交絡因子制御、処置バイアスなどケアが必要</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994319"/>
                  </a:ext>
                </a:extLst>
              </a:tr>
              <a:tr h="608050">
                <a:tc>
                  <a:txBody>
                    <a:bodyPr/>
                    <a:lstStyle/>
                    <a:p>
                      <a:pPr>
                        <a:buNone/>
                      </a:pPr>
                      <a:r>
                        <a:rPr lang="ja-JP" altLang="en-US" sz="1100" b="1" dirty="0">
                          <a:latin typeface="メイリオ" panose="020B0604030504040204" pitchFamily="50" charset="-128"/>
                          <a:ea typeface="メイリオ" panose="020B0604030504040204" pitchFamily="50" charset="-128"/>
                        </a:rPr>
                        <a:t>高速立ち上げ（</a:t>
                      </a:r>
                      <a:r>
                        <a:rPr lang="en-US" altLang="ja-JP" sz="1100" b="1" dirty="0">
                          <a:latin typeface="メイリオ" panose="020B0604030504040204" pitchFamily="50" charset="-128"/>
                          <a:ea typeface="メイリオ" panose="020B0604030504040204" pitchFamily="50" charset="-128"/>
                        </a:rPr>
                        <a:t>Fast Ramp-Up</a:t>
                      </a:r>
                      <a:r>
                        <a:rPr lang="ja-JP" altLang="en-US" sz="1100" b="1" dirty="0">
                          <a:latin typeface="メイリオ" panose="020B0604030504040204" pitchFamily="50" charset="-128"/>
                          <a:ea typeface="メイリオ" panose="020B0604030504040204" pitchFamily="50" charset="-128"/>
                        </a:rPr>
                        <a:t>）フレームワーク</a:t>
                      </a:r>
                      <a:endParaRPr lang="ja-JP" altLang="en-US" sz="1100" dirty="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新製品や新工程適用時に早期に歩留まり改善軌道に乗せるための枠組み</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早期段階で異常傾向を捕捉し、迅速に改善処置を導入できるよう設計された枠組み </a:t>
                      </a:r>
                      <a:r>
                        <a:rPr lang="ja-JP" altLang="en-US" sz="1100">
                          <a:latin typeface="メイリオ" panose="020B0604030504040204" pitchFamily="50" charset="-128"/>
                          <a:ea typeface="メイリオ" panose="020B0604030504040204" pitchFamily="50" charset="-128"/>
                          <a:hlinkClick r:id="rId8"/>
                        </a:rPr>
                        <a:t>サイエンスダイレクト</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異常信号が弱い段階ではノイズを拾いやすい。初期データ量が少ないことへの対策が重要</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941568"/>
                  </a:ext>
                </a:extLst>
              </a:tr>
              <a:tr h="608050">
                <a:tc>
                  <a:txBody>
                    <a:bodyPr/>
                    <a:lstStyle/>
                    <a:p>
                      <a:pPr>
                        <a:buNone/>
                      </a:pPr>
                      <a:r>
                        <a:rPr lang="ja-JP" altLang="en-US" sz="1100" b="1">
                          <a:latin typeface="メイリオ" panose="020B0604030504040204" pitchFamily="50" charset="-128"/>
                          <a:ea typeface="メイリオ" panose="020B0604030504040204" pitchFamily="50" charset="-128"/>
                        </a:rPr>
                        <a:t>拡張可能な歩留まり予測モデル </a:t>
                      </a:r>
                      <a:r>
                        <a:rPr lang="en-US" altLang="ja-JP" sz="1100" b="1">
                          <a:latin typeface="メイリオ" panose="020B0604030504040204" pitchFamily="50" charset="-128"/>
                          <a:ea typeface="メイリオ" panose="020B0604030504040204" pitchFamily="50" charset="-128"/>
                        </a:rPr>
                        <a:t>+ SHAP </a:t>
                      </a:r>
                      <a:r>
                        <a:rPr lang="ja-JP" altLang="en-US" sz="1100" b="1">
                          <a:latin typeface="メイリオ" panose="020B0604030504040204" pitchFamily="50" charset="-128"/>
                          <a:ea typeface="メイリオ" panose="020B0604030504040204" pitchFamily="50" charset="-128"/>
                        </a:rPr>
                        <a:t>による解釈</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多工程データを統合し、モデルを段階拡張しながら歩留まり予測。</a:t>
                      </a:r>
                      <a:r>
                        <a:rPr lang="en-US" altLang="ja-JP" sz="1100">
                          <a:latin typeface="メイリオ" panose="020B0604030504040204" pitchFamily="50" charset="-128"/>
                          <a:ea typeface="メイリオ" panose="020B0604030504040204" pitchFamily="50" charset="-128"/>
                        </a:rPr>
                        <a:t>SHAP </a:t>
                      </a:r>
                      <a:r>
                        <a:rPr lang="ja-JP" altLang="en-US" sz="1100">
                          <a:latin typeface="メイリオ" panose="020B0604030504040204" pitchFamily="50" charset="-128"/>
                          <a:ea typeface="メイリオ" panose="020B0604030504040204" pitchFamily="50" charset="-128"/>
                        </a:rPr>
                        <a:t>による特徴影響分析も実施</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a:latin typeface="メイリオ" panose="020B0604030504040204" pitchFamily="50" charset="-128"/>
                          <a:ea typeface="メイリオ" panose="020B0604030504040204" pitchFamily="50" charset="-128"/>
                        </a:rPr>
                        <a:t>モデル性能と可解釈性のバランスを取る。特徴量の影響を可視化でき、改善策立案に使える </a:t>
                      </a:r>
                      <a:r>
                        <a:rPr lang="en-US" altLang="ja-JP" sz="1100">
                          <a:latin typeface="メイリオ" panose="020B0604030504040204" pitchFamily="50" charset="-128"/>
                          <a:ea typeface="メイリオ" panose="020B0604030504040204" pitchFamily="50" charset="-128"/>
                          <a:hlinkClick r:id="rId9"/>
                        </a:rPr>
                        <a:t>MDPI</a:t>
                      </a:r>
                      <a:endParaRPr lang="ja-JP" altLang="en-US" sz="1100">
                        <a:latin typeface="メイリオ" panose="020B0604030504040204" pitchFamily="50" charset="-128"/>
                        <a:ea typeface="メイリオ" panose="020B0604030504040204" pitchFamily="50" charset="-128"/>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buNone/>
                      </a:pPr>
                      <a:r>
                        <a:rPr lang="ja-JP" altLang="en-US" sz="1100" dirty="0">
                          <a:latin typeface="メイリオ" panose="020B0604030504040204" pitchFamily="50" charset="-128"/>
                          <a:ea typeface="メイリオ" panose="020B0604030504040204" pitchFamily="50" charset="-128"/>
                        </a:rPr>
                        <a:t>特徴量相関や過学習の管理が必須。</a:t>
                      </a:r>
                      <a:r>
                        <a:rPr lang="en-US" altLang="ja-JP" sz="1100" dirty="0">
                          <a:latin typeface="メイリオ" panose="020B0604030504040204" pitchFamily="50" charset="-128"/>
                          <a:ea typeface="メイリオ" panose="020B0604030504040204" pitchFamily="50" charset="-128"/>
                        </a:rPr>
                        <a:t>SHAP </a:t>
                      </a:r>
                      <a:r>
                        <a:rPr lang="ja-JP" altLang="en-US" sz="1100" dirty="0">
                          <a:latin typeface="メイリオ" panose="020B0604030504040204" pitchFamily="50" charset="-128"/>
                          <a:ea typeface="メイリオ" panose="020B0604030504040204" pitchFamily="50" charset="-128"/>
                        </a:rPr>
                        <a:t>の解釈を業務でうまく使うためには可視化</a:t>
                      </a:r>
                      <a:r>
                        <a:rPr lang="en-US" altLang="ja-JP" sz="1100" dirty="0">
                          <a:latin typeface="メイリオ" panose="020B0604030504040204" pitchFamily="50" charset="-128"/>
                          <a:ea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rPr>
                        <a:t>フィルタの工夫が要</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384847"/>
                  </a:ext>
                </a:extLst>
              </a:tr>
            </a:tbl>
          </a:graphicData>
        </a:graphic>
      </p:graphicFrame>
      <p:sp>
        <p:nvSpPr>
          <p:cNvPr id="7" name="テキスト ボックス 6">
            <a:extLst>
              <a:ext uri="{FF2B5EF4-FFF2-40B4-BE49-F238E27FC236}">
                <a16:creationId xmlns:a16="http://schemas.microsoft.com/office/drawing/2014/main" id="{ADC13ACC-7032-405D-80FC-E12E79AAE0A5}"/>
              </a:ext>
            </a:extLst>
          </p:cNvPr>
          <p:cNvSpPr txBox="1"/>
          <p:nvPr/>
        </p:nvSpPr>
        <p:spPr>
          <a:xfrm>
            <a:off x="215217" y="635605"/>
            <a:ext cx="11483724" cy="369332"/>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聞いたこと：半導体の製造工場の歩留まり解析の場で使われている最新技術を教えてください。</a:t>
            </a:r>
          </a:p>
        </p:txBody>
      </p:sp>
    </p:spTree>
    <p:extLst>
      <p:ext uri="{BB962C8B-B14F-4D97-AF65-F5344CB8AC3E}">
        <p14:creationId xmlns:p14="http://schemas.microsoft.com/office/powerpoint/2010/main" val="3278176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A076E-E3EE-1143-D6AD-B5918CBB4E2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BD59B9F-34BB-D515-ED3B-88B65DBC53FC}"/>
              </a:ext>
            </a:extLst>
          </p:cNvPr>
          <p:cNvSpPr txBox="1"/>
          <p:nvPr/>
        </p:nvSpPr>
        <p:spPr>
          <a:xfrm>
            <a:off x="215217" y="147482"/>
            <a:ext cx="1369286" cy="400110"/>
          </a:xfrm>
          <a:prstGeom prst="rect">
            <a:avLst/>
          </a:prstGeom>
          <a:noFill/>
        </p:spPr>
        <p:txBody>
          <a:bodyPr wrap="none" rtlCol="0">
            <a:spAutoFit/>
          </a:bodyPr>
          <a:lstStyle/>
          <a:p>
            <a:r>
              <a:rPr kumimoji="1" lang="ja-JP" altLang="en-US" sz="2000" u="sng" dirty="0">
                <a:latin typeface="メイリオ" panose="020B0604030504040204" pitchFamily="50" charset="-128"/>
                <a:ea typeface="メイリオ" panose="020B0604030504040204" pitchFamily="50" charset="-128"/>
              </a:rPr>
              <a:t>将来</a:t>
            </a:r>
            <a:r>
              <a:rPr kumimoji="1" lang="en-US" altLang="ja-JP" sz="2000" u="sng" dirty="0">
                <a:latin typeface="メイリオ" panose="020B0604030504040204" pitchFamily="50" charset="-128"/>
                <a:ea typeface="メイリオ" panose="020B0604030504040204" pitchFamily="50" charset="-128"/>
              </a:rPr>
              <a:t>5</a:t>
            </a:r>
            <a:r>
              <a:rPr kumimoji="1" lang="ja-JP" altLang="en-US" sz="2000" u="sng" dirty="0">
                <a:latin typeface="メイリオ" panose="020B0604030504040204" pitchFamily="50" charset="-128"/>
                <a:ea typeface="メイリオ" panose="020B0604030504040204" pitchFamily="50" charset="-128"/>
              </a:rPr>
              <a:t>年後</a:t>
            </a:r>
          </a:p>
        </p:txBody>
      </p:sp>
      <p:sp>
        <p:nvSpPr>
          <p:cNvPr id="3" name="テキスト ボックス 2">
            <a:extLst>
              <a:ext uri="{FF2B5EF4-FFF2-40B4-BE49-F238E27FC236}">
                <a16:creationId xmlns:a16="http://schemas.microsoft.com/office/drawing/2014/main" id="{6AD5C7AB-53C6-4E16-E0C0-00C518A35583}"/>
              </a:ext>
            </a:extLst>
          </p:cNvPr>
          <p:cNvSpPr txBox="1"/>
          <p:nvPr/>
        </p:nvSpPr>
        <p:spPr>
          <a:xfrm>
            <a:off x="215217" y="635605"/>
            <a:ext cx="11483724" cy="369332"/>
          </a:xfrm>
          <a:prstGeom prst="rect">
            <a:avLst/>
          </a:prstGeom>
          <a:noFill/>
        </p:spPr>
        <p:txBody>
          <a:bodyPr wrap="square">
            <a:spAutoFit/>
          </a:bodyPr>
          <a:lstStyle/>
          <a:p>
            <a:r>
              <a:rPr lang="ja-JP" altLang="en-US" dirty="0">
                <a:latin typeface="メイリオ" panose="020B0604030504040204" pitchFamily="50" charset="-128"/>
                <a:ea typeface="メイリオ" panose="020B0604030504040204" pitchFamily="50" charset="-128"/>
              </a:rPr>
              <a:t>聞いたこと：では</a:t>
            </a:r>
            <a:r>
              <a:rPr lang="en-US" altLang="ja-JP" dirty="0">
                <a:latin typeface="メイリオ" panose="020B0604030504040204" pitchFamily="50" charset="-128"/>
                <a:ea typeface="メイリオ" panose="020B0604030504040204" pitchFamily="50" charset="-128"/>
              </a:rPr>
              <a:t>5</a:t>
            </a:r>
            <a:r>
              <a:rPr lang="ja-JP" altLang="en-US" dirty="0">
                <a:latin typeface="メイリオ" panose="020B0604030504040204" pitchFamily="50" charset="-128"/>
                <a:ea typeface="メイリオ" panose="020B0604030504040204" pitchFamily="50" charset="-128"/>
              </a:rPr>
              <a:t>年後に必要となるだろうモノについてまとめてください。</a:t>
            </a:r>
          </a:p>
        </p:txBody>
      </p:sp>
      <p:sp>
        <p:nvSpPr>
          <p:cNvPr id="7" name="テキスト ボックス 6">
            <a:extLst>
              <a:ext uri="{FF2B5EF4-FFF2-40B4-BE49-F238E27FC236}">
                <a16:creationId xmlns:a16="http://schemas.microsoft.com/office/drawing/2014/main" id="{D86B05E0-C546-B80A-2EC8-16F2788429F4}"/>
              </a:ext>
            </a:extLst>
          </p:cNvPr>
          <p:cNvSpPr txBox="1"/>
          <p:nvPr/>
        </p:nvSpPr>
        <p:spPr>
          <a:xfrm>
            <a:off x="720566" y="1470212"/>
            <a:ext cx="9986683" cy="4093428"/>
          </a:xfrm>
          <a:prstGeom prst="rect">
            <a:avLst/>
          </a:prstGeom>
          <a:noFill/>
        </p:spPr>
        <p:txBody>
          <a:bodyPr wrap="square" rtlCol="0">
            <a:spAutoFit/>
          </a:bodyPr>
          <a:lstStyle/>
          <a:p>
            <a:pPr>
              <a:buNone/>
            </a:pPr>
            <a:r>
              <a:rPr lang="ja-JP" altLang="en-US" sz="2000" dirty="0">
                <a:latin typeface="メイリオ" panose="020B0604030504040204" pitchFamily="50" charset="-128"/>
                <a:ea typeface="メイリオ" panose="020B0604030504040204" pitchFamily="50" charset="-128"/>
              </a:rPr>
              <a:t>まとめ（</a:t>
            </a:r>
            <a:r>
              <a:rPr lang="en-US" altLang="ja-JP" sz="2000" dirty="0">
                <a:latin typeface="メイリオ" panose="020B0604030504040204" pitchFamily="50" charset="-128"/>
                <a:ea typeface="メイリオ" panose="020B0604030504040204" pitchFamily="50" charset="-128"/>
              </a:rPr>
              <a:t>2030</a:t>
            </a:r>
            <a:r>
              <a:rPr lang="ja-JP" altLang="en-US" sz="2000" dirty="0">
                <a:latin typeface="メイリオ" panose="020B0604030504040204" pitchFamily="50" charset="-128"/>
                <a:ea typeface="メイリオ" panose="020B0604030504040204" pitchFamily="50" charset="-128"/>
              </a:rPr>
              <a:t>年に向けた歩留まり解析の姿）</a:t>
            </a:r>
            <a:endParaRPr lang="en-US" altLang="ja-JP" sz="2000" dirty="0">
              <a:latin typeface="メイリオ" panose="020B0604030504040204" pitchFamily="50" charset="-128"/>
              <a:ea typeface="メイリオ" panose="020B0604030504040204" pitchFamily="50" charset="-128"/>
            </a:endParaRPr>
          </a:p>
          <a:p>
            <a:pPr>
              <a:buNone/>
            </a:pPr>
            <a:endParaRPr lang="ja-JP" altLang="en-US" sz="2000" dirty="0">
              <a:latin typeface="メイリオ" panose="020B0604030504040204" pitchFamily="50" charset="-128"/>
              <a:ea typeface="メイリオ" panose="020B0604030504040204" pitchFamily="50" charset="-128"/>
            </a:endParaRPr>
          </a:p>
          <a:p>
            <a:pPr>
              <a:buFont typeface="+mj-lt"/>
              <a:buAutoNum type="arabicPeriod"/>
            </a:pPr>
            <a:r>
              <a:rPr lang="ja-JP" altLang="en-US" sz="2000" dirty="0">
                <a:latin typeface="メイリオ" panose="020B0604030504040204" pitchFamily="50" charset="-128"/>
                <a:ea typeface="メイリオ" panose="020B0604030504040204" pitchFamily="50" charset="-128"/>
              </a:rPr>
              <a:t>工場横断・グローバル統合解析</a:t>
            </a:r>
            <a:endParaRPr lang="en-US" altLang="ja-JP" sz="2000" dirty="0">
              <a:latin typeface="メイリオ" panose="020B0604030504040204" pitchFamily="50" charset="-128"/>
              <a:ea typeface="メイリオ" panose="020B0604030504040204" pitchFamily="50" charset="-128"/>
            </a:endParaRPr>
          </a:p>
          <a:p>
            <a:pPr>
              <a:buFont typeface="+mj-lt"/>
              <a:buAutoNum type="arabicPeriod"/>
            </a:pPr>
            <a:endParaRPr lang="ja-JP" altLang="en-US" sz="2000" dirty="0">
              <a:latin typeface="メイリオ" panose="020B0604030504040204" pitchFamily="50" charset="-128"/>
              <a:ea typeface="メイリオ" panose="020B0604030504040204" pitchFamily="50" charset="-128"/>
            </a:endParaRPr>
          </a:p>
          <a:p>
            <a:pPr>
              <a:buFont typeface="+mj-lt"/>
              <a:buAutoNum type="arabicPeriod"/>
            </a:pP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が自律的に歩留まりを最適化する基盤</a:t>
            </a:r>
            <a:endParaRPr lang="en-US" altLang="ja-JP" sz="2000" dirty="0">
              <a:latin typeface="メイリオ" panose="020B0604030504040204" pitchFamily="50" charset="-128"/>
              <a:ea typeface="メイリオ" panose="020B0604030504040204" pitchFamily="50" charset="-128"/>
            </a:endParaRPr>
          </a:p>
          <a:p>
            <a:pPr>
              <a:buFont typeface="+mj-lt"/>
              <a:buAutoNum type="arabicPeriod"/>
            </a:pPr>
            <a:endParaRPr lang="ja-JP" altLang="en-US" sz="2000" dirty="0">
              <a:latin typeface="メイリオ" panose="020B0604030504040204" pitchFamily="50" charset="-128"/>
              <a:ea typeface="メイリオ" panose="020B0604030504040204" pitchFamily="50" charset="-128"/>
            </a:endParaRPr>
          </a:p>
          <a:p>
            <a:pPr>
              <a:buFont typeface="+mj-lt"/>
              <a:buAutoNum type="arabicPeriod"/>
            </a:pPr>
            <a:r>
              <a:rPr lang="ja-JP" altLang="en-US" sz="2000" dirty="0">
                <a:latin typeface="メイリオ" panose="020B0604030504040204" pitchFamily="50" charset="-128"/>
                <a:ea typeface="メイリオ" panose="020B0604030504040204" pitchFamily="50" charset="-128"/>
              </a:rPr>
              <a:t>マルチモーダル解析で“見えない要因”を掘り起こす</a:t>
            </a:r>
            <a:endParaRPr lang="en-US" altLang="ja-JP" sz="2000" dirty="0">
              <a:latin typeface="メイリオ" panose="020B0604030504040204" pitchFamily="50" charset="-128"/>
              <a:ea typeface="メイリオ" panose="020B0604030504040204" pitchFamily="50" charset="-128"/>
            </a:endParaRPr>
          </a:p>
          <a:p>
            <a:pPr>
              <a:buFont typeface="+mj-lt"/>
              <a:buAutoNum type="arabicPeriod"/>
            </a:pPr>
            <a:endParaRPr lang="ja-JP" altLang="en-US" sz="2000" dirty="0">
              <a:latin typeface="メイリオ" panose="020B0604030504040204" pitchFamily="50" charset="-128"/>
              <a:ea typeface="メイリオ" panose="020B0604030504040204" pitchFamily="50" charset="-128"/>
            </a:endParaRPr>
          </a:p>
          <a:p>
            <a:pPr>
              <a:buFont typeface="+mj-lt"/>
              <a:buAutoNum type="arabicPeriod"/>
            </a:pPr>
            <a:r>
              <a:rPr lang="ja-JP" altLang="en-US" sz="2000" dirty="0">
                <a:latin typeface="メイリオ" panose="020B0604030504040204" pitchFamily="50" charset="-128"/>
                <a:ea typeface="メイリオ" panose="020B0604030504040204" pitchFamily="50" charset="-128"/>
              </a:rPr>
              <a:t>因果推論 </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デジタルツインで施策効果を即時提示</a:t>
            </a:r>
            <a:endParaRPr lang="en-US" altLang="ja-JP" sz="2000" dirty="0">
              <a:latin typeface="メイリオ" panose="020B0604030504040204" pitchFamily="50" charset="-128"/>
              <a:ea typeface="メイリオ" panose="020B0604030504040204" pitchFamily="50" charset="-128"/>
            </a:endParaRPr>
          </a:p>
          <a:p>
            <a:pPr>
              <a:buFont typeface="+mj-lt"/>
              <a:buAutoNum type="arabicPeriod"/>
            </a:pPr>
            <a:endParaRPr lang="ja-JP" altLang="en-US" sz="2000" dirty="0">
              <a:latin typeface="メイリオ" panose="020B0604030504040204" pitchFamily="50" charset="-128"/>
              <a:ea typeface="メイリオ" panose="020B0604030504040204" pitchFamily="50" charset="-128"/>
            </a:endParaRPr>
          </a:p>
          <a:p>
            <a:pPr>
              <a:buFont typeface="+mj-lt"/>
              <a:buAutoNum type="arabicPeriod"/>
            </a:pPr>
            <a:r>
              <a:rPr lang="ja-JP" altLang="en-US" sz="2000" dirty="0">
                <a:latin typeface="メイリオ" panose="020B0604030504040204" pitchFamily="50" charset="-128"/>
                <a:ea typeface="メイリオ" panose="020B0604030504040204" pitchFamily="50" charset="-128"/>
              </a:rPr>
              <a:t>セキュリティ・データ主権を担保したクラウド利用</a:t>
            </a:r>
            <a:endParaRPr lang="en-US" altLang="ja-JP" sz="2000" dirty="0">
              <a:latin typeface="メイリオ" panose="020B0604030504040204" pitchFamily="50" charset="-128"/>
              <a:ea typeface="メイリオ" panose="020B0604030504040204" pitchFamily="50" charset="-128"/>
            </a:endParaRPr>
          </a:p>
          <a:p>
            <a:pPr>
              <a:buFont typeface="+mj-lt"/>
              <a:buAutoNum type="arabicPeriod"/>
            </a:pPr>
            <a:endParaRPr lang="ja-JP" altLang="en-US" sz="2000" dirty="0">
              <a:latin typeface="メイリオ" panose="020B0604030504040204" pitchFamily="50" charset="-128"/>
              <a:ea typeface="メイリオ" panose="020B0604030504040204" pitchFamily="50" charset="-128"/>
            </a:endParaRPr>
          </a:p>
          <a:p>
            <a:pPr>
              <a:buFont typeface="+mj-lt"/>
              <a:buAutoNum type="arabicPeriod"/>
            </a:pPr>
            <a:r>
              <a:rPr lang="ja-JP" altLang="en-US" sz="2000" dirty="0">
                <a:latin typeface="メイリオ" panose="020B0604030504040204" pitchFamily="50" charset="-128"/>
                <a:ea typeface="メイリオ" panose="020B0604030504040204" pitchFamily="50" charset="-128"/>
              </a:rPr>
              <a:t>人材は“解析する人”から“</a:t>
            </a: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基盤を監督する人”へ進化</a:t>
            </a:r>
          </a:p>
        </p:txBody>
      </p:sp>
    </p:spTree>
    <p:extLst>
      <p:ext uri="{BB962C8B-B14F-4D97-AF65-F5344CB8AC3E}">
        <p14:creationId xmlns:p14="http://schemas.microsoft.com/office/powerpoint/2010/main" val="222309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F2CFA-0B30-2818-F446-1D0D7B18DF7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080C81F-245E-96B1-3BE2-D1FFF6FD2D00}"/>
              </a:ext>
            </a:extLst>
          </p:cNvPr>
          <p:cNvSpPr txBox="1"/>
          <p:nvPr/>
        </p:nvSpPr>
        <p:spPr>
          <a:xfrm>
            <a:off x="215217" y="147482"/>
            <a:ext cx="4288353"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１．工場横断・グローバル統合解析</a:t>
            </a:r>
            <a:endParaRPr lang="en-US" altLang="ja-JP" sz="20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154CD4FC-B95D-A4C8-31B2-4889F606D757}"/>
              </a:ext>
            </a:extLst>
          </p:cNvPr>
          <p:cNvSpPr txBox="1"/>
          <p:nvPr/>
        </p:nvSpPr>
        <p:spPr>
          <a:xfrm>
            <a:off x="528982" y="708211"/>
            <a:ext cx="10694830" cy="1354217"/>
          </a:xfrm>
          <a:prstGeom prst="rect">
            <a:avLst/>
          </a:prstGeom>
          <a:noFill/>
        </p:spPr>
        <p:txBody>
          <a:bodyPr wrap="square" rtlCol="0">
            <a:spAutoFit/>
          </a:bodyPr>
          <a:lstStyle/>
          <a:p>
            <a:pPr>
              <a:buNone/>
            </a:pPr>
            <a:r>
              <a:rPr lang="ja-JP" altLang="en-US" b="1" dirty="0">
                <a:latin typeface="メイリオ" panose="020B0604030504040204" pitchFamily="50" charset="-128"/>
                <a:ea typeface="メイリオ" panose="020B0604030504040204" pitchFamily="50" charset="-128"/>
              </a:rPr>
              <a:t>マルチファクトリー統合解析基盤</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背景：工場単位ではすでにクラウド</a:t>
            </a:r>
            <a:r>
              <a:rPr lang="en-US" altLang="ja-JP" sz="1600" dirty="0">
                <a:latin typeface="メイリオ" panose="020B0604030504040204" pitchFamily="50" charset="-128"/>
                <a:ea typeface="メイリオ" panose="020B0604030504040204" pitchFamily="50" charset="-128"/>
              </a:rPr>
              <a:t>DWH(Data </a:t>
            </a:r>
            <a:r>
              <a:rPr lang="en-US" altLang="ja-JP" sz="1600" dirty="0" err="1">
                <a:latin typeface="メイリオ" panose="020B0604030504040204" pitchFamily="50" charset="-128"/>
                <a:ea typeface="メイリオ" panose="020B0604030504040204" pitchFamily="50" charset="-128"/>
              </a:rPr>
              <a:t>WareHouse</a:t>
            </a:r>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分析特化</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＋解析環境が整備されつつある。</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次段階：グローバルに複数拠点のデータを「リアルタイムで統合・比較」する基盤が必須。</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効果：各拠点での工程差異を即座に把握し、横展開スピードを数か月→数週間へ短縮。</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必要技術：分散学習（</a:t>
            </a:r>
            <a:r>
              <a:rPr lang="en-US" altLang="ja-JP" sz="1600" dirty="0">
                <a:latin typeface="メイリオ" panose="020B0604030504040204" pitchFamily="50" charset="-128"/>
                <a:ea typeface="メイリオ" panose="020B0604030504040204" pitchFamily="50" charset="-128"/>
              </a:rPr>
              <a:t>Federated Learning</a:t>
            </a:r>
            <a:r>
              <a:rPr lang="ja-JP" altLang="en-US" sz="1600" dirty="0">
                <a:latin typeface="メイリオ" panose="020B0604030504040204" pitchFamily="50" charset="-128"/>
                <a:ea typeface="メイリオ" panose="020B0604030504040204" pitchFamily="50" charset="-128"/>
              </a:rPr>
              <a:t>）、クロスサイトデータ正規化、マルチクラウド連携。</a:t>
            </a:r>
          </a:p>
        </p:txBody>
      </p:sp>
      <p:sp>
        <p:nvSpPr>
          <p:cNvPr id="5" name="テキスト ボックス 4">
            <a:extLst>
              <a:ext uri="{FF2B5EF4-FFF2-40B4-BE49-F238E27FC236}">
                <a16:creationId xmlns:a16="http://schemas.microsoft.com/office/drawing/2014/main" id="{C0272045-5530-FAC8-8C14-127ADB47A82D}"/>
              </a:ext>
            </a:extLst>
          </p:cNvPr>
          <p:cNvSpPr txBox="1"/>
          <p:nvPr/>
        </p:nvSpPr>
        <p:spPr>
          <a:xfrm>
            <a:off x="528982" y="2452568"/>
            <a:ext cx="11125136" cy="1600438"/>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＊マルチファクトリー統合解析基盤とは？</a:t>
            </a:r>
          </a:p>
          <a:p>
            <a:pPr>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定義</a:t>
            </a:r>
            <a:r>
              <a:rPr lang="ja-JP" altLang="en-US" sz="1600" dirty="0">
                <a:latin typeface="メイリオ" panose="020B0604030504040204" pitchFamily="50" charset="-128"/>
                <a:ea typeface="メイリオ" panose="020B0604030504040204" pitchFamily="50" charset="-128"/>
              </a:rPr>
              <a:t>：複数の生産拠点（ファクトリー）で発生する製造データを共通の基盤に集約し、横断的に解析できる仕組み。</a:t>
            </a:r>
          </a:p>
          <a:p>
            <a:pPr>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目的</a:t>
            </a:r>
            <a:r>
              <a:rPr lang="ja-JP" altLang="en-US" sz="16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工場間での歩留まり格差を早期に把握</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成功した改善事例を即座に他工場に展開</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サプライチェーン全体のリスク低減</a:t>
            </a:r>
          </a:p>
        </p:txBody>
      </p:sp>
      <p:sp>
        <p:nvSpPr>
          <p:cNvPr id="8" name="テキスト ボックス 7">
            <a:extLst>
              <a:ext uri="{FF2B5EF4-FFF2-40B4-BE49-F238E27FC236}">
                <a16:creationId xmlns:a16="http://schemas.microsoft.com/office/drawing/2014/main" id="{B3826269-C8E2-7B45-A9CC-640D75AF7FFC}"/>
              </a:ext>
            </a:extLst>
          </p:cNvPr>
          <p:cNvSpPr txBox="1"/>
          <p:nvPr/>
        </p:nvSpPr>
        <p:spPr>
          <a:xfrm>
            <a:off x="528982" y="4443147"/>
            <a:ext cx="5567018" cy="1200329"/>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メリット</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歩留まりのベンチマーキング（工場ごとの比較）が容易</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改善の横展開スピードが従来の数か月→数週間へ短縮</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サプライチェーン全体でのリスク感知が早期化（材料不良や装置不具合の早期検知）</a:t>
            </a:r>
          </a:p>
        </p:txBody>
      </p:sp>
      <p:sp>
        <p:nvSpPr>
          <p:cNvPr id="9" name="テキスト ボックス 8">
            <a:extLst>
              <a:ext uri="{FF2B5EF4-FFF2-40B4-BE49-F238E27FC236}">
                <a16:creationId xmlns:a16="http://schemas.microsoft.com/office/drawing/2014/main" id="{BAFC1FE2-0268-FD57-933F-D2712193861D}"/>
              </a:ext>
            </a:extLst>
          </p:cNvPr>
          <p:cNvSpPr txBox="1"/>
          <p:nvPr/>
        </p:nvSpPr>
        <p:spPr>
          <a:xfrm>
            <a:off x="6468100" y="4443146"/>
            <a:ext cx="5342900" cy="984885"/>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課題</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データセキュリティ（工場間の壁をどう守りつつ共有するか）</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データ標準化（工場ごとにフォーマットがバラバラ）</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レイテンシ（遠隔拠点からクラウドへデータ送信する速度）</a:t>
            </a:r>
          </a:p>
        </p:txBody>
      </p:sp>
    </p:spTree>
    <p:extLst>
      <p:ext uri="{BB962C8B-B14F-4D97-AF65-F5344CB8AC3E}">
        <p14:creationId xmlns:p14="http://schemas.microsoft.com/office/powerpoint/2010/main" val="575077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59D1-9484-D381-73D5-CF20F1E5FF0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D6C4484-04CF-E8C9-64B5-8FE0727D6000}"/>
              </a:ext>
            </a:extLst>
          </p:cNvPr>
          <p:cNvSpPr txBox="1"/>
          <p:nvPr/>
        </p:nvSpPr>
        <p:spPr>
          <a:xfrm>
            <a:off x="215217" y="147482"/>
            <a:ext cx="4288353"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１．工場横断・グローバル統合解析</a:t>
            </a:r>
            <a:endParaRPr lang="en-US" altLang="ja-JP" sz="20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A31E00BB-E539-8965-5247-52E7E564EAAF}"/>
              </a:ext>
            </a:extLst>
          </p:cNvPr>
          <p:cNvSpPr txBox="1"/>
          <p:nvPr/>
        </p:nvSpPr>
        <p:spPr>
          <a:xfrm>
            <a:off x="691467" y="759038"/>
            <a:ext cx="10995707" cy="5386090"/>
          </a:xfrm>
          <a:prstGeom prst="rect">
            <a:avLst/>
          </a:prstGeom>
          <a:noFill/>
        </p:spPr>
        <p:txBody>
          <a:bodyPr wrap="square">
            <a:spAutoFit/>
          </a:bodyPr>
          <a:lstStyle/>
          <a:p>
            <a:pPr>
              <a:buNone/>
            </a:pPr>
            <a:r>
              <a:rPr lang="ja-JP" altLang="en-US" sz="1400" b="1" dirty="0">
                <a:latin typeface="メイリオ" panose="020B0604030504040204" pitchFamily="50" charset="-128"/>
                <a:ea typeface="メイリオ" panose="020B0604030504040204" pitchFamily="50" charset="-128"/>
              </a:rPr>
              <a:t>構成要素（キーワード解説）</a:t>
            </a:r>
          </a:p>
          <a:p>
            <a:pPr>
              <a:buNone/>
            </a:pPr>
            <a:r>
              <a:rPr lang="en-US" altLang="ja-JP" sz="1100" b="1" dirty="0">
                <a:latin typeface="メイリオ" panose="020B0604030504040204" pitchFamily="50" charset="-128"/>
                <a:ea typeface="メイリオ" panose="020B0604030504040204" pitchFamily="50" charset="-128"/>
              </a:rPr>
              <a:t>1. </a:t>
            </a:r>
            <a:r>
              <a:rPr lang="ja-JP" altLang="en-US" sz="1100" b="1" dirty="0">
                <a:latin typeface="メイリオ" panose="020B0604030504040204" pitchFamily="50" charset="-128"/>
                <a:ea typeface="メイリオ" panose="020B0604030504040204" pitchFamily="50" charset="-128"/>
              </a:rPr>
              <a:t>データ統合基盤</a:t>
            </a:r>
          </a:p>
          <a:p>
            <a:pPr>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各工場の </a:t>
            </a:r>
            <a:r>
              <a:rPr lang="en-US" altLang="ja-JP" sz="1100" dirty="0">
                <a:latin typeface="メイリオ" panose="020B0604030504040204" pitchFamily="50" charset="-128"/>
                <a:ea typeface="メイリオ" panose="020B0604030504040204" pitchFamily="50" charset="-128"/>
              </a:rPr>
              <a:t>MES</a:t>
            </a:r>
            <a:r>
              <a:rPr lang="ja-JP" altLang="en-US" sz="1100" dirty="0">
                <a:latin typeface="メイリオ" panose="020B0604030504040204" pitchFamily="50" charset="-128"/>
                <a:ea typeface="メイリオ" panose="020B0604030504040204" pitchFamily="50" charset="-128"/>
              </a:rPr>
              <a:t>（製造実行システム）、</a:t>
            </a:r>
            <a:r>
              <a:rPr lang="en-US" altLang="ja-JP" sz="1100" dirty="0">
                <a:latin typeface="メイリオ" panose="020B0604030504040204" pitchFamily="50" charset="-128"/>
                <a:ea typeface="メイリオ" panose="020B0604030504040204" pitchFamily="50" charset="-128"/>
              </a:rPr>
              <a:t>FDC</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Fault Detection &amp; Classification</a:t>
            </a:r>
            <a:r>
              <a:rPr lang="ja-JP" altLang="en-US" sz="1100" dirty="0">
                <a:latin typeface="メイリオ" panose="020B0604030504040204" pitchFamily="50" charset="-128"/>
                <a:ea typeface="メイリオ" panose="020B0604030504040204" pitchFamily="50" charset="-128"/>
              </a:rPr>
              <a:t>）、検査データを一元化するプラットフォーム。</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意味</a:t>
            </a:r>
            <a:r>
              <a:rPr lang="ja-JP" altLang="en-US" sz="11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en-US" altLang="ja-JP" sz="1100" b="1" dirty="0">
                <a:latin typeface="メイリオ" panose="020B0604030504040204" pitchFamily="50" charset="-128"/>
                <a:ea typeface="メイリオ" panose="020B0604030504040204" pitchFamily="50" charset="-128"/>
              </a:rPr>
              <a:t>MES</a:t>
            </a:r>
            <a:r>
              <a:rPr lang="ja-JP" altLang="en-US" sz="1100" dirty="0">
                <a:latin typeface="メイリオ" panose="020B0604030504040204" pitchFamily="50" charset="-128"/>
                <a:ea typeface="メイリオ" panose="020B0604030504040204" pitchFamily="50" charset="-128"/>
              </a:rPr>
              <a:t>：生産実績・設備稼働データを管理するシステム</a:t>
            </a:r>
          </a:p>
          <a:p>
            <a:pPr marL="742950" lvl="1" indent="-285750">
              <a:buFont typeface="Arial" panose="020B0604020202020204" pitchFamily="34" charset="0"/>
              <a:buChar char="•"/>
            </a:pPr>
            <a:r>
              <a:rPr lang="en-US" altLang="ja-JP" sz="1100" b="1" dirty="0">
                <a:latin typeface="メイリオ" panose="020B0604030504040204" pitchFamily="50" charset="-128"/>
                <a:ea typeface="メイリオ" panose="020B0604030504040204" pitchFamily="50" charset="-128"/>
              </a:rPr>
              <a:t>FDC</a:t>
            </a:r>
            <a:r>
              <a:rPr lang="ja-JP" altLang="en-US" sz="1100" dirty="0">
                <a:latin typeface="メイリオ" panose="020B0604030504040204" pitchFamily="50" charset="-128"/>
                <a:ea typeface="メイリオ" panose="020B0604030504040204" pitchFamily="50" charset="-128"/>
              </a:rPr>
              <a:t>：装置のセンサーデータから異常を検出する仕組み</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具体例</a:t>
            </a:r>
            <a:r>
              <a:rPr lang="ja-JP" altLang="en-US" sz="1100" dirty="0">
                <a:latin typeface="メイリオ" panose="020B0604030504040204" pitchFamily="50" charset="-128"/>
                <a:ea typeface="メイリオ" panose="020B0604030504040204" pitchFamily="50" charset="-128"/>
              </a:rPr>
              <a:t>：クラウド</a:t>
            </a:r>
            <a:r>
              <a:rPr lang="en-US" altLang="ja-JP" sz="1100" dirty="0">
                <a:latin typeface="メイリオ" panose="020B0604030504040204" pitchFamily="50" charset="-128"/>
                <a:ea typeface="メイリオ" panose="020B0604030504040204" pitchFamily="50" charset="-128"/>
              </a:rPr>
              <a:t>DWH</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AWS Redshift, GCP </a:t>
            </a:r>
            <a:r>
              <a:rPr lang="en-US" altLang="ja-JP" sz="1100" dirty="0" err="1">
                <a:latin typeface="メイリオ" panose="020B0604030504040204" pitchFamily="50" charset="-128"/>
                <a:ea typeface="メイリオ" panose="020B0604030504040204" pitchFamily="50" charset="-128"/>
              </a:rPr>
              <a:t>BigQuery</a:t>
            </a:r>
            <a:r>
              <a:rPr lang="en-US" altLang="ja-JP" sz="1100" dirty="0">
                <a:latin typeface="メイリオ" panose="020B0604030504040204" pitchFamily="50" charset="-128"/>
                <a:ea typeface="メイリオ" panose="020B0604030504040204" pitchFamily="50" charset="-128"/>
              </a:rPr>
              <a:t>, Azure Synapse</a:t>
            </a:r>
            <a:r>
              <a:rPr lang="ja-JP" altLang="en-US" sz="1100" dirty="0">
                <a:latin typeface="メイリオ" panose="020B0604030504040204" pitchFamily="50" charset="-128"/>
                <a:ea typeface="メイリオ" panose="020B0604030504040204" pitchFamily="50" charset="-128"/>
              </a:rPr>
              <a:t>）</a:t>
            </a:r>
          </a:p>
          <a:p>
            <a:pPr>
              <a:buNone/>
            </a:pPr>
            <a:endParaRPr lang="ja-JP" altLang="en-US" sz="1100" dirty="0">
              <a:latin typeface="メイリオ" panose="020B0604030504040204" pitchFamily="50" charset="-128"/>
              <a:ea typeface="メイリオ" panose="020B0604030504040204" pitchFamily="50" charset="-128"/>
            </a:endParaRPr>
          </a:p>
          <a:p>
            <a:pPr>
              <a:buNone/>
            </a:pPr>
            <a:r>
              <a:rPr lang="en-US" altLang="ja-JP" sz="1100" b="1" dirty="0">
                <a:latin typeface="メイリオ" panose="020B0604030504040204" pitchFamily="50" charset="-128"/>
                <a:ea typeface="メイリオ" panose="020B0604030504040204" pitchFamily="50" charset="-128"/>
              </a:rPr>
              <a:t>2. </a:t>
            </a:r>
            <a:r>
              <a:rPr lang="ja-JP" altLang="en-US" sz="1100" b="1" dirty="0">
                <a:latin typeface="メイリオ" panose="020B0604030504040204" pitchFamily="50" charset="-128"/>
                <a:ea typeface="メイリオ" panose="020B0604030504040204" pitchFamily="50" charset="-128"/>
              </a:rPr>
              <a:t>データ正規化</a:t>
            </a:r>
          </a:p>
          <a:p>
            <a:pPr>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工場ごとに異なる装置</a:t>
            </a:r>
            <a:r>
              <a:rPr lang="en-US" altLang="ja-JP" sz="1100" dirty="0">
                <a:latin typeface="メイリオ" panose="020B0604030504040204" pitchFamily="50" charset="-128"/>
                <a:ea typeface="メイリオ" panose="020B0604030504040204" pitchFamily="50" charset="-128"/>
              </a:rPr>
              <a:t>ID</a:t>
            </a:r>
            <a:r>
              <a:rPr lang="ja-JP" altLang="en-US" sz="1100" dirty="0">
                <a:latin typeface="メイリオ" panose="020B0604030504040204" pitchFamily="50" charset="-128"/>
                <a:ea typeface="メイリオ" panose="020B0604030504040204" pitchFamily="50" charset="-128"/>
              </a:rPr>
              <a:t>、レシピ名、測定項目を共通のフォーマットに変換。</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意味</a:t>
            </a:r>
            <a:r>
              <a:rPr lang="ja-JP" altLang="en-US" sz="11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正規化</a:t>
            </a:r>
            <a:r>
              <a:rPr lang="ja-JP" altLang="en-US" sz="1100" dirty="0">
                <a:latin typeface="メイリオ" panose="020B0604030504040204" pitchFamily="50" charset="-128"/>
                <a:ea typeface="メイリオ" panose="020B0604030504040204" pitchFamily="50" charset="-128"/>
              </a:rPr>
              <a:t>：同じ意味を持つデータを一貫した表現に揃えること</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例</a:t>
            </a:r>
            <a:r>
              <a:rPr lang="ja-JP" altLang="en-US" sz="1100" dirty="0">
                <a:latin typeface="メイリオ" panose="020B0604030504040204" pitchFamily="50" charset="-128"/>
                <a:ea typeface="メイリオ" panose="020B0604030504040204" pitchFamily="50" charset="-128"/>
              </a:rPr>
              <a:t>：「露光機</a:t>
            </a:r>
            <a:r>
              <a:rPr lang="en-US" altLang="ja-JP" sz="1100" dirty="0">
                <a:latin typeface="メイリオ" panose="020B0604030504040204" pitchFamily="50" charset="-128"/>
                <a:ea typeface="メイリオ" panose="020B0604030504040204" pitchFamily="50" charset="-128"/>
              </a:rPr>
              <a:t>_A</a:t>
            </a:r>
            <a:r>
              <a:rPr lang="ja-JP" altLang="en-US" sz="1100" dirty="0">
                <a:latin typeface="メイリオ" panose="020B0604030504040204" pitchFamily="50" charset="-128"/>
                <a:ea typeface="メイリオ" panose="020B0604030504040204" pitchFamily="50" charset="-128"/>
              </a:rPr>
              <a:t>」と「</a:t>
            </a:r>
            <a:r>
              <a:rPr lang="en-US" altLang="ja-JP" sz="1100" dirty="0">
                <a:latin typeface="メイリオ" panose="020B0604030504040204" pitchFamily="50" charset="-128"/>
                <a:ea typeface="メイリオ" panose="020B0604030504040204" pitchFamily="50" charset="-128"/>
              </a:rPr>
              <a:t>Stepper01</a:t>
            </a:r>
            <a:r>
              <a:rPr lang="ja-JP" altLang="en-US" sz="1100" dirty="0">
                <a:latin typeface="メイリオ" panose="020B0604030504040204" pitchFamily="50" charset="-128"/>
                <a:ea typeface="メイリオ" panose="020B0604030504040204" pitchFamily="50" charset="-128"/>
              </a:rPr>
              <a:t>」を同じカテゴリに統合</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pPr>
              <a:buNone/>
            </a:pPr>
            <a:r>
              <a:rPr lang="en-US" altLang="ja-JP" sz="1100" b="1" dirty="0">
                <a:latin typeface="メイリオ" panose="020B0604030504040204" pitchFamily="50" charset="-128"/>
                <a:ea typeface="メイリオ" panose="020B0604030504040204" pitchFamily="50" charset="-128"/>
              </a:rPr>
              <a:t>3. </a:t>
            </a:r>
            <a:r>
              <a:rPr lang="ja-JP" altLang="en-US" sz="1100" b="1" dirty="0">
                <a:latin typeface="メイリオ" panose="020B0604030504040204" pitchFamily="50" charset="-128"/>
                <a:ea typeface="メイリオ" panose="020B0604030504040204" pitchFamily="50" charset="-128"/>
              </a:rPr>
              <a:t>分散学習（</a:t>
            </a:r>
            <a:r>
              <a:rPr lang="en-US" altLang="ja-JP" sz="1100" b="1" dirty="0">
                <a:latin typeface="メイリオ" panose="020B0604030504040204" pitchFamily="50" charset="-128"/>
                <a:ea typeface="メイリオ" panose="020B0604030504040204" pitchFamily="50" charset="-128"/>
              </a:rPr>
              <a:t>Federated Learning</a:t>
            </a:r>
            <a:r>
              <a:rPr lang="ja-JP" altLang="en-US" sz="1100" b="1"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各工場にデータを持たせたまま、モデル学習だけを共有して精度を高める方法。</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意味</a:t>
            </a:r>
            <a:r>
              <a:rPr lang="ja-JP" altLang="en-US" sz="11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en-US" altLang="ja-JP" sz="1100" b="1" dirty="0">
                <a:latin typeface="メイリオ" panose="020B0604030504040204" pitchFamily="50" charset="-128"/>
                <a:ea typeface="メイリオ" panose="020B0604030504040204" pitchFamily="50" charset="-128"/>
              </a:rPr>
              <a:t>Federated</a:t>
            </a:r>
            <a:r>
              <a:rPr lang="ja-JP" altLang="en-US" sz="1100" dirty="0">
                <a:latin typeface="メイリオ" panose="020B0604030504040204" pitchFamily="50" charset="-128"/>
                <a:ea typeface="メイリオ" panose="020B0604030504040204" pitchFamily="50" charset="-128"/>
              </a:rPr>
              <a:t>＝連合型。データは外に出さず、パラメータだけを集める</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利点</a:t>
            </a:r>
            <a:r>
              <a:rPr lang="ja-JP" altLang="en-US" sz="1100" dirty="0">
                <a:latin typeface="メイリオ" panose="020B0604030504040204" pitchFamily="50" charset="-128"/>
                <a:ea typeface="メイリオ" panose="020B0604030504040204" pitchFamily="50" charset="-128"/>
              </a:rPr>
              <a:t>：データ持ち出し禁止の環境でも全社的に</a:t>
            </a:r>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モデルを構築可能</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pPr>
              <a:buNone/>
            </a:pPr>
            <a:r>
              <a:rPr lang="en-US" altLang="ja-JP" sz="1100" b="1" dirty="0">
                <a:latin typeface="メイリオ" panose="020B0604030504040204" pitchFamily="50" charset="-128"/>
                <a:ea typeface="メイリオ" panose="020B0604030504040204" pitchFamily="50" charset="-128"/>
              </a:rPr>
              <a:t>4. </a:t>
            </a:r>
            <a:r>
              <a:rPr lang="ja-JP" altLang="en-US" sz="1100" b="1" dirty="0">
                <a:latin typeface="メイリオ" panose="020B0604030504040204" pitchFamily="50" charset="-128"/>
                <a:ea typeface="メイリオ" panose="020B0604030504040204" pitchFamily="50" charset="-128"/>
              </a:rPr>
              <a:t>クロスサイト解析</a:t>
            </a:r>
          </a:p>
          <a:p>
            <a:pPr>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複数拠点のデータを比較し、歩留まりの差を要因別に分解。</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例</a:t>
            </a:r>
            <a:r>
              <a:rPr lang="ja-JP" altLang="en-US" sz="11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同じ工程でも工場</a:t>
            </a:r>
            <a:r>
              <a:rPr lang="en-US" altLang="ja-JP" sz="1100" dirty="0">
                <a:latin typeface="メイリオ" panose="020B0604030504040204" pitchFamily="50" charset="-128"/>
                <a:ea typeface="メイリオ" panose="020B0604030504040204" pitchFamily="50" charset="-128"/>
              </a:rPr>
              <a:t>A</a:t>
            </a:r>
            <a:r>
              <a:rPr lang="ja-JP" altLang="en-US" sz="1100" dirty="0">
                <a:latin typeface="メイリオ" panose="020B0604030504040204" pitchFamily="50" charset="-128"/>
                <a:ea typeface="メイリオ" panose="020B0604030504040204" pitchFamily="50" charset="-128"/>
              </a:rPr>
              <a:t>は良品率</a:t>
            </a:r>
            <a:r>
              <a:rPr lang="en-US" altLang="ja-JP" sz="1100" dirty="0">
                <a:latin typeface="メイリオ" panose="020B0604030504040204" pitchFamily="50" charset="-128"/>
                <a:ea typeface="メイリオ" panose="020B0604030504040204" pitchFamily="50" charset="-128"/>
              </a:rPr>
              <a:t>99%</a:t>
            </a:r>
            <a:r>
              <a:rPr lang="ja-JP" altLang="en-US" sz="1100" dirty="0">
                <a:latin typeface="メイリオ" panose="020B0604030504040204" pitchFamily="50" charset="-128"/>
                <a:ea typeface="メイリオ" panose="020B0604030504040204" pitchFamily="50" charset="-128"/>
              </a:rPr>
              <a:t>、工場</a:t>
            </a:r>
            <a:r>
              <a:rPr lang="en-US" altLang="ja-JP" sz="1100" dirty="0">
                <a:latin typeface="メイリオ" panose="020B0604030504040204" pitchFamily="50" charset="-128"/>
                <a:ea typeface="メイリオ" panose="020B0604030504040204" pitchFamily="50" charset="-128"/>
              </a:rPr>
              <a:t>B</a:t>
            </a:r>
            <a:r>
              <a:rPr lang="ja-JP" altLang="en-US" sz="1100" dirty="0">
                <a:latin typeface="メイリオ" panose="020B0604030504040204" pitchFamily="50" charset="-128"/>
                <a:ea typeface="メイリオ" panose="020B0604030504040204" pitchFamily="50" charset="-128"/>
              </a:rPr>
              <a:t>は</a:t>
            </a:r>
            <a:r>
              <a:rPr lang="en-US" altLang="ja-JP" sz="1100" dirty="0">
                <a:latin typeface="メイリオ" panose="020B0604030504040204" pitchFamily="50" charset="-128"/>
                <a:ea typeface="メイリオ" panose="020B0604030504040204" pitchFamily="50" charset="-128"/>
              </a:rPr>
              <a:t>95% → </a:t>
            </a:r>
            <a:r>
              <a:rPr lang="ja-JP" altLang="en-US" sz="1100" dirty="0">
                <a:latin typeface="メイリオ" panose="020B0604030504040204" pitchFamily="50" charset="-128"/>
                <a:ea typeface="メイリオ" panose="020B0604030504040204" pitchFamily="50" charset="-128"/>
              </a:rPr>
              <a:t>使っているレシピ条件の違いを特定</a:t>
            </a:r>
          </a:p>
          <a:p>
            <a:pPr marL="742950" lvl="1" indent="-2857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材料ロット差や装置メンテナンス周期の影響を横断評価</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pPr>
              <a:buNone/>
            </a:pPr>
            <a:r>
              <a:rPr lang="en-US" altLang="ja-JP" sz="1100" b="1" dirty="0">
                <a:latin typeface="メイリオ" panose="020B0604030504040204" pitchFamily="50" charset="-128"/>
                <a:ea typeface="メイリオ" panose="020B0604030504040204" pitchFamily="50" charset="-128"/>
              </a:rPr>
              <a:t>5. </a:t>
            </a:r>
            <a:r>
              <a:rPr lang="ja-JP" altLang="en-US" sz="1100" b="1" dirty="0">
                <a:latin typeface="メイリオ" panose="020B0604030504040204" pitchFamily="50" charset="-128"/>
                <a:ea typeface="メイリオ" panose="020B0604030504040204" pitchFamily="50" charset="-128"/>
              </a:rPr>
              <a:t>マルチクラウド連携</a:t>
            </a:r>
          </a:p>
          <a:p>
            <a:pPr>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rPr>
              <a:t>海外拠点や子会社が異なるクラウド環境を使っている場合、</a:t>
            </a:r>
            <a:r>
              <a:rPr lang="en-US" altLang="ja-JP" sz="1100" dirty="0">
                <a:latin typeface="メイリオ" panose="020B0604030504040204" pitchFamily="50" charset="-128"/>
                <a:ea typeface="メイリオ" panose="020B0604030504040204" pitchFamily="50" charset="-128"/>
              </a:rPr>
              <a:t>API</a:t>
            </a:r>
            <a:r>
              <a:rPr lang="ja-JP" altLang="en-US" sz="1100" dirty="0">
                <a:latin typeface="メイリオ" panose="020B0604030504040204" pitchFamily="50" charset="-128"/>
                <a:ea typeface="メイリオ" panose="020B0604030504040204" pitchFamily="50" charset="-128"/>
              </a:rPr>
              <a:t>でつなぎ込む。</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意味</a:t>
            </a:r>
            <a:r>
              <a:rPr lang="ja-JP" altLang="en-US" sz="1100" dirty="0">
                <a:latin typeface="メイリオ" panose="020B0604030504040204" pitchFamily="50" charset="-128"/>
                <a:ea typeface="メイリオ" panose="020B0604030504040204" pitchFamily="50" charset="-128"/>
              </a:rPr>
              <a:t>：</a:t>
            </a:r>
          </a:p>
          <a:p>
            <a:pPr marL="742950" lvl="1" indent="-285750">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マルチクラウド</a:t>
            </a:r>
            <a:r>
              <a:rPr lang="ja-JP" altLang="en-US" sz="1100" dirty="0">
                <a:latin typeface="メイリオ" panose="020B0604030504040204" pitchFamily="50" charset="-128"/>
                <a:ea typeface="メイリオ" panose="020B0604030504040204" pitchFamily="50" charset="-128"/>
              </a:rPr>
              <a:t>＝複数のクラウドサービス（</a:t>
            </a:r>
            <a:r>
              <a:rPr lang="en-US" altLang="ja-JP" sz="1100" dirty="0">
                <a:latin typeface="メイリオ" panose="020B0604030504040204" pitchFamily="50" charset="-128"/>
                <a:ea typeface="メイリオ" panose="020B0604030504040204" pitchFamily="50" charset="-128"/>
              </a:rPr>
              <a:t>AWS/GCP/Azure</a:t>
            </a:r>
            <a:r>
              <a:rPr lang="ja-JP" altLang="en-US" sz="1100" dirty="0">
                <a:latin typeface="メイリオ" panose="020B0604030504040204" pitchFamily="50" charset="-128"/>
                <a:ea typeface="メイリオ" panose="020B0604030504040204" pitchFamily="50" charset="-128"/>
              </a:rPr>
              <a:t>等）を組み合わせて利用</a:t>
            </a:r>
          </a:p>
          <a:p>
            <a:pPr>
              <a:buFont typeface="Arial" panose="020B0604020202020204" pitchFamily="34" charset="0"/>
              <a:buChar char="•"/>
            </a:pPr>
            <a:r>
              <a:rPr lang="ja-JP" altLang="en-US" sz="1100" b="1" dirty="0">
                <a:latin typeface="メイリオ" panose="020B0604030504040204" pitchFamily="50" charset="-128"/>
                <a:ea typeface="メイリオ" panose="020B0604030504040204" pitchFamily="50" charset="-128"/>
              </a:rPr>
              <a:t>利点</a:t>
            </a:r>
            <a:r>
              <a:rPr lang="ja-JP" altLang="en-US" sz="1100" dirty="0">
                <a:latin typeface="メイリオ" panose="020B0604030504040204" pitchFamily="50" charset="-128"/>
                <a:ea typeface="メイリオ" panose="020B0604030504040204" pitchFamily="50" charset="-128"/>
              </a:rPr>
              <a:t>：各地域の規制（データローカライゼーション）に対応しつつ、全社での解析を可能にする</a:t>
            </a:r>
            <a:endParaRPr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33279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96450-E91C-D753-34B3-1AABAC2D4E6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CDE49D8-946C-AA9D-D2F9-D037ED264F49}"/>
              </a:ext>
            </a:extLst>
          </p:cNvPr>
          <p:cNvSpPr txBox="1"/>
          <p:nvPr/>
        </p:nvSpPr>
        <p:spPr>
          <a:xfrm>
            <a:off x="215217" y="147482"/>
            <a:ext cx="5335115"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２．</a:t>
            </a: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が自律的に歩留まりを最適化する基盤</a:t>
            </a:r>
            <a:endParaRPr lang="en-US" altLang="ja-JP" sz="20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58DF046E-4954-1296-CC01-D52D41BB3B3C}"/>
              </a:ext>
            </a:extLst>
          </p:cNvPr>
          <p:cNvSpPr txBox="1"/>
          <p:nvPr/>
        </p:nvSpPr>
        <p:spPr>
          <a:xfrm>
            <a:off x="528982" y="708211"/>
            <a:ext cx="11331324" cy="1877437"/>
          </a:xfrm>
          <a:prstGeom prst="rect">
            <a:avLst/>
          </a:prstGeom>
          <a:noFill/>
        </p:spPr>
        <p:txBody>
          <a:bodyPr wrap="square" rtlCol="0">
            <a:spAutoFit/>
          </a:bodyPr>
          <a:lstStyle/>
          <a:p>
            <a:pPr>
              <a:buNone/>
            </a:pPr>
            <a:r>
              <a:rPr lang="ja-JP" altLang="en-US" b="1" dirty="0">
                <a:latin typeface="メイリオ" panose="020B0604030504040204" pitchFamily="50" charset="-128"/>
                <a:ea typeface="メイリオ" panose="020B0604030504040204" pitchFamily="50" charset="-128"/>
              </a:rPr>
              <a:t>自律型歩留まり最適化（</a:t>
            </a:r>
            <a:r>
              <a:rPr lang="en-US" altLang="ja-JP" b="1" dirty="0">
                <a:latin typeface="メイリオ" panose="020B0604030504040204" pitchFamily="50" charset="-128"/>
                <a:ea typeface="メイリオ" panose="020B0604030504040204" pitchFamily="50" charset="-128"/>
              </a:rPr>
              <a:t>Autonomous Yield Optimization</a:t>
            </a:r>
            <a:r>
              <a:rPr lang="ja-JP" altLang="en-US" b="1"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現状：歩留まり要因特定はデータサイエンティスト＋現場エンジニアの議論が必須。</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将来：</a:t>
            </a: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が原因候補を提案するだけでなく、実際に工程条件を最適化→制御系にフィードバックするまでを半自動で行う。</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例：</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仮想計測（</a:t>
            </a:r>
            <a:r>
              <a:rPr lang="en-US" altLang="ja-JP" sz="1600" dirty="0">
                <a:latin typeface="メイリオ" panose="020B0604030504040204" pitchFamily="50" charset="-128"/>
                <a:ea typeface="メイリオ" panose="020B0604030504040204" pitchFamily="50" charset="-128"/>
              </a:rPr>
              <a:t>Virtual Metrology</a:t>
            </a:r>
            <a:r>
              <a:rPr lang="ja-JP" altLang="en-US" sz="1600" dirty="0">
                <a:latin typeface="メイリオ" panose="020B0604030504040204" pitchFamily="50" charset="-128"/>
                <a:ea typeface="メイリオ" panose="020B0604030504040204" pitchFamily="50" charset="-128"/>
              </a:rPr>
              <a:t>）＋シミュレーション結果を基に処方条件を自動更新。</a:t>
            </a:r>
          </a:p>
          <a:p>
            <a:pPr marL="742950" lvl="1" indent="-285750">
              <a:buFont typeface="Arial" panose="020B0604020202020204" pitchFamily="34" charset="0"/>
              <a:buChar char="•"/>
            </a:pPr>
            <a:r>
              <a:rPr lang="en-US" altLang="ja-JP" sz="1600" dirty="0">
                <a:latin typeface="メイリオ" panose="020B0604030504040204" pitchFamily="50" charset="-128"/>
                <a:ea typeface="メイリオ" panose="020B0604030504040204" pitchFamily="50" charset="-128"/>
              </a:rPr>
              <a:t>PLC</a:t>
            </a:r>
            <a:r>
              <a:rPr lang="ja-JP" altLang="en-US" sz="1600" dirty="0">
                <a:latin typeface="メイリオ" panose="020B0604030504040204" pitchFamily="50" charset="-128"/>
                <a:ea typeface="メイリオ" panose="020B0604030504040204" pitchFamily="50" charset="-128"/>
              </a:rPr>
              <a:t>や装置制御に「推奨パラメータ」をリアルタイム投入。</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必要技術：強化学習（</a:t>
            </a:r>
            <a:r>
              <a:rPr lang="en-US" altLang="ja-JP" sz="1600" dirty="0">
                <a:latin typeface="メイリオ" panose="020B0604030504040204" pitchFamily="50" charset="-128"/>
                <a:ea typeface="メイリオ" panose="020B0604030504040204" pitchFamily="50" charset="-128"/>
              </a:rPr>
              <a:t>Reinforcement Learning</a:t>
            </a:r>
            <a:r>
              <a:rPr lang="ja-JP" altLang="en-US" sz="1600" dirty="0">
                <a:latin typeface="メイリオ" panose="020B0604030504040204" pitchFamily="50" charset="-128"/>
                <a:ea typeface="メイリオ" panose="020B0604030504040204" pitchFamily="50" charset="-128"/>
              </a:rPr>
              <a:t>）、安全制御</a:t>
            </a: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Explainable RL</a:t>
            </a:r>
            <a:r>
              <a:rPr lang="ja-JP" altLang="en-US" sz="1600" dirty="0">
                <a:latin typeface="メイリオ" panose="020B0604030504040204" pitchFamily="50" charset="-128"/>
                <a:ea typeface="メイリオ" panose="020B0604030504040204" pitchFamily="50" charset="-128"/>
              </a:rPr>
              <a:t>。</a:t>
            </a:r>
          </a:p>
        </p:txBody>
      </p:sp>
      <p:sp>
        <p:nvSpPr>
          <p:cNvPr id="3" name="テキスト ボックス 2">
            <a:extLst>
              <a:ext uri="{FF2B5EF4-FFF2-40B4-BE49-F238E27FC236}">
                <a16:creationId xmlns:a16="http://schemas.microsoft.com/office/drawing/2014/main" id="{89092BFE-AD76-B223-1E13-5D166E4270A8}"/>
              </a:ext>
            </a:extLst>
          </p:cNvPr>
          <p:cNvSpPr txBox="1"/>
          <p:nvPr/>
        </p:nvSpPr>
        <p:spPr>
          <a:xfrm>
            <a:off x="528982" y="4443147"/>
            <a:ext cx="5567018" cy="1200329"/>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メリット</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改善スピードの高速化：エンジニアが数週間かけていた条件最適化を数時間</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数日で実現。</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ヒューマンエラー削減：</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が根拠を提示して意思決定を補助。</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歩留まり安定化：装置の微小な変動にもリアルタイムに対応。</a:t>
            </a:r>
          </a:p>
        </p:txBody>
      </p:sp>
      <p:sp>
        <p:nvSpPr>
          <p:cNvPr id="4" name="テキスト ボックス 3">
            <a:extLst>
              <a:ext uri="{FF2B5EF4-FFF2-40B4-BE49-F238E27FC236}">
                <a16:creationId xmlns:a16="http://schemas.microsoft.com/office/drawing/2014/main" id="{BE4EB80A-8E12-C571-D88E-0B5340C48F62}"/>
              </a:ext>
            </a:extLst>
          </p:cNvPr>
          <p:cNvSpPr txBox="1"/>
          <p:nvPr/>
        </p:nvSpPr>
        <p:spPr>
          <a:xfrm>
            <a:off x="6468100" y="4443146"/>
            <a:ext cx="5186018" cy="1415772"/>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課題</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データと制御の安全性（誤制御をどう防ぐか）</a:t>
            </a:r>
          </a:p>
          <a:p>
            <a:pPr>
              <a:buFont typeface="Arial" panose="020B0604020202020204" pitchFamily="34" charset="0"/>
              <a:buChar char="•"/>
            </a:pP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の意思決定の透明性（なぜその条件が良いのかを説明可能にする必要）</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導入ステップ：いきなり完全自律は難しいため、段階的導入（推奨条件提示 → 半自動制御 → 完全自律</a:t>
            </a:r>
            <a:r>
              <a:rPr lang="en-US" altLang="ja-JP" sz="1400" dirty="0">
                <a:latin typeface="メイリオ" panose="020B0604030504040204" pitchFamily="50" charset="-128"/>
                <a:ea typeface="メイリオ" panose="020B0604030504040204" pitchFamily="50" charset="-128"/>
              </a:rPr>
              <a:t>)</a:t>
            </a:r>
            <a:endParaRPr lang="ja-JP" altLang="en-US" sz="14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12A128FD-0B51-3F89-3064-314C3F134BC4}"/>
              </a:ext>
            </a:extLst>
          </p:cNvPr>
          <p:cNvSpPr txBox="1"/>
          <p:nvPr/>
        </p:nvSpPr>
        <p:spPr>
          <a:xfrm>
            <a:off x="528982" y="2890391"/>
            <a:ext cx="11125136" cy="830997"/>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＊制御系との統合</a:t>
            </a:r>
          </a:p>
          <a:p>
            <a:pPr>
              <a:buFont typeface="Arial" panose="020B0604020202020204" pitchFamily="34" charset="0"/>
              <a:buChar char="•"/>
            </a:pP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が導出した「推奨条件」を</a:t>
            </a:r>
            <a:r>
              <a:rPr lang="ja-JP" altLang="en-US" sz="1600" b="1" dirty="0">
                <a:latin typeface="メイリオ" panose="020B0604030504040204" pitchFamily="50" charset="-128"/>
                <a:ea typeface="メイリオ" panose="020B0604030504040204" pitchFamily="50" charset="-128"/>
              </a:rPr>
              <a:t>装置制御にフィードバック</a:t>
            </a:r>
            <a:r>
              <a:rPr lang="ja-JP" altLang="en-US" sz="1600"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完全自動ではなく「エンジニア承認付き」モードから始まり、徐々に自律性を高めていく。</a:t>
            </a:r>
          </a:p>
        </p:txBody>
      </p:sp>
    </p:spTree>
    <p:extLst>
      <p:ext uri="{BB962C8B-B14F-4D97-AF65-F5344CB8AC3E}">
        <p14:creationId xmlns:p14="http://schemas.microsoft.com/office/powerpoint/2010/main" val="3577174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DA023-83C1-9807-B88D-58156B96720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3FD11A9-71DA-961C-0A86-92EF3089A71E}"/>
              </a:ext>
            </a:extLst>
          </p:cNvPr>
          <p:cNvSpPr txBox="1"/>
          <p:nvPr/>
        </p:nvSpPr>
        <p:spPr>
          <a:xfrm>
            <a:off x="215217" y="147482"/>
            <a:ext cx="5335115"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２．</a:t>
            </a: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が自律的に歩留まりを最適化する基盤</a:t>
            </a:r>
            <a:endParaRPr lang="en-US" altLang="ja-JP" sz="20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5BEAB3E5-3763-A47B-4BB1-A6C84F71B93D}"/>
              </a:ext>
            </a:extLst>
          </p:cNvPr>
          <p:cNvSpPr txBox="1"/>
          <p:nvPr/>
        </p:nvSpPr>
        <p:spPr>
          <a:xfrm>
            <a:off x="691468" y="759038"/>
            <a:ext cx="8871632" cy="3693319"/>
          </a:xfrm>
          <a:prstGeom prst="rect">
            <a:avLst/>
          </a:prstGeom>
          <a:noFill/>
        </p:spPr>
        <p:txBody>
          <a:bodyPr wrap="square">
            <a:spAutoFit/>
          </a:bodyPr>
          <a:lstStyle/>
          <a:p>
            <a:r>
              <a:rPr lang="ja-JP" altLang="en-US" sz="1400" b="1" dirty="0">
                <a:latin typeface="メイリオ" panose="020B0604030504040204" pitchFamily="50" charset="-128"/>
                <a:ea typeface="メイリオ" panose="020B0604030504040204" pitchFamily="50" charset="-128"/>
              </a:rPr>
              <a:t>構成要素と意味</a:t>
            </a:r>
          </a:p>
          <a:p>
            <a:r>
              <a:rPr lang="en-US" altLang="ja-JP" sz="1100" b="1" dirty="0">
                <a:latin typeface="メイリオ" panose="020B0604030504040204" pitchFamily="50" charset="-128"/>
                <a:ea typeface="メイリオ" panose="020B0604030504040204" pitchFamily="50" charset="-128"/>
              </a:rPr>
              <a:t>1. </a:t>
            </a:r>
            <a:r>
              <a:rPr lang="ja-JP" altLang="en-US" sz="1100" b="1" dirty="0">
                <a:latin typeface="メイリオ" panose="020B0604030504040204" pitchFamily="50" charset="-128"/>
                <a:ea typeface="メイリオ" panose="020B0604030504040204" pitchFamily="50" charset="-128"/>
              </a:rPr>
              <a:t>仮想計測（</a:t>
            </a:r>
            <a:r>
              <a:rPr lang="en-US" altLang="ja-JP" sz="1100" b="1" dirty="0">
                <a:latin typeface="メイリオ" panose="020B0604030504040204" pitchFamily="50" charset="-128"/>
                <a:ea typeface="メイリオ" panose="020B0604030504040204" pitchFamily="50" charset="-128"/>
              </a:rPr>
              <a:t>Virtual Metrology, VM</a:t>
            </a:r>
            <a:r>
              <a:rPr lang="ja-JP" altLang="en-US" sz="1100" b="1" dirty="0">
                <a:latin typeface="メイリオ" panose="020B0604030504040204" pitchFamily="50" charset="-128"/>
                <a:ea typeface="メイリオ" panose="020B0604030504040204" pitchFamily="50" charset="-128"/>
              </a:rPr>
              <a:t>）</a:t>
            </a:r>
          </a:p>
          <a:p>
            <a:r>
              <a:rPr lang="ja-JP" altLang="en-US" sz="1100" dirty="0">
                <a:latin typeface="メイリオ" panose="020B0604030504040204" pitchFamily="50" charset="-128"/>
                <a:ea typeface="メイリオ" panose="020B0604030504040204" pitchFamily="50" charset="-128"/>
              </a:rPr>
              <a:t>装置のセンサーデータから「実際に測っていない品質指標」を推定する技術。</a:t>
            </a:r>
          </a:p>
          <a:p>
            <a:r>
              <a:rPr lang="ja-JP" altLang="en-US" sz="1100" dirty="0">
                <a:latin typeface="メイリオ" panose="020B0604030504040204" pitchFamily="50" charset="-128"/>
                <a:ea typeface="メイリオ" panose="020B0604030504040204" pitchFamily="50" charset="-128"/>
              </a:rPr>
              <a:t>例：膜厚や</a:t>
            </a:r>
            <a:r>
              <a:rPr lang="en-US" altLang="ja-JP" sz="1100" dirty="0">
                <a:latin typeface="メイリオ" panose="020B0604030504040204" pitchFamily="50" charset="-128"/>
                <a:ea typeface="メイリオ" panose="020B0604030504040204" pitchFamily="50" charset="-128"/>
              </a:rPr>
              <a:t>CD</a:t>
            </a:r>
            <a:r>
              <a:rPr lang="ja-JP" altLang="en-US" sz="1100" dirty="0">
                <a:latin typeface="メイリオ" panose="020B0604030504040204" pitchFamily="50" charset="-128"/>
                <a:ea typeface="メイリオ" panose="020B0604030504040204" pitchFamily="50" charset="-128"/>
              </a:rPr>
              <a:t>寸法を検査前に推定。</a:t>
            </a:r>
          </a:p>
          <a:p>
            <a:r>
              <a:rPr lang="ja-JP" altLang="en-US" sz="1100" dirty="0">
                <a:latin typeface="メイリオ" panose="020B0604030504040204" pitchFamily="50" charset="-128"/>
                <a:ea typeface="メイリオ" panose="020B0604030504040204" pitchFamily="50" charset="-128"/>
              </a:rPr>
              <a:t>自律最適化では、これをリアルタイムで活用し工程の先読みを行う。</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2. </a:t>
            </a:r>
            <a:r>
              <a:rPr lang="ja-JP" altLang="en-US" sz="1100" b="1" dirty="0">
                <a:latin typeface="メイリオ" panose="020B0604030504040204" pitchFamily="50" charset="-128"/>
                <a:ea typeface="メイリオ" panose="020B0604030504040204" pitchFamily="50" charset="-128"/>
              </a:rPr>
              <a:t>因果推論</a:t>
            </a:r>
            <a:r>
              <a:rPr lang="en-US" altLang="ja-JP" sz="1100" b="1" dirty="0">
                <a:latin typeface="メイリオ" panose="020B0604030504040204" pitchFamily="50" charset="-128"/>
                <a:ea typeface="メイリオ" panose="020B0604030504040204" pitchFamily="50" charset="-128"/>
              </a:rPr>
              <a:t>AI</a:t>
            </a:r>
          </a:p>
          <a:p>
            <a:r>
              <a:rPr lang="ja-JP" altLang="en-US" sz="1100" dirty="0">
                <a:latin typeface="メイリオ" panose="020B0604030504040204" pitchFamily="50" charset="-128"/>
                <a:ea typeface="メイリオ" panose="020B0604030504040204" pitchFamily="50" charset="-128"/>
              </a:rPr>
              <a:t>相関ではなく「どの要因を変えると歩留まりが改善するか」を特定する仕組み。</a:t>
            </a:r>
          </a:p>
          <a:p>
            <a:r>
              <a:rPr lang="en-US" altLang="ja-JP" sz="1100" dirty="0">
                <a:latin typeface="メイリオ" panose="020B0604030504040204" pitchFamily="50" charset="-128"/>
                <a:ea typeface="メイリオ" panose="020B0604030504040204" pitchFamily="50" charset="-128"/>
              </a:rPr>
              <a:t>Explainable AI</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SHAP, Causal ML</a:t>
            </a:r>
            <a:r>
              <a:rPr lang="ja-JP" altLang="en-US" sz="1100" dirty="0">
                <a:latin typeface="メイリオ" panose="020B0604030504040204" pitchFamily="50" charset="-128"/>
                <a:ea typeface="メイリオ" panose="020B0604030504040204" pitchFamily="50" charset="-128"/>
              </a:rPr>
              <a:t>）を活用。</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3. </a:t>
            </a:r>
            <a:r>
              <a:rPr lang="ja-JP" altLang="en-US" sz="1100" b="1" dirty="0">
                <a:latin typeface="メイリオ" panose="020B0604030504040204" pitchFamily="50" charset="-128"/>
                <a:ea typeface="メイリオ" panose="020B0604030504040204" pitchFamily="50" charset="-128"/>
              </a:rPr>
              <a:t>最適化アルゴリズム（強化学習</a:t>
            </a:r>
            <a:r>
              <a:rPr lang="en-US" altLang="ja-JP" sz="1100" b="1" dirty="0">
                <a:latin typeface="メイリオ" panose="020B0604030504040204" pitchFamily="50" charset="-128"/>
                <a:ea typeface="メイリオ" panose="020B0604030504040204" pitchFamily="50" charset="-128"/>
              </a:rPr>
              <a:t>, RL</a:t>
            </a:r>
            <a:r>
              <a:rPr lang="ja-JP" altLang="en-US" sz="1100" b="1" dirty="0">
                <a:latin typeface="メイリオ" panose="020B0604030504040204" pitchFamily="50" charset="-128"/>
                <a:ea typeface="メイリオ" panose="020B0604030504040204" pitchFamily="50" charset="-128"/>
              </a:rPr>
              <a:t>）</a:t>
            </a:r>
          </a:p>
          <a:p>
            <a:r>
              <a:rPr lang="ja-JP" altLang="en-US" sz="1100" dirty="0">
                <a:latin typeface="メイリオ" panose="020B0604030504040204" pitchFamily="50" charset="-128"/>
                <a:ea typeface="メイリオ" panose="020B0604030504040204" pitchFamily="50" charset="-128"/>
              </a:rPr>
              <a:t>**強化学習（</a:t>
            </a:r>
            <a:r>
              <a:rPr lang="en-US" altLang="ja-JP" sz="1100" dirty="0">
                <a:latin typeface="メイリオ" panose="020B0604030504040204" pitchFamily="50" charset="-128"/>
                <a:ea typeface="メイリオ" panose="020B0604030504040204" pitchFamily="50" charset="-128"/>
              </a:rPr>
              <a:t>Reinforcement Learning, RL</a:t>
            </a:r>
            <a:r>
              <a:rPr lang="ja-JP" altLang="en-US" sz="1100" dirty="0">
                <a:latin typeface="メイリオ" panose="020B0604030504040204" pitchFamily="50" charset="-128"/>
                <a:ea typeface="メイリオ" panose="020B0604030504040204" pitchFamily="50" charset="-128"/>
              </a:rPr>
              <a:t>）**を用いて「どの条件を設定すれば歩留まりが最も高くなるか」を学習。</a:t>
            </a:r>
          </a:p>
          <a:p>
            <a:r>
              <a:rPr lang="ja-JP" altLang="en-US" sz="1100" dirty="0">
                <a:latin typeface="メイリオ" panose="020B0604030504040204" pitchFamily="50" charset="-128"/>
                <a:ea typeface="メイリオ" panose="020B0604030504040204" pitchFamily="50" charset="-128"/>
              </a:rPr>
              <a:t>実験やシミュレーションを繰り返して、最適な処方を導出。</a:t>
            </a:r>
          </a:p>
          <a:p>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4. </a:t>
            </a:r>
            <a:r>
              <a:rPr lang="ja-JP" altLang="en-US" sz="1100" b="1" dirty="0">
                <a:latin typeface="メイリオ" panose="020B0604030504040204" pitchFamily="50" charset="-128"/>
                <a:ea typeface="メイリオ" panose="020B0604030504040204" pitchFamily="50" charset="-128"/>
              </a:rPr>
              <a:t>制御系との統合</a:t>
            </a:r>
          </a:p>
          <a:p>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が導出した「推奨条件」を</a:t>
            </a:r>
            <a:r>
              <a:rPr lang="ja-JP" altLang="en-US" sz="1100" b="1" dirty="0">
                <a:latin typeface="メイリオ" panose="020B0604030504040204" pitchFamily="50" charset="-128"/>
                <a:ea typeface="メイリオ" panose="020B0604030504040204" pitchFamily="50" charset="-128"/>
              </a:rPr>
              <a:t>装置制御にフィードバック</a:t>
            </a:r>
            <a:r>
              <a:rPr lang="ja-JP" altLang="en-US" sz="1100" dirty="0">
                <a:latin typeface="メイリオ" panose="020B0604030504040204" pitchFamily="50" charset="-128"/>
                <a:ea typeface="メイリオ" panose="020B0604030504040204" pitchFamily="50" charset="-128"/>
              </a:rPr>
              <a:t>。</a:t>
            </a:r>
          </a:p>
          <a:p>
            <a:r>
              <a:rPr lang="ja-JP" altLang="en-US" sz="1100" dirty="0">
                <a:latin typeface="メイリオ" panose="020B0604030504040204" pitchFamily="50" charset="-128"/>
                <a:ea typeface="メイリオ" panose="020B0604030504040204" pitchFamily="50" charset="-128"/>
              </a:rPr>
              <a:t>完全自動ではなく「エンジニア承認付き」モードから始まり、徐々に自律性を高めていく。</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5. </a:t>
            </a:r>
            <a:r>
              <a:rPr lang="ja-JP" altLang="en-US" sz="1100" b="1" dirty="0">
                <a:latin typeface="メイリオ" panose="020B0604030504040204" pitchFamily="50" charset="-128"/>
                <a:ea typeface="メイリオ" panose="020B0604030504040204" pitchFamily="50" charset="-128"/>
              </a:rPr>
              <a:t>継続学習と</a:t>
            </a:r>
            <a:r>
              <a:rPr lang="en-US" altLang="ja-JP" sz="1100" b="1" dirty="0" err="1">
                <a:latin typeface="メイリオ" panose="020B0604030504040204" pitchFamily="50" charset="-128"/>
                <a:ea typeface="メイリオ" panose="020B0604030504040204" pitchFamily="50" charset="-128"/>
              </a:rPr>
              <a:t>MLOps</a:t>
            </a:r>
            <a:endParaRPr lang="en-US" altLang="ja-JP" sz="1100" b="1" dirty="0">
              <a:latin typeface="メイリオ" panose="020B0604030504040204" pitchFamily="50" charset="-128"/>
              <a:ea typeface="メイリオ" panose="020B0604030504040204" pitchFamily="50" charset="-128"/>
            </a:endParaRPr>
          </a:p>
          <a:p>
            <a:r>
              <a:rPr lang="ja-JP" altLang="en-US" sz="1100" dirty="0">
                <a:latin typeface="メイリオ" panose="020B0604030504040204" pitchFamily="50" charset="-128"/>
                <a:ea typeface="メイリオ" panose="020B0604030504040204" pitchFamily="50" charset="-128"/>
              </a:rPr>
              <a:t>歩留まりモデルは時間とともに劣化（データドリフト）するため、継続的に再学習。</a:t>
            </a:r>
          </a:p>
          <a:p>
            <a:r>
              <a:rPr lang="en-US" altLang="ja-JP" sz="1100" dirty="0" err="1">
                <a:latin typeface="メイリオ" panose="020B0604030504040204" pitchFamily="50" charset="-128"/>
                <a:ea typeface="メイリオ" panose="020B0604030504040204" pitchFamily="50" charset="-128"/>
              </a:rPr>
              <a:t>MLOps</a:t>
            </a:r>
            <a:r>
              <a:rPr lang="ja-JP" altLang="en-US" sz="1100" dirty="0">
                <a:latin typeface="メイリオ" panose="020B0604030504040204" pitchFamily="50" charset="-128"/>
                <a:ea typeface="メイリオ" panose="020B0604030504040204" pitchFamily="50" charset="-128"/>
              </a:rPr>
              <a:t>（</a:t>
            </a:r>
            <a:r>
              <a:rPr lang="en-US" altLang="ja-JP" sz="1100" dirty="0">
                <a:latin typeface="メイリオ" panose="020B0604030504040204" pitchFamily="50" charset="-128"/>
                <a:ea typeface="メイリオ" panose="020B0604030504040204" pitchFamily="50" charset="-128"/>
              </a:rPr>
              <a:t>ML</a:t>
            </a:r>
            <a:r>
              <a:rPr lang="ja-JP" altLang="en-US" sz="1100" dirty="0">
                <a:latin typeface="メイリオ" panose="020B0604030504040204" pitchFamily="50" charset="-128"/>
                <a:ea typeface="メイリオ" panose="020B0604030504040204" pitchFamily="50" charset="-128"/>
              </a:rPr>
              <a:t>の運用基盤）でモデルを監視・更新。</a:t>
            </a:r>
          </a:p>
        </p:txBody>
      </p:sp>
    </p:spTree>
    <p:extLst>
      <p:ext uri="{BB962C8B-B14F-4D97-AF65-F5344CB8AC3E}">
        <p14:creationId xmlns:p14="http://schemas.microsoft.com/office/powerpoint/2010/main" val="341943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817FD-F8B3-FECB-333D-5A6C97CD06D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6259B44-1675-4558-1EB0-2617F61A3AC6}"/>
              </a:ext>
            </a:extLst>
          </p:cNvPr>
          <p:cNvSpPr txBox="1"/>
          <p:nvPr/>
        </p:nvSpPr>
        <p:spPr>
          <a:xfrm>
            <a:off x="215217" y="147482"/>
            <a:ext cx="6571030"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３．マルチモーダル解析で“見えない要因”を掘り起こす</a:t>
            </a:r>
            <a:endParaRPr lang="en-US" altLang="ja-JP" sz="20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DAF52261-746A-176A-800C-F61606F38588}"/>
              </a:ext>
            </a:extLst>
          </p:cNvPr>
          <p:cNvSpPr txBox="1"/>
          <p:nvPr/>
        </p:nvSpPr>
        <p:spPr>
          <a:xfrm>
            <a:off x="528982" y="708211"/>
            <a:ext cx="11331324" cy="1661993"/>
          </a:xfrm>
          <a:prstGeom prst="rect">
            <a:avLst/>
          </a:prstGeom>
          <a:noFill/>
        </p:spPr>
        <p:txBody>
          <a:bodyPr wrap="square" rtlCol="0">
            <a:spAutoFit/>
          </a:bodyPr>
          <a:lstStyle/>
          <a:p>
            <a:pPr>
              <a:buNone/>
            </a:pPr>
            <a:r>
              <a:rPr lang="ja-JP" altLang="en-US" b="1" dirty="0">
                <a:latin typeface="メイリオ" panose="020B0604030504040204" pitchFamily="50" charset="-128"/>
                <a:ea typeface="メイリオ" panose="020B0604030504040204" pitchFamily="50" charset="-128"/>
              </a:rPr>
              <a:t>次世代センサーフュージョン </a:t>
            </a:r>
            <a:r>
              <a:rPr lang="en-US" altLang="ja-JP" b="1" dirty="0">
                <a:latin typeface="メイリオ" panose="020B0604030504040204" pitchFamily="50" charset="-128"/>
                <a:ea typeface="メイリオ" panose="020B0604030504040204" pitchFamily="50" charset="-128"/>
              </a:rPr>
              <a:t>× AI</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背景：今は振動・電流・温度・画像などを別々に解析。</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将来：センサを統合的に処理する マルチモーダル</a:t>
            </a: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 が必須に。</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用途：</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欠陥画像＋</a:t>
            </a:r>
            <a:r>
              <a:rPr lang="en-US" altLang="ja-JP" sz="1600" dirty="0">
                <a:latin typeface="メイリオ" panose="020B0604030504040204" pitchFamily="50" charset="-128"/>
                <a:ea typeface="メイリオ" panose="020B0604030504040204" pitchFamily="50" charset="-128"/>
              </a:rPr>
              <a:t>FDC</a:t>
            </a:r>
            <a:r>
              <a:rPr lang="ja-JP" altLang="en-US" sz="1600" dirty="0">
                <a:latin typeface="メイリオ" panose="020B0604030504040204" pitchFamily="50" charset="-128"/>
                <a:ea typeface="メイリオ" panose="020B0604030504040204" pitchFamily="50" charset="-128"/>
              </a:rPr>
              <a:t>波形＋材料ロット情報の同時解析で“原因寄与率”を高精度推定。</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微細工程（</a:t>
            </a:r>
            <a:r>
              <a:rPr lang="en-US" altLang="ja-JP" sz="1600" dirty="0">
                <a:latin typeface="メイリオ" panose="020B0604030504040204" pitchFamily="50" charset="-128"/>
                <a:ea typeface="メイリオ" panose="020B0604030504040204" pitchFamily="50" charset="-128"/>
              </a:rPr>
              <a:t>EUV</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High-NA</a:t>
            </a:r>
            <a:r>
              <a:rPr lang="ja-JP" altLang="en-US" sz="1600" dirty="0">
                <a:latin typeface="メイリオ" panose="020B0604030504040204" pitchFamily="50" charset="-128"/>
                <a:ea typeface="メイリオ" panose="020B0604030504040204" pitchFamily="50" charset="-128"/>
              </a:rPr>
              <a:t>など）で工程内ノイズを削減しつつ歩留まり安定化。</a:t>
            </a:r>
          </a:p>
        </p:txBody>
      </p:sp>
      <p:sp>
        <p:nvSpPr>
          <p:cNvPr id="3" name="テキスト ボックス 2">
            <a:extLst>
              <a:ext uri="{FF2B5EF4-FFF2-40B4-BE49-F238E27FC236}">
                <a16:creationId xmlns:a16="http://schemas.microsoft.com/office/drawing/2014/main" id="{463A0E11-DD3E-140B-A0DE-6D9F062F4489}"/>
              </a:ext>
            </a:extLst>
          </p:cNvPr>
          <p:cNvSpPr txBox="1"/>
          <p:nvPr/>
        </p:nvSpPr>
        <p:spPr>
          <a:xfrm>
            <a:off x="528982" y="4443147"/>
            <a:ext cx="5567018" cy="1200329"/>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メリット</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高感度な異常検知：単一センサーでは見逃す微小変化を検知。</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原因特定の精度向上：多変量解析では限界だった因果関係を解明。</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予測保全（</a:t>
            </a:r>
            <a:r>
              <a:rPr lang="en-US" altLang="ja-JP" sz="1400" dirty="0">
                <a:latin typeface="メイリオ" panose="020B0604030504040204" pitchFamily="50" charset="-128"/>
                <a:ea typeface="メイリオ" panose="020B0604030504040204" pitchFamily="50" charset="-128"/>
              </a:rPr>
              <a:t>Predictive Maintenance</a:t>
            </a:r>
            <a:r>
              <a:rPr lang="ja-JP" altLang="en-US" sz="1400" dirty="0">
                <a:latin typeface="メイリオ" panose="020B0604030504040204" pitchFamily="50" charset="-128"/>
                <a:ea typeface="メイリオ" panose="020B0604030504040204" pitchFamily="50" charset="-128"/>
              </a:rPr>
              <a:t>）：故障や劣化を事前に予測。</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歩留まり安定化：工程条件を精密に管理し、不良発生を最小化。</a:t>
            </a:r>
          </a:p>
        </p:txBody>
      </p:sp>
      <p:sp>
        <p:nvSpPr>
          <p:cNvPr id="4" name="テキスト ボックス 3">
            <a:extLst>
              <a:ext uri="{FF2B5EF4-FFF2-40B4-BE49-F238E27FC236}">
                <a16:creationId xmlns:a16="http://schemas.microsoft.com/office/drawing/2014/main" id="{D353473F-4840-36E4-3097-4ED4687F0CDD}"/>
              </a:ext>
            </a:extLst>
          </p:cNvPr>
          <p:cNvSpPr txBox="1"/>
          <p:nvPr/>
        </p:nvSpPr>
        <p:spPr>
          <a:xfrm>
            <a:off x="6468100" y="4443146"/>
            <a:ext cx="5186018" cy="1415772"/>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課題</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センサーの**キャリブレーション（較正）**が必要。</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データ量が膨大で、リアルタイム処理基盤（エッジ＋クラウド）が必須。</a:t>
            </a:r>
          </a:p>
          <a:p>
            <a:pPr>
              <a:buFont typeface="Arial" panose="020B0604020202020204" pitchFamily="34" charset="0"/>
              <a:buChar char="•"/>
            </a:pP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モデルがブラックボックス化しやすいため、可視化・説明性が必要。</a:t>
            </a:r>
          </a:p>
        </p:txBody>
      </p:sp>
      <p:sp>
        <p:nvSpPr>
          <p:cNvPr id="10" name="テキスト ボックス 9">
            <a:extLst>
              <a:ext uri="{FF2B5EF4-FFF2-40B4-BE49-F238E27FC236}">
                <a16:creationId xmlns:a16="http://schemas.microsoft.com/office/drawing/2014/main" id="{626512B9-1E0D-DF37-0EFF-7D34AFBF4324}"/>
              </a:ext>
            </a:extLst>
          </p:cNvPr>
          <p:cNvSpPr txBox="1"/>
          <p:nvPr/>
        </p:nvSpPr>
        <p:spPr>
          <a:xfrm>
            <a:off x="473307" y="2529512"/>
            <a:ext cx="10015883" cy="1323439"/>
          </a:xfrm>
          <a:prstGeom prst="rect">
            <a:avLst/>
          </a:prstGeom>
          <a:noFill/>
        </p:spPr>
        <p:txBody>
          <a:bodyPr wrap="none" rtlCol="0">
            <a:spAutoFit/>
          </a:bodyPr>
          <a:lstStyle/>
          <a:p>
            <a:r>
              <a:rPr lang="ja-JP" altLang="en-US" sz="1600" b="1" dirty="0">
                <a:latin typeface="メイリオ" panose="020B0604030504040204" pitchFamily="50" charset="-128"/>
                <a:ea typeface="メイリオ" panose="020B0604030504040204" pitchFamily="50" charset="-128"/>
              </a:rPr>
              <a:t>背景</a:t>
            </a:r>
          </a:p>
          <a:p>
            <a:r>
              <a:rPr lang="ja-JP" altLang="en-US" sz="1600" dirty="0">
                <a:latin typeface="メイリオ" panose="020B0604030504040204" pitchFamily="50" charset="-128"/>
                <a:ea typeface="メイリオ" panose="020B0604030504040204" pitchFamily="50" charset="-128"/>
              </a:rPr>
              <a:t>半導体製造装置は非常に複雑で、多数のセンサーが搭載されている。</a:t>
            </a:r>
          </a:p>
          <a:p>
            <a:r>
              <a:rPr lang="ja-JP" altLang="en-US" sz="1600" dirty="0">
                <a:latin typeface="メイリオ" panose="020B0604030504040204" pitchFamily="50" charset="-128"/>
                <a:ea typeface="メイリオ" panose="020B0604030504040204" pitchFamily="50" charset="-128"/>
              </a:rPr>
              <a:t>これまでは「温度だけ」「圧力だけ」といった単一センサー解析が中心だった。</a:t>
            </a:r>
          </a:p>
          <a:p>
            <a:r>
              <a:rPr lang="ja-JP" altLang="en-US" sz="1600" dirty="0">
                <a:latin typeface="メイリオ" panose="020B0604030504040204" pitchFamily="50" charset="-128"/>
                <a:ea typeface="メイリオ" panose="020B0604030504040204" pitchFamily="50" charset="-128"/>
              </a:rPr>
              <a:t>しかし微細化が進むと、歩留まり変動の要因は**複合的（温度</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流量</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振動</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材料特性など）**で現れる。</a:t>
            </a:r>
          </a:p>
          <a:p>
            <a:r>
              <a:rPr lang="ja-JP" altLang="en-US" sz="1600" dirty="0">
                <a:latin typeface="メイリオ" panose="020B0604030504040204" pitchFamily="50" charset="-128"/>
                <a:ea typeface="メイリオ" panose="020B0604030504040204" pitchFamily="50" charset="-128"/>
              </a:rPr>
              <a:t>そこで </a:t>
            </a:r>
            <a:r>
              <a:rPr lang="ja-JP" altLang="en-US" sz="1600" b="1" dirty="0">
                <a:latin typeface="メイリオ" panose="020B0604030504040204" pitchFamily="50" charset="-128"/>
                <a:ea typeface="メイリオ" panose="020B0604030504040204" pitchFamily="50" charset="-128"/>
              </a:rPr>
              <a:t>複数センサー情報を同時に処理するマルチモーダル</a:t>
            </a:r>
            <a:r>
              <a:rPr lang="en-US" altLang="ja-JP" sz="1600" b="1" dirty="0">
                <a:latin typeface="メイリオ" panose="020B0604030504040204" pitchFamily="50" charset="-128"/>
                <a:ea typeface="メイリオ" panose="020B0604030504040204" pitchFamily="50" charset="-128"/>
              </a:rPr>
              <a:t>AI</a:t>
            </a:r>
            <a:r>
              <a:rPr lang="ja-JP" altLang="en-US" sz="1600" b="1" dirty="0">
                <a:latin typeface="メイリオ" panose="020B0604030504040204" pitchFamily="50" charset="-128"/>
                <a:ea typeface="メイリオ" panose="020B0604030504040204" pitchFamily="50" charset="-128"/>
              </a:rPr>
              <a:t>（</a:t>
            </a:r>
            <a:r>
              <a:rPr lang="en-US" altLang="ja-JP" sz="1600" b="1" dirty="0">
                <a:latin typeface="メイリオ" panose="020B0604030504040204" pitchFamily="50" charset="-128"/>
                <a:ea typeface="メイリオ" panose="020B0604030504040204" pitchFamily="50" charset="-128"/>
              </a:rPr>
              <a:t>Multi-modal AI</a:t>
            </a:r>
            <a:r>
              <a:rPr lang="ja-JP" altLang="en-US" sz="1600" b="1"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 が注目されている。</a:t>
            </a:r>
          </a:p>
        </p:txBody>
      </p:sp>
    </p:spTree>
    <p:extLst>
      <p:ext uri="{BB962C8B-B14F-4D97-AF65-F5344CB8AC3E}">
        <p14:creationId xmlns:p14="http://schemas.microsoft.com/office/powerpoint/2010/main" val="1353779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AFA51-87ED-805A-D256-71C37133B18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6956831-2C38-105D-4E26-D7A024C4CA10}"/>
              </a:ext>
            </a:extLst>
          </p:cNvPr>
          <p:cNvSpPr txBox="1"/>
          <p:nvPr/>
        </p:nvSpPr>
        <p:spPr>
          <a:xfrm>
            <a:off x="215217" y="147482"/>
            <a:ext cx="6571030"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３．マルチモーダル解析で“見えない要因”を掘り起こす</a:t>
            </a:r>
            <a:endParaRPr lang="en-US" altLang="ja-JP" sz="200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001725B-D6E8-43FD-0A8F-88F9F8FCD1DF}"/>
              </a:ext>
            </a:extLst>
          </p:cNvPr>
          <p:cNvSpPr txBox="1"/>
          <p:nvPr/>
        </p:nvSpPr>
        <p:spPr>
          <a:xfrm>
            <a:off x="691468" y="759038"/>
            <a:ext cx="8871632" cy="4031873"/>
          </a:xfrm>
          <a:prstGeom prst="rect">
            <a:avLst/>
          </a:prstGeom>
          <a:noFill/>
        </p:spPr>
        <p:txBody>
          <a:bodyPr wrap="square">
            <a:spAutoFit/>
          </a:bodyPr>
          <a:lstStyle/>
          <a:p>
            <a:r>
              <a:rPr lang="ja-JP" altLang="en-US" sz="1400" b="1" dirty="0">
                <a:latin typeface="メイリオ" panose="020B0604030504040204" pitchFamily="50" charset="-128"/>
                <a:ea typeface="メイリオ" panose="020B0604030504040204" pitchFamily="50" charset="-128"/>
              </a:rPr>
              <a:t>構成要素と意味</a:t>
            </a:r>
          </a:p>
          <a:p>
            <a:r>
              <a:rPr lang="en-US" altLang="ja-JP" sz="1100" b="1" dirty="0">
                <a:latin typeface="メイリオ" panose="020B0604030504040204" pitchFamily="50" charset="-128"/>
                <a:ea typeface="メイリオ" panose="020B0604030504040204" pitchFamily="50" charset="-128"/>
              </a:rPr>
              <a:t>1. </a:t>
            </a:r>
            <a:r>
              <a:rPr lang="ja-JP" altLang="en-US" sz="1100" b="1" dirty="0">
                <a:latin typeface="メイリオ" panose="020B0604030504040204" pitchFamily="50" charset="-128"/>
                <a:ea typeface="メイリオ" panose="020B0604030504040204" pitchFamily="50" charset="-128"/>
              </a:rPr>
              <a:t>センサーフュージョン</a:t>
            </a:r>
          </a:p>
          <a:p>
            <a:r>
              <a:rPr lang="ja-JP" altLang="en-US" sz="1100" dirty="0">
                <a:latin typeface="メイリオ" panose="020B0604030504040204" pitchFamily="50" charset="-128"/>
                <a:ea typeface="メイリオ" panose="020B0604030504040204" pitchFamily="50" charset="-128"/>
              </a:rPr>
              <a:t>異なる種類のセンサーデータを統合して</a:t>
            </a:r>
            <a:r>
              <a:rPr lang="en-US" altLang="ja-JP" sz="1100" dirty="0">
                <a:latin typeface="メイリオ" panose="020B0604030504040204" pitchFamily="50" charset="-128"/>
                <a:ea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rPr>
              <a:t>つの特徴量空間にマッピング。</a:t>
            </a:r>
          </a:p>
          <a:p>
            <a:r>
              <a:rPr lang="ja-JP" altLang="en-US" sz="1100" b="1" dirty="0">
                <a:latin typeface="メイリオ" panose="020B0604030504040204" pitchFamily="50" charset="-128"/>
                <a:ea typeface="メイリオ" panose="020B0604030504040204" pitchFamily="50" charset="-128"/>
              </a:rPr>
              <a:t>意味</a:t>
            </a:r>
            <a:r>
              <a:rPr lang="ja-JP" altLang="en-US" sz="1100" dirty="0">
                <a:latin typeface="メイリオ" panose="020B0604030504040204" pitchFamily="50" charset="-128"/>
                <a:ea typeface="メイリオ" panose="020B0604030504040204" pitchFamily="50" charset="-128"/>
              </a:rPr>
              <a:t>：「フュージョン＝融合」。単独では弱い信号も、組み合わせることで因果が見えてくる。</a:t>
            </a:r>
          </a:p>
          <a:p>
            <a:r>
              <a:rPr lang="ja-JP" altLang="en-US" sz="1100" b="1" dirty="0">
                <a:latin typeface="メイリオ" panose="020B0604030504040204" pitchFamily="50" charset="-128"/>
                <a:ea typeface="メイリオ" panose="020B0604030504040204" pitchFamily="50" charset="-128"/>
              </a:rPr>
              <a:t>例</a:t>
            </a:r>
            <a:r>
              <a:rPr lang="ja-JP" altLang="en-US" sz="1100" dirty="0">
                <a:latin typeface="メイリオ" panose="020B0604030504040204" pitchFamily="50" charset="-128"/>
                <a:ea typeface="メイリオ" panose="020B0604030504040204" pitchFamily="50" charset="-128"/>
              </a:rPr>
              <a:t>：温度変動は微小でも、振動と重ねると「特定の部品劣化」を示唆。</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2. </a:t>
            </a:r>
            <a:r>
              <a:rPr lang="ja-JP" altLang="en-US" sz="1100" b="1" dirty="0">
                <a:latin typeface="メイリオ" panose="020B0604030504040204" pitchFamily="50" charset="-128"/>
                <a:ea typeface="メイリオ" panose="020B0604030504040204" pitchFamily="50" charset="-128"/>
              </a:rPr>
              <a:t>マルチモーダル</a:t>
            </a:r>
            <a:r>
              <a:rPr lang="en-US" altLang="ja-JP" sz="1100" b="1" dirty="0">
                <a:latin typeface="メイリオ" panose="020B0604030504040204" pitchFamily="50" charset="-128"/>
                <a:ea typeface="メイリオ" panose="020B0604030504040204" pitchFamily="50" charset="-128"/>
              </a:rPr>
              <a:t>AI</a:t>
            </a:r>
          </a:p>
          <a:p>
            <a:r>
              <a:rPr lang="ja-JP" altLang="en-US" sz="1100" dirty="0">
                <a:latin typeface="メイリオ" panose="020B0604030504040204" pitchFamily="50" charset="-128"/>
                <a:ea typeface="メイリオ" panose="020B0604030504040204" pitchFamily="50" charset="-128"/>
              </a:rPr>
              <a:t>画像、波形、時系列、テキストといった異種データを同時に処理できる</a:t>
            </a:r>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a:t>
            </a:r>
          </a:p>
          <a:p>
            <a:r>
              <a:rPr lang="ja-JP" altLang="en-US" sz="1100" b="1" dirty="0">
                <a:latin typeface="メイリオ" panose="020B0604030504040204" pitchFamily="50" charset="-128"/>
                <a:ea typeface="メイリオ" panose="020B0604030504040204" pitchFamily="50" charset="-128"/>
              </a:rPr>
              <a:t>例</a:t>
            </a:r>
            <a:r>
              <a:rPr lang="ja-JP" altLang="en-US" sz="1100" dirty="0">
                <a:latin typeface="メイリオ" panose="020B0604030504040204" pitchFamily="50" charset="-128"/>
                <a:ea typeface="メイリオ" panose="020B0604030504040204" pitchFamily="50" charset="-128"/>
              </a:rPr>
              <a:t>：</a:t>
            </a:r>
          </a:p>
          <a:p>
            <a:pPr lvl="1"/>
            <a:r>
              <a:rPr lang="ja-JP" altLang="en-US" sz="1100" dirty="0">
                <a:latin typeface="メイリオ" panose="020B0604030504040204" pitchFamily="50" charset="-128"/>
                <a:ea typeface="メイリオ" panose="020B0604030504040204" pitchFamily="50" charset="-128"/>
              </a:rPr>
              <a:t>露光機の振動センサ＋画像欠陥データを組み合わせて欠陥原因を特定</a:t>
            </a:r>
          </a:p>
          <a:p>
            <a:pPr lvl="1"/>
            <a:r>
              <a:rPr lang="ja-JP" altLang="en-US" sz="1100" dirty="0">
                <a:latin typeface="メイリオ" panose="020B0604030504040204" pitchFamily="50" charset="-128"/>
                <a:ea typeface="メイリオ" panose="020B0604030504040204" pitchFamily="50" charset="-128"/>
              </a:rPr>
              <a:t>成膜装置の電流波形＋温度＋ガス流量を組み合わせて膜厚予測</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3. </a:t>
            </a:r>
            <a:r>
              <a:rPr lang="ja-JP" altLang="en-US" sz="1100" b="1" dirty="0">
                <a:latin typeface="メイリオ" panose="020B0604030504040204" pitchFamily="50" charset="-128"/>
                <a:ea typeface="メイリオ" panose="020B0604030504040204" pitchFamily="50" charset="-128"/>
              </a:rPr>
              <a:t>時系列解析（</a:t>
            </a:r>
            <a:r>
              <a:rPr lang="en-US" altLang="ja-JP" sz="1100" b="1" dirty="0">
                <a:latin typeface="メイリオ" panose="020B0604030504040204" pitchFamily="50" charset="-128"/>
                <a:ea typeface="メイリオ" panose="020B0604030504040204" pitchFamily="50" charset="-128"/>
              </a:rPr>
              <a:t>Sequence Modeling</a:t>
            </a:r>
            <a:r>
              <a:rPr lang="ja-JP" altLang="en-US" sz="1100" b="1" dirty="0">
                <a:latin typeface="メイリオ" panose="020B0604030504040204" pitchFamily="50" charset="-128"/>
                <a:ea typeface="メイリオ" panose="020B0604030504040204" pitchFamily="50" charset="-128"/>
              </a:rPr>
              <a:t>）</a:t>
            </a:r>
          </a:p>
          <a:p>
            <a:r>
              <a:rPr lang="en-US" altLang="ja-JP" sz="1100" dirty="0">
                <a:latin typeface="メイリオ" panose="020B0604030504040204" pitchFamily="50" charset="-128"/>
                <a:ea typeface="メイリオ" panose="020B0604030504040204" pitchFamily="50" charset="-128"/>
              </a:rPr>
              <a:t>LSTM</a:t>
            </a:r>
            <a:r>
              <a:rPr lang="ja-JP" altLang="en-US" sz="1100" dirty="0">
                <a:latin typeface="メイリオ" panose="020B0604030504040204" pitchFamily="50" charset="-128"/>
                <a:ea typeface="メイリオ" panose="020B0604030504040204" pitchFamily="50" charset="-128"/>
              </a:rPr>
              <a:t>や</a:t>
            </a:r>
            <a:r>
              <a:rPr lang="en-US" altLang="ja-JP" sz="1100" dirty="0">
                <a:latin typeface="メイリオ" panose="020B0604030504040204" pitchFamily="50" charset="-128"/>
                <a:ea typeface="メイリオ" panose="020B0604030504040204" pitchFamily="50" charset="-128"/>
              </a:rPr>
              <a:t>Transformer</a:t>
            </a:r>
            <a:r>
              <a:rPr lang="ja-JP" altLang="en-US" sz="1100" dirty="0">
                <a:latin typeface="メイリオ" panose="020B0604030504040204" pitchFamily="50" charset="-128"/>
                <a:ea typeface="メイリオ" panose="020B0604030504040204" pitchFamily="50" charset="-128"/>
              </a:rPr>
              <a:t>ベースの</a:t>
            </a:r>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が、複数センサーの「時間的な相関」を捉える。</a:t>
            </a:r>
          </a:p>
          <a:p>
            <a:r>
              <a:rPr lang="ja-JP" altLang="en-US" sz="1100" b="1" dirty="0">
                <a:latin typeface="メイリオ" panose="020B0604030504040204" pitchFamily="50" charset="-128"/>
                <a:ea typeface="メイリオ" panose="020B0604030504040204" pitchFamily="50" charset="-128"/>
              </a:rPr>
              <a:t>例</a:t>
            </a:r>
            <a:r>
              <a:rPr lang="ja-JP" altLang="en-US" sz="1100" dirty="0">
                <a:latin typeface="メイリオ" panose="020B0604030504040204" pitchFamily="50" charset="-128"/>
                <a:ea typeface="メイリオ" panose="020B0604030504040204" pitchFamily="50" charset="-128"/>
              </a:rPr>
              <a:t>：温度が上がった数秒後に振動が大きくなる → あるポンプの異常を予測。</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4. </a:t>
            </a:r>
            <a:r>
              <a:rPr lang="ja-JP" altLang="en-US" sz="1100" b="1" dirty="0">
                <a:latin typeface="メイリオ" panose="020B0604030504040204" pitchFamily="50" charset="-128"/>
                <a:ea typeface="メイリオ" panose="020B0604030504040204" pitchFamily="50" charset="-128"/>
              </a:rPr>
              <a:t>因果推論との統合</a:t>
            </a:r>
          </a:p>
          <a:p>
            <a:r>
              <a:rPr lang="ja-JP" altLang="en-US" sz="1100" dirty="0">
                <a:latin typeface="メイリオ" panose="020B0604030504040204" pitchFamily="50" charset="-128"/>
                <a:ea typeface="メイリオ" panose="020B0604030504040204" pitchFamily="50" charset="-128"/>
              </a:rPr>
              <a:t>相関ではなく「何が原因か」を明確化。</a:t>
            </a:r>
          </a:p>
          <a:p>
            <a:r>
              <a:rPr lang="ja-JP" altLang="en-US" sz="1100" b="1" dirty="0">
                <a:latin typeface="メイリオ" panose="020B0604030504040204" pitchFamily="50" charset="-128"/>
                <a:ea typeface="メイリオ" panose="020B0604030504040204" pitchFamily="50" charset="-128"/>
              </a:rPr>
              <a:t>例</a:t>
            </a:r>
            <a:r>
              <a:rPr lang="ja-JP" altLang="en-US" sz="1100" dirty="0">
                <a:latin typeface="メイリオ" panose="020B0604030504040204" pitchFamily="50" charset="-128"/>
                <a:ea typeface="メイリオ" panose="020B0604030504040204" pitchFamily="50" charset="-128"/>
              </a:rPr>
              <a:t>：振動が直接の原因なのか、温度変化に伴う副次効果なのかを</a:t>
            </a:r>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が区別。</a:t>
            </a:r>
            <a:br>
              <a:rPr lang="ja-JP" altLang="en-US" sz="1100" dirty="0">
                <a:latin typeface="メイリオ" panose="020B0604030504040204" pitchFamily="50" charset="-128"/>
                <a:ea typeface="メイリオ" panose="020B0604030504040204" pitchFamily="50" charset="-128"/>
              </a:rPr>
            </a:br>
            <a:endParaRPr lang="ja-JP" altLang="en-US" sz="1100" dirty="0">
              <a:latin typeface="メイリオ" panose="020B0604030504040204" pitchFamily="50" charset="-128"/>
              <a:ea typeface="メイリオ" panose="020B0604030504040204" pitchFamily="50" charset="-128"/>
            </a:endParaRPr>
          </a:p>
          <a:p>
            <a:r>
              <a:rPr lang="en-US" altLang="ja-JP" sz="1100" b="1" dirty="0">
                <a:latin typeface="メイリオ" panose="020B0604030504040204" pitchFamily="50" charset="-128"/>
                <a:ea typeface="メイリオ" panose="020B0604030504040204" pitchFamily="50" charset="-128"/>
              </a:rPr>
              <a:t>5. </a:t>
            </a:r>
            <a:r>
              <a:rPr lang="ja-JP" altLang="en-US" sz="1100" b="1" dirty="0">
                <a:latin typeface="メイリオ" panose="020B0604030504040204" pitchFamily="50" charset="-128"/>
                <a:ea typeface="メイリオ" panose="020B0604030504040204" pitchFamily="50" charset="-128"/>
              </a:rPr>
              <a:t>デジタルツインとの連携</a:t>
            </a:r>
          </a:p>
          <a:p>
            <a:r>
              <a:rPr lang="ja-JP" altLang="en-US" sz="1100" dirty="0">
                <a:latin typeface="メイリオ" panose="020B0604030504040204" pitchFamily="50" charset="-128"/>
                <a:ea typeface="メイリオ" panose="020B0604030504040204" pitchFamily="50" charset="-128"/>
              </a:rPr>
              <a:t>センサーフュージョンで得た異常兆候をデジタルツインに入力し、シミュレーションで再現・検証。</a:t>
            </a:r>
          </a:p>
          <a:p>
            <a:r>
              <a:rPr lang="en-US" altLang="ja-JP" sz="1100" dirty="0">
                <a:latin typeface="メイリオ" panose="020B0604030504040204" pitchFamily="50" charset="-128"/>
                <a:ea typeface="メイリオ" panose="020B0604030504040204" pitchFamily="50" charset="-128"/>
              </a:rPr>
              <a:t>AI</a:t>
            </a:r>
            <a:r>
              <a:rPr lang="ja-JP" altLang="en-US" sz="1100" dirty="0">
                <a:latin typeface="メイリオ" panose="020B0604030504040204" pitchFamily="50" charset="-128"/>
                <a:ea typeface="メイリオ" panose="020B0604030504040204" pitchFamily="50" charset="-128"/>
              </a:rPr>
              <a:t>＋シミュレーションで</a:t>
            </a:r>
            <a:r>
              <a:rPr lang="ja-JP" altLang="en-US" sz="1100" b="1" dirty="0">
                <a:latin typeface="メイリオ" panose="020B0604030504040204" pitchFamily="50" charset="-128"/>
                <a:ea typeface="メイリオ" panose="020B0604030504040204" pitchFamily="50" charset="-128"/>
              </a:rPr>
              <a:t>対策条件を提案</a:t>
            </a:r>
            <a:r>
              <a:rPr lang="ja-JP" altLang="en-US" sz="1100" dirty="0">
                <a:latin typeface="メイリオ" panose="020B0604030504040204" pitchFamily="50" charset="-128"/>
                <a:ea typeface="メイリオ" panose="020B0604030504040204" pitchFamily="50" charset="-128"/>
              </a:rPr>
              <a:t>できる。</a:t>
            </a:r>
          </a:p>
        </p:txBody>
      </p:sp>
    </p:spTree>
    <p:extLst>
      <p:ext uri="{BB962C8B-B14F-4D97-AF65-F5344CB8AC3E}">
        <p14:creationId xmlns:p14="http://schemas.microsoft.com/office/powerpoint/2010/main" val="2225336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6FE8A-4815-1780-9A62-65ECE5B6378E}"/>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6FFFBBB-3D37-2C78-123F-E80E1A280F52}"/>
              </a:ext>
            </a:extLst>
          </p:cNvPr>
          <p:cNvSpPr txBox="1"/>
          <p:nvPr/>
        </p:nvSpPr>
        <p:spPr>
          <a:xfrm>
            <a:off x="215217" y="147482"/>
            <a:ext cx="6463629"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４．因果推論 </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デジタルツインで施策効果を即時提示</a:t>
            </a:r>
            <a:endParaRPr lang="en-US" altLang="ja-JP" sz="20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52FB445-3777-98D7-F77E-1C82C07077CB}"/>
              </a:ext>
            </a:extLst>
          </p:cNvPr>
          <p:cNvSpPr txBox="1"/>
          <p:nvPr/>
        </p:nvSpPr>
        <p:spPr>
          <a:xfrm>
            <a:off x="528982" y="708211"/>
            <a:ext cx="11331324" cy="1354217"/>
          </a:xfrm>
          <a:prstGeom prst="rect">
            <a:avLst/>
          </a:prstGeom>
          <a:noFill/>
        </p:spPr>
        <p:txBody>
          <a:bodyPr wrap="square" rtlCol="0">
            <a:spAutoFit/>
          </a:bodyPr>
          <a:lstStyle/>
          <a:p>
            <a:pPr>
              <a:buNone/>
            </a:pPr>
            <a:r>
              <a:rPr lang="ja-JP" altLang="en-US" b="1" dirty="0">
                <a:latin typeface="メイリオ" panose="020B0604030504040204" pitchFamily="50" charset="-128"/>
                <a:ea typeface="メイリオ" panose="020B0604030504040204" pitchFamily="50" charset="-128"/>
              </a:rPr>
              <a:t>因果推論とデジタルツインの融合</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現状：相関解析や</a:t>
            </a:r>
            <a:r>
              <a:rPr lang="en-US" altLang="ja-JP" sz="1600" dirty="0">
                <a:latin typeface="メイリオ" panose="020B0604030504040204" pitchFamily="50" charset="-128"/>
                <a:ea typeface="メイリオ" panose="020B0604030504040204" pitchFamily="50" charset="-128"/>
              </a:rPr>
              <a:t>SHAP</a:t>
            </a:r>
            <a:r>
              <a:rPr lang="ja-JP" altLang="en-US" sz="1600" dirty="0">
                <a:latin typeface="メイリオ" panose="020B0604030504040204" pitchFamily="50" charset="-128"/>
                <a:ea typeface="メイリオ" panose="020B0604030504040204" pitchFamily="50" charset="-128"/>
              </a:rPr>
              <a:t>などで「どの因子が効いているか」を可視化。</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将来：因果機械学習（</a:t>
            </a:r>
            <a:r>
              <a:rPr lang="en-US" altLang="ja-JP" sz="1600" dirty="0">
                <a:latin typeface="メイリオ" panose="020B0604030504040204" pitchFamily="50" charset="-128"/>
                <a:ea typeface="メイリオ" panose="020B0604030504040204" pitchFamily="50" charset="-128"/>
              </a:rPr>
              <a:t>Causal ML</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デジタルツインにより「この処置をしたら歩留まりは何</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上がる」をリアルタイム提示。</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必要技術：シミュレーションモデルと実測データを継続的に同期する“ライブツイン”、高速因果推論アルゴリズム。</a:t>
            </a:r>
          </a:p>
        </p:txBody>
      </p:sp>
      <p:sp>
        <p:nvSpPr>
          <p:cNvPr id="3" name="テキスト ボックス 2">
            <a:extLst>
              <a:ext uri="{FF2B5EF4-FFF2-40B4-BE49-F238E27FC236}">
                <a16:creationId xmlns:a16="http://schemas.microsoft.com/office/drawing/2014/main" id="{CE3A099E-A9EE-5AE9-A4CF-B9FEE0AA9C09}"/>
              </a:ext>
            </a:extLst>
          </p:cNvPr>
          <p:cNvSpPr txBox="1"/>
          <p:nvPr/>
        </p:nvSpPr>
        <p:spPr>
          <a:xfrm>
            <a:off x="528982" y="4443147"/>
            <a:ext cx="5567018" cy="1415772"/>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メリット</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相関にだまされない：真の原因を特定できる。</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安全性：実機を止めずに“もしも”の条件を試せる。</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効率化：限られた実験回数で効果の大きい条件に集中できる。</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歩留まり向上：データ駆動＋シミュレーションの相乗効果で改善スピード</a:t>
            </a:r>
            <a:r>
              <a:rPr lang="en-US" altLang="ja-JP" sz="1400" dirty="0">
                <a:latin typeface="メイリオ" panose="020B0604030504040204" pitchFamily="50" charset="-128"/>
                <a:ea typeface="メイリオ" panose="020B0604030504040204" pitchFamily="50" charset="-128"/>
              </a:rPr>
              <a:t>UP</a:t>
            </a:r>
            <a:r>
              <a:rPr lang="ja-JP" altLang="en-US" sz="1400" dirty="0">
                <a:latin typeface="メイリオ" panose="020B0604030504040204" pitchFamily="50" charset="-128"/>
                <a:ea typeface="メイリオ" panose="020B0604030504040204" pitchFamily="50" charset="-128"/>
              </a:rPr>
              <a:t>。</a:t>
            </a:r>
          </a:p>
        </p:txBody>
      </p:sp>
      <p:sp>
        <p:nvSpPr>
          <p:cNvPr id="4" name="テキスト ボックス 3">
            <a:extLst>
              <a:ext uri="{FF2B5EF4-FFF2-40B4-BE49-F238E27FC236}">
                <a16:creationId xmlns:a16="http://schemas.microsoft.com/office/drawing/2014/main" id="{A6A3DF06-145D-C53A-8726-8603EB9EC103}"/>
              </a:ext>
            </a:extLst>
          </p:cNvPr>
          <p:cNvSpPr txBox="1"/>
          <p:nvPr/>
        </p:nvSpPr>
        <p:spPr>
          <a:xfrm>
            <a:off x="6468100" y="4443146"/>
            <a:ext cx="5186018" cy="1200329"/>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課題</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因果推論には「必要な共変量」が欠けていると誤推定になる。</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デジタルツインは精度の高いモデル化・校正が不可欠。</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融合の結果を現場に適用するには、説明責任（</a:t>
            </a:r>
            <a:r>
              <a:rPr lang="en-US" altLang="ja-JP" sz="1400" dirty="0">
                <a:latin typeface="メイリオ" panose="020B0604030504040204" pitchFamily="50" charset="-128"/>
                <a:ea typeface="メイリオ" panose="020B0604030504040204" pitchFamily="50" charset="-128"/>
              </a:rPr>
              <a:t>Explainability</a:t>
            </a:r>
            <a:r>
              <a:rPr lang="ja-JP" altLang="en-US" sz="1400" dirty="0">
                <a:latin typeface="メイリオ" panose="020B0604030504040204" pitchFamily="50" charset="-128"/>
                <a:ea typeface="メイリオ" panose="020B0604030504040204" pitchFamily="50" charset="-128"/>
              </a:rPr>
              <a:t>） が重要。</a:t>
            </a:r>
          </a:p>
        </p:txBody>
      </p:sp>
      <p:sp>
        <p:nvSpPr>
          <p:cNvPr id="5" name="テキスト ボックス 4">
            <a:extLst>
              <a:ext uri="{FF2B5EF4-FFF2-40B4-BE49-F238E27FC236}">
                <a16:creationId xmlns:a16="http://schemas.microsoft.com/office/drawing/2014/main" id="{D7D930F2-C09F-FE92-54A5-5FB72E2C1713}"/>
              </a:ext>
            </a:extLst>
          </p:cNvPr>
          <p:cNvSpPr txBox="1"/>
          <p:nvPr/>
        </p:nvSpPr>
        <p:spPr>
          <a:xfrm>
            <a:off x="473307" y="2529512"/>
            <a:ext cx="10015883" cy="1323439"/>
          </a:xfrm>
          <a:prstGeom prst="rect">
            <a:avLst/>
          </a:prstGeom>
          <a:noFill/>
        </p:spPr>
        <p:txBody>
          <a:bodyPr wrap="none" rtlCol="0">
            <a:spAutoFit/>
          </a:bodyPr>
          <a:lstStyle/>
          <a:p>
            <a:pPr>
              <a:buNone/>
            </a:pPr>
            <a:r>
              <a:rPr lang="ja-JP" altLang="en-US" sz="1600" b="1" dirty="0">
                <a:latin typeface="メイリオ" panose="020B0604030504040204" pitchFamily="50" charset="-128"/>
                <a:ea typeface="メイリオ" panose="020B0604030504040204" pitchFamily="50" charset="-128"/>
              </a:rPr>
              <a:t>背景</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半導体製造は多因子で複雑（温度・圧力・流量・材料ロット・装置状態</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相関解析では「一緒に変動している」しかわからず、「原因」と「結果」を取り違えるリスクがある。</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デジタルツイン単独では「理論上の振る舞い」しか示せないことも多い。</a:t>
            </a:r>
            <a:br>
              <a:rPr lang="ja-JP" altLang="en-US" sz="1600" dirty="0">
                <a:latin typeface="メイリオ" panose="020B0604030504040204" pitchFamily="50" charset="-128"/>
                <a:ea typeface="メイリオ" panose="020B0604030504040204" pitchFamily="50" charset="-128"/>
              </a:rPr>
            </a:br>
            <a:r>
              <a:rPr lang="ja-JP" altLang="en-US" sz="1600" dirty="0">
                <a:latin typeface="メイリオ" panose="020B0604030504040204" pitchFamily="50" charset="-128"/>
                <a:ea typeface="メイリオ" panose="020B0604030504040204" pitchFamily="50" charset="-128"/>
              </a:rPr>
              <a:t>→ 両者を組み合わせることで、</a:t>
            </a:r>
            <a:r>
              <a:rPr lang="ja-JP" altLang="en-US" sz="1600" b="1" dirty="0">
                <a:latin typeface="メイリオ" panose="020B0604030504040204" pitchFamily="50" charset="-128"/>
                <a:ea typeface="メイリオ" panose="020B0604030504040204" pitchFamily="50" charset="-128"/>
              </a:rPr>
              <a:t>実データに基づく因果効果 </a:t>
            </a:r>
            <a:r>
              <a:rPr lang="en-US" altLang="ja-JP" sz="1600" b="1" dirty="0">
                <a:latin typeface="メイリオ" panose="020B0604030504040204" pitchFamily="50" charset="-128"/>
                <a:ea typeface="メイリオ" panose="020B0604030504040204" pitchFamily="50" charset="-128"/>
              </a:rPr>
              <a:t>× </a:t>
            </a:r>
            <a:r>
              <a:rPr lang="ja-JP" altLang="en-US" sz="1600" b="1" dirty="0">
                <a:latin typeface="メイリオ" panose="020B0604030504040204" pitchFamily="50" charset="-128"/>
                <a:ea typeface="メイリオ" panose="020B0604030504040204" pitchFamily="50" charset="-128"/>
              </a:rPr>
              <a:t>仮想実験の安全性</a:t>
            </a:r>
            <a:r>
              <a:rPr lang="ja-JP" altLang="en-US" sz="1600" dirty="0">
                <a:latin typeface="メイリオ" panose="020B0604030504040204" pitchFamily="50" charset="-128"/>
                <a:ea typeface="メイリオ" panose="020B0604030504040204" pitchFamily="50" charset="-128"/>
              </a:rPr>
              <a:t> を実現。</a:t>
            </a:r>
          </a:p>
        </p:txBody>
      </p:sp>
    </p:spTree>
    <p:extLst>
      <p:ext uri="{BB962C8B-B14F-4D97-AF65-F5344CB8AC3E}">
        <p14:creationId xmlns:p14="http://schemas.microsoft.com/office/powerpoint/2010/main" val="4218645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2A65C-DF1B-4715-EABD-33864D13CBA5}"/>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E61D2A1-4E6B-7019-0D4F-4DB64F8A9ABF}"/>
              </a:ext>
            </a:extLst>
          </p:cNvPr>
          <p:cNvSpPr txBox="1"/>
          <p:nvPr/>
        </p:nvSpPr>
        <p:spPr>
          <a:xfrm>
            <a:off x="215217" y="147482"/>
            <a:ext cx="6463629"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４．因果推論 </a:t>
            </a:r>
            <a:r>
              <a:rPr lang="en-US" altLang="ja-JP" sz="2000" dirty="0">
                <a:latin typeface="メイリオ" panose="020B0604030504040204" pitchFamily="50" charset="-128"/>
                <a:ea typeface="メイリオ" panose="020B0604030504040204" pitchFamily="50" charset="-128"/>
              </a:rPr>
              <a:t>× </a:t>
            </a:r>
            <a:r>
              <a:rPr lang="ja-JP" altLang="en-US" sz="2000" dirty="0">
                <a:latin typeface="メイリオ" panose="020B0604030504040204" pitchFamily="50" charset="-128"/>
                <a:ea typeface="メイリオ" panose="020B0604030504040204" pitchFamily="50" charset="-128"/>
              </a:rPr>
              <a:t>デジタルツインで施策効果を即時提示</a:t>
            </a:r>
            <a:endParaRPr lang="en-US" altLang="ja-JP" sz="20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C7FBDF0E-C25F-F45D-AEC1-96E10748CED3}"/>
              </a:ext>
            </a:extLst>
          </p:cNvPr>
          <p:cNvSpPr txBox="1"/>
          <p:nvPr/>
        </p:nvSpPr>
        <p:spPr>
          <a:xfrm>
            <a:off x="704850" y="1385792"/>
            <a:ext cx="8820150" cy="3539430"/>
          </a:xfrm>
          <a:prstGeom prst="rect">
            <a:avLst/>
          </a:prstGeom>
          <a:noFill/>
        </p:spPr>
        <p:txBody>
          <a:bodyPr wrap="square">
            <a:spAutoFit/>
          </a:bodyPr>
          <a:lstStyle/>
          <a:p>
            <a:pPr>
              <a:buNone/>
            </a:pPr>
            <a:r>
              <a:rPr lang="ja-JP" altLang="en-US" sz="1400" b="1" dirty="0">
                <a:latin typeface="メイリオ" panose="020B0604030504040204" pitchFamily="50" charset="-128"/>
                <a:ea typeface="メイリオ" panose="020B0604030504040204" pitchFamily="50" charset="-128"/>
              </a:rPr>
              <a:t>構成要素</a:t>
            </a:r>
          </a:p>
          <a:p>
            <a:pPr>
              <a:buNone/>
            </a:pPr>
            <a:r>
              <a:rPr lang="en-US" altLang="ja-JP" sz="1400" b="1" dirty="0">
                <a:latin typeface="メイリオ" panose="020B0604030504040204" pitchFamily="50" charset="-128"/>
                <a:ea typeface="メイリオ" panose="020B0604030504040204" pitchFamily="50" charset="-128"/>
              </a:rPr>
              <a:t>1. </a:t>
            </a:r>
            <a:r>
              <a:rPr lang="ja-JP" altLang="en-US" sz="1400" b="1" dirty="0">
                <a:latin typeface="メイリオ" panose="020B0604030504040204" pitchFamily="50" charset="-128"/>
                <a:ea typeface="メイリオ" panose="020B0604030504040204" pitchFamily="50" charset="-128"/>
              </a:rPr>
              <a:t>因果推論</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rPr>
              <a:t>DAG</a:t>
            </a:r>
            <a:r>
              <a:rPr lang="ja-JP" altLang="en-US" sz="1400" dirty="0">
                <a:latin typeface="メイリオ" panose="020B0604030504040204" pitchFamily="50" charset="-128"/>
                <a:ea typeface="メイリオ" panose="020B0604030504040204" pitchFamily="50" charset="-128"/>
              </a:rPr>
              <a:t>（因果グラフ）**で変数同士のつながりを整理。</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「このレシピ条件を変えると欠陥率が何</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変わるか？」を数値で推定。</a:t>
            </a:r>
          </a:p>
          <a:p>
            <a:pPr>
              <a:buFont typeface="Arial" panose="020B0604020202020204" pitchFamily="34" charset="0"/>
              <a:buChar char="•"/>
            </a:pPr>
            <a:r>
              <a:rPr lang="ja-JP" altLang="en-US" sz="1400" b="1" dirty="0">
                <a:latin typeface="メイリオ" panose="020B0604030504040204" pitchFamily="50" charset="-128"/>
                <a:ea typeface="メイリオ" panose="020B0604030504040204" pitchFamily="50" charset="-128"/>
              </a:rPr>
              <a:t>例</a:t>
            </a:r>
            <a:r>
              <a:rPr lang="ja-JP" altLang="en-US" sz="1400" dirty="0">
                <a:latin typeface="メイリオ" panose="020B0604030504040204" pitchFamily="50" charset="-128"/>
                <a:ea typeface="メイリオ" panose="020B0604030504040204" pitchFamily="50" charset="-128"/>
              </a:rPr>
              <a:t>：プラズマ出力↑ → 膜厚ばらつき↓（効果量 </a:t>
            </a:r>
            <a:r>
              <a:rPr lang="en-US" altLang="ja-JP" sz="1400" dirty="0">
                <a:latin typeface="メイリオ" panose="020B0604030504040204" pitchFamily="50" charset="-128"/>
                <a:ea typeface="メイリオ" panose="020B0604030504040204" pitchFamily="50" charset="-128"/>
              </a:rPr>
              <a:t>-3%</a:t>
            </a:r>
            <a:r>
              <a:rPr lang="ja-JP" altLang="en-US" sz="1400" dirty="0">
                <a:latin typeface="メイリオ" panose="020B0604030504040204" pitchFamily="50" charset="-128"/>
                <a:ea typeface="メイリオ" panose="020B0604030504040204" pitchFamily="50" charset="-128"/>
              </a:rPr>
              <a:t>）。</a:t>
            </a:r>
          </a:p>
          <a:p>
            <a:pPr>
              <a:buNone/>
            </a:pPr>
            <a:endParaRPr lang="ja-JP" altLang="en-US" sz="1400" dirty="0">
              <a:latin typeface="メイリオ" panose="020B0604030504040204" pitchFamily="50" charset="-128"/>
              <a:ea typeface="メイリオ" panose="020B0604030504040204" pitchFamily="50" charset="-128"/>
            </a:endParaRPr>
          </a:p>
          <a:p>
            <a:pPr>
              <a:buNone/>
            </a:pPr>
            <a:r>
              <a:rPr lang="en-US" altLang="ja-JP" sz="1400" b="1" dirty="0">
                <a:latin typeface="メイリオ" panose="020B0604030504040204" pitchFamily="50" charset="-128"/>
                <a:ea typeface="メイリオ" panose="020B0604030504040204" pitchFamily="50" charset="-128"/>
              </a:rPr>
              <a:t>2. </a:t>
            </a:r>
            <a:r>
              <a:rPr lang="ja-JP" altLang="en-US" sz="1400" b="1" dirty="0">
                <a:latin typeface="メイリオ" panose="020B0604030504040204" pitchFamily="50" charset="-128"/>
                <a:ea typeface="メイリオ" panose="020B0604030504040204" pitchFamily="50" charset="-128"/>
              </a:rPr>
              <a:t>デジタルツイン</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実装置の物理モデル・化学モデルを再現。</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因果推論で特定した“効きそうな要因”を仮想空間で操作し、結果を検証。</a:t>
            </a:r>
          </a:p>
          <a:p>
            <a:pPr>
              <a:buFont typeface="Arial" panose="020B0604020202020204" pitchFamily="34" charset="0"/>
              <a:buChar char="•"/>
            </a:pPr>
            <a:r>
              <a:rPr lang="ja-JP" altLang="en-US" sz="1400" b="1" dirty="0">
                <a:latin typeface="メイリオ" panose="020B0604030504040204" pitchFamily="50" charset="-128"/>
                <a:ea typeface="メイリオ" panose="020B0604030504040204" pitchFamily="50" charset="-128"/>
              </a:rPr>
              <a:t>例</a:t>
            </a:r>
            <a:r>
              <a:rPr lang="ja-JP" altLang="en-US" sz="1400" dirty="0">
                <a:latin typeface="メイリオ" panose="020B0604030504040204" pitchFamily="50" charset="-128"/>
                <a:ea typeface="メイリオ" panose="020B0604030504040204" pitchFamily="50" charset="-128"/>
              </a:rPr>
              <a:t>：「圧力を</a:t>
            </a:r>
            <a:r>
              <a:rPr lang="en-US" altLang="ja-JP" sz="1400" dirty="0">
                <a:latin typeface="メイリオ" panose="020B0604030504040204" pitchFamily="50" charset="-128"/>
                <a:ea typeface="メイリオ" panose="020B0604030504040204" pitchFamily="50" charset="-128"/>
              </a:rPr>
              <a:t>+5%</a:t>
            </a:r>
            <a:r>
              <a:rPr lang="ja-JP" altLang="en-US" sz="1400" dirty="0">
                <a:latin typeface="メイリオ" panose="020B0604030504040204" pitchFamily="50" charset="-128"/>
                <a:ea typeface="メイリオ" panose="020B0604030504040204" pitchFamily="50" charset="-128"/>
              </a:rPr>
              <a:t>にすると欠陥率は減るが、スループットはどうなるか？」を事前シミュレーション。</a:t>
            </a:r>
            <a:br>
              <a:rPr lang="ja-JP" altLang="en-US" sz="1400" dirty="0">
                <a:latin typeface="メイリオ" panose="020B0604030504040204" pitchFamily="50" charset="-128"/>
                <a:ea typeface="メイリオ" panose="020B0604030504040204" pitchFamily="50" charset="-128"/>
              </a:rPr>
            </a:br>
            <a:endParaRPr lang="ja-JP" altLang="en-US" sz="1400" dirty="0">
              <a:latin typeface="メイリオ" panose="020B0604030504040204" pitchFamily="50" charset="-128"/>
              <a:ea typeface="メイリオ" panose="020B0604030504040204" pitchFamily="50" charset="-128"/>
            </a:endParaRPr>
          </a:p>
          <a:p>
            <a:pPr>
              <a:buNone/>
            </a:pPr>
            <a:r>
              <a:rPr lang="en-US" altLang="ja-JP" sz="1400" b="1" dirty="0">
                <a:latin typeface="メイリオ" panose="020B0604030504040204" pitchFamily="50" charset="-128"/>
                <a:ea typeface="メイリオ" panose="020B0604030504040204" pitchFamily="50" charset="-128"/>
              </a:rPr>
              <a:t>3. </a:t>
            </a:r>
            <a:r>
              <a:rPr lang="ja-JP" altLang="en-US" sz="1400" b="1" dirty="0">
                <a:latin typeface="メイリオ" panose="020B0604030504040204" pitchFamily="50" charset="-128"/>
                <a:ea typeface="メイリオ" panose="020B0604030504040204" pitchFamily="50" charset="-128"/>
              </a:rPr>
              <a:t>融合の流れ</a:t>
            </a:r>
          </a:p>
          <a:p>
            <a:pPr>
              <a:buFont typeface="+mj-lt"/>
              <a:buAutoNum type="arabicPeriod"/>
            </a:pPr>
            <a:r>
              <a:rPr lang="ja-JP" altLang="en-US" sz="1400" b="1" dirty="0">
                <a:latin typeface="メイリオ" panose="020B0604030504040204" pitchFamily="50" charset="-128"/>
                <a:ea typeface="メイリオ" panose="020B0604030504040204" pitchFamily="50" charset="-128"/>
              </a:rPr>
              <a:t>実データ</a:t>
            </a:r>
            <a:r>
              <a:rPr lang="ja-JP" altLang="en-US" sz="1400" dirty="0">
                <a:latin typeface="メイリオ" panose="020B0604030504040204" pitchFamily="50" charset="-128"/>
                <a:ea typeface="メイリオ" panose="020B0604030504040204" pitchFamily="50" charset="-128"/>
              </a:rPr>
              <a:t>で因果効果を推定（候補要因の特定）。</a:t>
            </a:r>
          </a:p>
          <a:p>
            <a:pPr>
              <a:buFont typeface="+mj-lt"/>
              <a:buAutoNum type="arabicPeriod"/>
            </a:pPr>
            <a:r>
              <a:rPr lang="ja-JP" altLang="en-US" sz="1400" b="1" dirty="0">
                <a:latin typeface="メイリオ" panose="020B0604030504040204" pitchFamily="50" charset="-128"/>
                <a:ea typeface="メイリオ" panose="020B0604030504040204" pitchFamily="50" charset="-128"/>
              </a:rPr>
              <a:t>ツインで仮想実験</a:t>
            </a:r>
            <a:r>
              <a:rPr lang="ja-JP" altLang="en-US" sz="1400" dirty="0">
                <a:latin typeface="メイリオ" panose="020B0604030504040204" pitchFamily="50" charset="-128"/>
                <a:ea typeface="メイリオ" panose="020B0604030504040204" pitchFamily="50" charset="-128"/>
              </a:rPr>
              <a:t>を行い、因果効果の妥当性を確認。</a:t>
            </a:r>
          </a:p>
          <a:p>
            <a:pPr>
              <a:buFont typeface="+mj-lt"/>
              <a:buAutoNum type="arabicPeriod"/>
            </a:pPr>
            <a:r>
              <a:rPr lang="en-US" altLang="ja-JP" sz="1400" b="1" dirty="0">
                <a:latin typeface="メイリオ" panose="020B0604030504040204" pitchFamily="50" charset="-128"/>
                <a:ea typeface="メイリオ" panose="020B0604030504040204" pitchFamily="50" charset="-128"/>
              </a:rPr>
              <a:t>AI</a:t>
            </a:r>
            <a:r>
              <a:rPr lang="ja-JP" altLang="en-US" sz="1400" b="1" dirty="0">
                <a:latin typeface="メイリオ" panose="020B0604030504040204" pitchFamily="50" charset="-128"/>
                <a:ea typeface="メイリオ" panose="020B0604030504040204" pitchFamily="50" charset="-128"/>
              </a:rPr>
              <a:t>最適化</a:t>
            </a:r>
            <a:r>
              <a:rPr lang="ja-JP" altLang="en-US" sz="1400" dirty="0">
                <a:latin typeface="メイリオ" panose="020B0604030504040204" pitchFamily="50" charset="-128"/>
                <a:ea typeface="メイリオ" panose="020B0604030504040204" pitchFamily="50" charset="-128"/>
              </a:rPr>
              <a:t>（強化学習・ベイズ最適化）と組み合わせて「複数条件の最適解」を探索。</a:t>
            </a:r>
          </a:p>
          <a:p>
            <a:pPr>
              <a:buFont typeface="+mj-lt"/>
              <a:buAutoNum type="arabicPeriod"/>
            </a:pPr>
            <a:r>
              <a:rPr lang="ja-JP" altLang="en-US" sz="1400" dirty="0">
                <a:latin typeface="メイリオ" panose="020B0604030504040204" pitchFamily="50" charset="-128"/>
                <a:ea typeface="メイリオ" panose="020B0604030504040204" pitchFamily="50" charset="-128"/>
              </a:rPr>
              <a:t>結果をエンジニアに提示、承認を得て実機に反映。</a:t>
            </a:r>
          </a:p>
        </p:txBody>
      </p:sp>
    </p:spTree>
    <p:extLst>
      <p:ext uri="{BB962C8B-B14F-4D97-AF65-F5344CB8AC3E}">
        <p14:creationId xmlns:p14="http://schemas.microsoft.com/office/powerpoint/2010/main" val="1023315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409E2-A136-D80F-3178-601752C1B938}"/>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3775BEF-2649-6B61-DE99-CA219C1B819B}"/>
              </a:ext>
            </a:extLst>
          </p:cNvPr>
          <p:cNvSpPr txBox="1"/>
          <p:nvPr/>
        </p:nvSpPr>
        <p:spPr>
          <a:xfrm>
            <a:off x="215217" y="147482"/>
            <a:ext cx="6596678"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５．セキュリティ・データ主権を担保したクラウド利用</a:t>
            </a:r>
          </a:p>
        </p:txBody>
      </p:sp>
      <p:sp>
        <p:nvSpPr>
          <p:cNvPr id="7" name="テキスト ボックス 6">
            <a:extLst>
              <a:ext uri="{FF2B5EF4-FFF2-40B4-BE49-F238E27FC236}">
                <a16:creationId xmlns:a16="http://schemas.microsoft.com/office/drawing/2014/main" id="{2136D7DC-5908-80CD-CEE8-5F5F278B67AC}"/>
              </a:ext>
            </a:extLst>
          </p:cNvPr>
          <p:cNvSpPr txBox="1"/>
          <p:nvPr/>
        </p:nvSpPr>
        <p:spPr>
          <a:xfrm>
            <a:off x="528982" y="708211"/>
            <a:ext cx="11331324" cy="1661993"/>
          </a:xfrm>
          <a:prstGeom prst="rect">
            <a:avLst/>
          </a:prstGeom>
          <a:noFill/>
        </p:spPr>
        <p:txBody>
          <a:bodyPr wrap="square" rtlCol="0">
            <a:spAutoFit/>
          </a:bodyPr>
          <a:lstStyle/>
          <a:p>
            <a:pPr>
              <a:buNone/>
            </a:pPr>
            <a:r>
              <a:rPr lang="ja-JP" altLang="en-US" b="1" dirty="0">
                <a:latin typeface="メイリオ" panose="020B0604030504040204" pitchFamily="50" charset="-128"/>
                <a:ea typeface="メイリオ" panose="020B0604030504040204" pitchFamily="50" charset="-128"/>
              </a:rPr>
              <a:t>セキュリティとデータ主権の確立</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背景：クラウド活用が進むとともに、データ流出や国外持ち出しリスクが増大。</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将来：</a:t>
            </a:r>
          </a:p>
          <a:p>
            <a:pPr marL="742950" lvl="1" indent="-285750">
              <a:buFont typeface="Arial" panose="020B0604020202020204" pitchFamily="34" charset="0"/>
              <a:buChar char="•"/>
            </a:pPr>
            <a:r>
              <a:rPr lang="en-US" altLang="ja-JP" sz="1600" dirty="0">
                <a:latin typeface="メイリオ" panose="020B0604030504040204" pitchFamily="50" charset="-128"/>
                <a:ea typeface="メイリオ" panose="020B0604030504040204" pitchFamily="50" charset="-128"/>
              </a:rPr>
              <a:t>Confidential Computing</a:t>
            </a:r>
            <a:r>
              <a:rPr lang="ja-JP" altLang="en-US" sz="1600" dirty="0">
                <a:latin typeface="メイリオ" panose="020B0604030504040204" pitchFamily="50" charset="-128"/>
                <a:ea typeface="メイリオ" panose="020B0604030504040204" pitchFamily="50" charset="-128"/>
              </a:rPr>
              <a:t>：暗号化されたまま計算可能な仕組み。</a:t>
            </a:r>
          </a:p>
          <a:p>
            <a:pPr marL="742950" lvl="1" indent="-285750">
              <a:buFont typeface="Arial" panose="020B0604020202020204" pitchFamily="34" charset="0"/>
              <a:buChar char="•"/>
            </a:pPr>
            <a:r>
              <a:rPr lang="en-US" altLang="ja-JP" sz="1600" dirty="0">
                <a:latin typeface="メイリオ" panose="020B0604030504040204" pitchFamily="50" charset="-128"/>
                <a:ea typeface="メイリオ" panose="020B0604030504040204" pitchFamily="50" charset="-128"/>
              </a:rPr>
              <a:t>Federated Analytics</a:t>
            </a:r>
            <a:r>
              <a:rPr lang="ja-JP" altLang="en-US" sz="1600" dirty="0">
                <a:latin typeface="メイリオ" panose="020B0604030504040204" pitchFamily="50" charset="-128"/>
                <a:ea typeface="メイリオ" panose="020B0604030504040204" pitchFamily="50" charset="-128"/>
              </a:rPr>
              <a:t>：生データは外に出さず統計量だけ共有。</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ゼロトラスト＋サプライチェーン監査：設計データ・検査データまで含めた完全追跡。</a:t>
            </a:r>
          </a:p>
        </p:txBody>
      </p:sp>
      <p:sp>
        <p:nvSpPr>
          <p:cNvPr id="3" name="テキスト ボックス 2">
            <a:extLst>
              <a:ext uri="{FF2B5EF4-FFF2-40B4-BE49-F238E27FC236}">
                <a16:creationId xmlns:a16="http://schemas.microsoft.com/office/drawing/2014/main" id="{5DF16C13-5F91-1D8A-A14D-11623CA47991}"/>
              </a:ext>
            </a:extLst>
          </p:cNvPr>
          <p:cNvSpPr txBox="1"/>
          <p:nvPr/>
        </p:nvSpPr>
        <p:spPr>
          <a:xfrm>
            <a:off x="528982" y="4443147"/>
            <a:ext cx="5567018" cy="984885"/>
          </a:xfrm>
          <a:prstGeom prst="rect">
            <a:avLst/>
          </a:prstGeom>
          <a:noFill/>
        </p:spPr>
        <p:txBody>
          <a:bodyPr wrap="square">
            <a:spAutoFit/>
          </a:bodyPr>
          <a:lstStyle/>
          <a:p>
            <a:r>
              <a:rPr lang="ja-JP" altLang="en-US" sz="1600" b="1" dirty="0">
                <a:latin typeface="メイリオ" panose="020B0604030504040204" pitchFamily="50" charset="-128"/>
                <a:ea typeface="メイリオ" panose="020B0604030504040204" pitchFamily="50" charset="-128"/>
              </a:rPr>
              <a:t>メリット</a:t>
            </a:r>
          </a:p>
          <a:p>
            <a:r>
              <a:rPr lang="ja-JP" altLang="en-US" sz="1400" dirty="0">
                <a:latin typeface="メイリオ" panose="020B0604030504040204" pitchFamily="50" charset="-128"/>
                <a:ea typeface="メイリオ" panose="020B0604030504040204" pitchFamily="50" charset="-128"/>
              </a:rPr>
              <a:t>・安心してクラウド利用が可能になり、データ分析の幅が広がる。</a:t>
            </a:r>
          </a:p>
          <a:p>
            <a:r>
              <a:rPr lang="ja-JP" altLang="en-US" sz="1400" dirty="0">
                <a:latin typeface="メイリオ" panose="020B0604030504040204" pitchFamily="50" charset="-128"/>
                <a:ea typeface="メイリオ" panose="020B0604030504040204" pitchFamily="50" charset="-128"/>
              </a:rPr>
              <a:t>・工場ごとのデータ主権を守りつつ横断解析が可能。</a:t>
            </a:r>
          </a:p>
          <a:p>
            <a:r>
              <a:rPr lang="ja-JP" altLang="en-US" sz="1400" dirty="0">
                <a:latin typeface="メイリオ" panose="020B0604030504040204" pitchFamily="50" charset="-128"/>
                <a:ea typeface="メイリオ" panose="020B0604030504040204" pitchFamily="50" charset="-128"/>
              </a:rPr>
              <a:t>・セキュリティ強化により、顧客や規制当局からの信頼を獲得。</a:t>
            </a:r>
          </a:p>
        </p:txBody>
      </p:sp>
      <p:sp>
        <p:nvSpPr>
          <p:cNvPr id="4" name="テキスト ボックス 3">
            <a:extLst>
              <a:ext uri="{FF2B5EF4-FFF2-40B4-BE49-F238E27FC236}">
                <a16:creationId xmlns:a16="http://schemas.microsoft.com/office/drawing/2014/main" id="{6D25F956-D7D4-D486-47DA-A0B182DC2242}"/>
              </a:ext>
            </a:extLst>
          </p:cNvPr>
          <p:cNvSpPr txBox="1"/>
          <p:nvPr/>
        </p:nvSpPr>
        <p:spPr>
          <a:xfrm>
            <a:off x="6468100" y="4443146"/>
            <a:ext cx="5186018" cy="1415772"/>
          </a:xfrm>
          <a:prstGeom prst="rect">
            <a:avLst/>
          </a:prstGeom>
          <a:noFill/>
        </p:spPr>
        <p:txBody>
          <a:bodyPr wrap="square">
            <a:spAutoFit/>
          </a:bodyPr>
          <a:lstStyle/>
          <a:p>
            <a:r>
              <a:rPr lang="ja-JP" altLang="en-US" sz="1600" b="1" dirty="0">
                <a:latin typeface="メイリオ" panose="020B0604030504040204" pitchFamily="50" charset="-128"/>
                <a:ea typeface="メイリオ" panose="020B0604030504040204" pitchFamily="50" charset="-128"/>
              </a:rPr>
              <a:t>課題</a:t>
            </a:r>
          </a:p>
          <a:p>
            <a:r>
              <a:rPr lang="ja-JP" altLang="en-US" sz="1400" dirty="0">
                <a:latin typeface="メイリオ" panose="020B0604030504040204" pitchFamily="50" charset="-128"/>
                <a:ea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rPr>
              <a:t>Confidential Computing</a:t>
            </a:r>
            <a:r>
              <a:rPr lang="ja-JP" altLang="en-US" sz="1400" dirty="0">
                <a:latin typeface="メイリオ" panose="020B0604030504040204" pitchFamily="50" charset="-128"/>
                <a:ea typeface="メイリオ" panose="020B0604030504040204" pitchFamily="50" charset="-128"/>
              </a:rPr>
              <a:t>や</a:t>
            </a:r>
            <a:r>
              <a:rPr lang="en-US" altLang="ja-JP" sz="1400" dirty="0">
                <a:latin typeface="メイリオ" panose="020B0604030504040204" pitchFamily="50" charset="-128"/>
                <a:ea typeface="メイリオ" panose="020B0604030504040204" pitchFamily="50" charset="-128"/>
              </a:rPr>
              <a:t>Federated Learning</a:t>
            </a:r>
            <a:r>
              <a:rPr lang="ja-JP" altLang="en-US" sz="1400" dirty="0">
                <a:latin typeface="メイリオ" panose="020B0604030504040204" pitchFamily="50" charset="-128"/>
                <a:ea typeface="メイリオ" panose="020B0604030504040204" pitchFamily="50" charset="-128"/>
              </a:rPr>
              <a:t>はまだ発展途上で、性能・コストの課題がある。</a:t>
            </a:r>
          </a:p>
          <a:p>
            <a:r>
              <a:rPr lang="ja-JP" altLang="en-US" sz="1400" dirty="0">
                <a:latin typeface="メイリオ" panose="020B0604030504040204" pitchFamily="50" charset="-128"/>
                <a:ea typeface="メイリオ" panose="020B0604030504040204" pitchFamily="50" charset="-128"/>
              </a:rPr>
              <a:t>・セキュリティと利便性のバランスをどう取るか（アクセスを厳格にしすぎると業務効率が低下）。</a:t>
            </a:r>
          </a:p>
          <a:p>
            <a:r>
              <a:rPr lang="ja-JP" altLang="en-US" sz="1400" dirty="0">
                <a:latin typeface="メイリオ" panose="020B0604030504040204" pitchFamily="50" charset="-128"/>
                <a:ea typeface="メイリオ" panose="020B0604030504040204" pitchFamily="50" charset="-128"/>
              </a:rPr>
              <a:t>・規制が国ごとに異なるため、グローバル展開では対応が複雑。</a:t>
            </a:r>
          </a:p>
        </p:txBody>
      </p:sp>
      <p:sp>
        <p:nvSpPr>
          <p:cNvPr id="5" name="テキスト ボックス 4">
            <a:extLst>
              <a:ext uri="{FF2B5EF4-FFF2-40B4-BE49-F238E27FC236}">
                <a16:creationId xmlns:a16="http://schemas.microsoft.com/office/drawing/2014/main" id="{993E9329-273C-3824-6183-771647A61EC0}"/>
              </a:ext>
            </a:extLst>
          </p:cNvPr>
          <p:cNvSpPr txBox="1"/>
          <p:nvPr/>
        </p:nvSpPr>
        <p:spPr>
          <a:xfrm>
            <a:off x="473307" y="2529512"/>
            <a:ext cx="10516020" cy="1077218"/>
          </a:xfrm>
          <a:prstGeom prst="rect">
            <a:avLst/>
          </a:prstGeom>
          <a:noFill/>
        </p:spPr>
        <p:txBody>
          <a:bodyPr wrap="none" rtlCol="0">
            <a:spAutoFit/>
          </a:bodyPr>
          <a:lstStyle/>
          <a:p>
            <a:pPr>
              <a:buNone/>
            </a:pPr>
            <a:r>
              <a:rPr lang="ja-JP" altLang="en-US" sz="1600" b="1" dirty="0">
                <a:latin typeface="メイリオ" panose="020B0604030504040204" pitchFamily="50" charset="-128"/>
                <a:ea typeface="メイリオ" panose="020B0604030504040204" pitchFamily="50" charset="-128"/>
              </a:rPr>
              <a:t>背景</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半導体製造データには「工程レシピ」「検査条件」「不良率」など競争力の源泉が含まれる。</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グローバル展開やクラウド利用に伴い、</a:t>
            </a:r>
            <a:r>
              <a:rPr lang="ja-JP" altLang="en-US" sz="1600" b="1" dirty="0">
                <a:latin typeface="メイリオ" panose="020B0604030504040204" pitchFamily="50" charset="-128"/>
                <a:ea typeface="メイリオ" panose="020B0604030504040204" pitchFamily="50" charset="-128"/>
              </a:rPr>
              <a:t>国外へのデータ持ち出しリスク</a:t>
            </a:r>
            <a:r>
              <a:rPr lang="ja-JP" altLang="en-US" sz="1600" dirty="0">
                <a:latin typeface="メイリオ" panose="020B0604030504040204" pitchFamily="50" charset="-128"/>
                <a:ea typeface="メイリオ" panose="020B0604030504040204" pitchFamily="50" charset="-128"/>
              </a:rPr>
              <a:t>や</a:t>
            </a:r>
            <a:r>
              <a:rPr lang="ja-JP" altLang="en-US" sz="1600" b="1" dirty="0">
                <a:latin typeface="メイリオ" panose="020B0604030504040204" pitchFamily="50" charset="-128"/>
                <a:ea typeface="メイリオ" panose="020B0604030504040204" pitchFamily="50" charset="-128"/>
              </a:rPr>
              <a:t>第三者によるアクセス</a:t>
            </a:r>
            <a:r>
              <a:rPr lang="ja-JP" altLang="en-US" sz="1600" dirty="0">
                <a:latin typeface="メイリオ" panose="020B0604030504040204" pitchFamily="50" charset="-128"/>
                <a:ea typeface="メイリオ" panose="020B0604030504040204" pitchFamily="50" charset="-128"/>
              </a:rPr>
              <a:t>の懸念が増加。</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近年は各国で </a:t>
            </a:r>
            <a:r>
              <a:rPr lang="ja-JP" altLang="en-US" sz="1600" b="1" dirty="0">
                <a:latin typeface="メイリオ" panose="020B0604030504040204" pitchFamily="50" charset="-128"/>
                <a:ea typeface="メイリオ" panose="020B0604030504040204" pitchFamily="50" charset="-128"/>
              </a:rPr>
              <a:t>データローカライゼーション規制</a:t>
            </a:r>
            <a:r>
              <a:rPr lang="ja-JP" altLang="en-US" sz="1600" dirty="0">
                <a:latin typeface="メイリオ" panose="020B0604030504040204" pitchFamily="50" charset="-128"/>
                <a:ea typeface="メイリオ" panose="020B0604030504040204" pitchFamily="50" charset="-128"/>
              </a:rPr>
              <a:t>（国内保存義務）も強化されている。</a:t>
            </a:r>
          </a:p>
        </p:txBody>
      </p:sp>
    </p:spTree>
    <p:extLst>
      <p:ext uri="{BB962C8B-B14F-4D97-AF65-F5344CB8AC3E}">
        <p14:creationId xmlns:p14="http://schemas.microsoft.com/office/powerpoint/2010/main" val="481873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F021E-E4F8-19BB-7783-5BEAE1823CA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245922C-8539-F051-34EB-39FA80AA5DEB}"/>
              </a:ext>
            </a:extLst>
          </p:cNvPr>
          <p:cNvSpPr txBox="1"/>
          <p:nvPr/>
        </p:nvSpPr>
        <p:spPr>
          <a:xfrm>
            <a:off x="215217" y="147482"/>
            <a:ext cx="6596678"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５．セキュリティ・データ主権を担保したクラウド利用</a:t>
            </a:r>
          </a:p>
        </p:txBody>
      </p:sp>
      <p:sp>
        <p:nvSpPr>
          <p:cNvPr id="4" name="テキスト ボックス 3">
            <a:extLst>
              <a:ext uri="{FF2B5EF4-FFF2-40B4-BE49-F238E27FC236}">
                <a16:creationId xmlns:a16="http://schemas.microsoft.com/office/drawing/2014/main" id="{D630A36D-2747-33F3-6B86-511B2161FBDA}"/>
              </a:ext>
            </a:extLst>
          </p:cNvPr>
          <p:cNvSpPr txBox="1"/>
          <p:nvPr/>
        </p:nvSpPr>
        <p:spPr>
          <a:xfrm>
            <a:off x="533400" y="788402"/>
            <a:ext cx="11353800" cy="4832092"/>
          </a:xfrm>
          <a:prstGeom prst="rect">
            <a:avLst/>
          </a:prstGeom>
          <a:noFill/>
        </p:spPr>
        <p:txBody>
          <a:bodyPr wrap="square">
            <a:spAutoFit/>
          </a:bodyPr>
          <a:lstStyle/>
          <a:p>
            <a:pPr>
              <a:buNone/>
            </a:pPr>
            <a:r>
              <a:rPr lang="ja-JP" altLang="en-US" sz="1400" b="1" dirty="0">
                <a:latin typeface="メイリオ" panose="020B0604030504040204" pitchFamily="50" charset="-128"/>
                <a:ea typeface="メイリオ" panose="020B0604030504040204" pitchFamily="50" charset="-128"/>
              </a:rPr>
              <a:t>構成要素と意味</a:t>
            </a:r>
          </a:p>
          <a:p>
            <a:pPr>
              <a:buNone/>
            </a:pPr>
            <a:r>
              <a:rPr lang="en-US" altLang="ja-JP" sz="1400" dirty="0">
                <a:latin typeface="メイリオ" panose="020B0604030504040204" pitchFamily="50" charset="-128"/>
                <a:ea typeface="メイリオ" panose="020B0604030504040204" pitchFamily="50" charset="-128"/>
              </a:rPr>
              <a:t>1. </a:t>
            </a:r>
            <a:r>
              <a:rPr lang="ja-JP" altLang="en-US" sz="1400" dirty="0">
                <a:latin typeface="メイリオ" panose="020B0604030504040204" pitchFamily="50" charset="-128"/>
                <a:ea typeface="メイリオ" panose="020B0604030504040204" pitchFamily="50" charset="-128"/>
              </a:rPr>
              <a:t>閉域網＋専用線</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閉域網：インターネットを経由せず、専用ネットワークでクラウドと接続。</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専用線（</a:t>
            </a:r>
            <a:r>
              <a:rPr lang="en-US" altLang="ja-JP" sz="1400" dirty="0">
                <a:latin typeface="メイリオ" panose="020B0604030504040204" pitchFamily="50" charset="-128"/>
                <a:ea typeface="メイリオ" panose="020B0604030504040204" pitchFamily="50" charset="-128"/>
              </a:rPr>
              <a:t>AWS Direct Connect, Azure ExpressRoute</a:t>
            </a:r>
            <a:r>
              <a:rPr lang="ja-JP" altLang="en-US" sz="1400" dirty="0">
                <a:latin typeface="メイリオ" panose="020B0604030504040204" pitchFamily="50" charset="-128"/>
                <a:ea typeface="メイリオ" panose="020B0604030504040204" pitchFamily="50" charset="-128"/>
              </a:rPr>
              <a:t>）：セキュアかつ低遅延で工場とクラウドを接続。</a:t>
            </a:r>
          </a:p>
          <a:p>
            <a:pPr>
              <a:buNone/>
            </a:pPr>
            <a:endParaRPr lang="ja-JP" altLang="en-US" sz="1400" dirty="0">
              <a:latin typeface="メイリオ" panose="020B0604030504040204" pitchFamily="50" charset="-128"/>
              <a:ea typeface="メイリオ" panose="020B0604030504040204" pitchFamily="50" charset="-128"/>
            </a:endParaRPr>
          </a:p>
          <a:p>
            <a:pPr>
              <a:buNone/>
            </a:pPr>
            <a:r>
              <a:rPr lang="en-US" altLang="ja-JP" sz="1400" dirty="0">
                <a:latin typeface="メイリオ" panose="020B0604030504040204" pitchFamily="50" charset="-128"/>
                <a:ea typeface="メイリオ" panose="020B0604030504040204" pitchFamily="50" charset="-128"/>
              </a:rPr>
              <a:t>2. Confidential Computing</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データを暗号化したまま演算する技術。</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クラウド事業者さえもデータ中身を見られない。</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機微な製造データをクラウドで処理する際の新しい安全策。</a:t>
            </a:r>
          </a:p>
          <a:p>
            <a:pPr>
              <a:buNone/>
            </a:pPr>
            <a:endParaRPr lang="ja-JP" altLang="en-US" sz="1400" dirty="0">
              <a:latin typeface="メイリオ" panose="020B0604030504040204" pitchFamily="50" charset="-128"/>
              <a:ea typeface="メイリオ" panose="020B0604030504040204" pitchFamily="50" charset="-128"/>
            </a:endParaRPr>
          </a:p>
          <a:p>
            <a:pPr>
              <a:buNone/>
            </a:pPr>
            <a:r>
              <a:rPr lang="en-US" altLang="ja-JP" sz="1400" dirty="0">
                <a:latin typeface="メイリオ" panose="020B0604030504040204" pitchFamily="50" charset="-128"/>
                <a:ea typeface="メイリオ" panose="020B0604030504040204" pitchFamily="50" charset="-128"/>
              </a:rPr>
              <a:t>3. Federated Analytics / Federated Learning</a:t>
            </a:r>
          </a:p>
          <a:p>
            <a:pPr>
              <a:buFont typeface="Arial" panose="020B0604020202020204" pitchFamily="34" charset="0"/>
              <a:buChar char="•"/>
            </a:pPr>
            <a:r>
              <a:rPr lang="en-US" altLang="ja-JP" sz="1400" dirty="0">
                <a:latin typeface="メイリオ" panose="020B0604030504040204" pitchFamily="50" charset="-128"/>
                <a:ea typeface="メイリオ" panose="020B0604030504040204" pitchFamily="50" charset="-128"/>
              </a:rPr>
              <a:t>Federated</a:t>
            </a:r>
            <a:r>
              <a:rPr lang="ja-JP" altLang="en-US" sz="1400" dirty="0">
                <a:latin typeface="メイリオ" panose="020B0604030504040204" pitchFamily="50" charset="-128"/>
                <a:ea typeface="メイリオ" panose="020B0604030504040204" pitchFamily="50" charset="-128"/>
              </a:rPr>
              <a:t>＝連合型。データを各工場に残したまま、解析結果や学習済みモデルだけを共有。</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データ持ち出しが禁止される環境でも、全社的な知見共有が可能。</a:t>
            </a:r>
            <a:br>
              <a:rPr lang="ja-JP" altLang="en-US" sz="1400" dirty="0">
                <a:latin typeface="メイリオ" panose="020B0604030504040204" pitchFamily="50" charset="-128"/>
                <a:ea typeface="メイリオ" panose="020B0604030504040204" pitchFamily="50" charset="-128"/>
              </a:rPr>
            </a:br>
            <a:endParaRPr lang="ja-JP" altLang="en-US" sz="1400" dirty="0">
              <a:latin typeface="メイリオ" panose="020B0604030504040204" pitchFamily="50" charset="-128"/>
              <a:ea typeface="メイリオ" panose="020B0604030504040204" pitchFamily="50" charset="-128"/>
            </a:endParaRPr>
          </a:p>
          <a:p>
            <a:pPr>
              <a:buNone/>
            </a:pPr>
            <a:r>
              <a:rPr lang="en-US" altLang="ja-JP" sz="1400" dirty="0">
                <a:latin typeface="メイリオ" panose="020B0604030504040204" pitchFamily="50" charset="-128"/>
                <a:ea typeface="メイリオ" panose="020B0604030504040204" pitchFamily="50" charset="-128"/>
              </a:rPr>
              <a:t>4. </a:t>
            </a:r>
            <a:r>
              <a:rPr lang="ja-JP" altLang="en-US" sz="1400" dirty="0">
                <a:latin typeface="メイリオ" panose="020B0604030504040204" pitchFamily="50" charset="-128"/>
                <a:ea typeface="メイリオ" panose="020B0604030504040204" pitchFamily="50" charset="-128"/>
              </a:rPr>
              <a:t>ゼロトラストセキュリティ</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「社内だから安全」という考えを捨て、すべての通信・アクセスを常時検証する仕組み。</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多要素認証、動的アクセス制御、細粒度の権限管理が前提。</a:t>
            </a:r>
            <a:br>
              <a:rPr lang="ja-JP" altLang="en-US" sz="1400" dirty="0">
                <a:latin typeface="メイリオ" panose="020B0604030504040204" pitchFamily="50" charset="-128"/>
                <a:ea typeface="メイリオ" panose="020B0604030504040204" pitchFamily="50" charset="-128"/>
              </a:rPr>
            </a:br>
            <a:endParaRPr lang="ja-JP" altLang="en-US" sz="1400" dirty="0">
              <a:latin typeface="メイリオ" panose="020B0604030504040204" pitchFamily="50" charset="-128"/>
              <a:ea typeface="メイリオ" panose="020B0604030504040204" pitchFamily="50" charset="-128"/>
            </a:endParaRPr>
          </a:p>
          <a:p>
            <a:pPr>
              <a:buNone/>
            </a:pPr>
            <a:r>
              <a:rPr lang="en-US" altLang="ja-JP" sz="1400" dirty="0">
                <a:latin typeface="メイリオ" panose="020B0604030504040204" pitchFamily="50" charset="-128"/>
                <a:ea typeface="メイリオ" panose="020B0604030504040204" pitchFamily="50" charset="-128"/>
              </a:rPr>
              <a:t>5. </a:t>
            </a:r>
            <a:r>
              <a:rPr lang="ja-JP" altLang="en-US" sz="1400" dirty="0">
                <a:latin typeface="メイリオ" panose="020B0604030504040204" pitchFamily="50" charset="-128"/>
                <a:ea typeface="メイリオ" panose="020B0604030504040204" pitchFamily="50" charset="-128"/>
              </a:rPr>
              <a:t>監査証跡とガバナンス</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誰がどのデータにアクセスしたかをログとして保存。</a:t>
            </a:r>
          </a:p>
          <a:p>
            <a:pPr>
              <a:buFont typeface="Arial" panose="020B0604020202020204" pitchFamily="34" charset="0"/>
              <a:buChar char="•"/>
            </a:pP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の判断根拠も含めて「再現性・説明責任」を担保。</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半導体の品質監査や顧客要求（例：車載向け</a:t>
            </a:r>
            <a:r>
              <a:rPr lang="en-US" altLang="ja-JP" sz="1400" dirty="0">
                <a:latin typeface="メイリオ" panose="020B0604030504040204" pitchFamily="50" charset="-128"/>
                <a:ea typeface="メイリオ" panose="020B0604030504040204" pitchFamily="50" charset="-128"/>
              </a:rPr>
              <a:t>ISO</a:t>
            </a:r>
            <a:r>
              <a:rPr lang="ja-JP" altLang="en-US" sz="1400" dirty="0">
                <a:latin typeface="メイリオ" panose="020B0604030504040204" pitchFamily="50" charset="-128"/>
                <a:ea typeface="メイリオ" panose="020B0604030504040204" pitchFamily="50" charset="-128"/>
              </a:rPr>
              <a:t>）に対応。</a:t>
            </a:r>
          </a:p>
        </p:txBody>
      </p:sp>
    </p:spTree>
    <p:extLst>
      <p:ext uri="{BB962C8B-B14F-4D97-AF65-F5344CB8AC3E}">
        <p14:creationId xmlns:p14="http://schemas.microsoft.com/office/powerpoint/2010/main" val="3447240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9DF75-DBE2-C7C1-5820-5D970202034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5AFD55A-4CFE-0FA9-0872-6B8E4C89A005}"/>
              </a:ext>
            </a:extLst>
          </p:cNvPr>
          <p:cNvSpPr txBox="1"/>
          <p:nvPr/>
        </p:nvSpPr>
        <p:spPr>
          <a:xfrm>
            <a:off x="215217" y="147482"/>
            <a:ext cx="6822702"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６．人材は“解析する人”から“</a:t>
            </a: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基盤を監督する人”へ進化</a:t>
            </a:r>
          </a:p>
        </p:txBody>
      </p:sp>
      <p:sp>
        <p:nvSpPr>
          <p:cNvPr id="7" name="テキスト ボックス 6">
            <a:extLst>
              <a:ext uri="{FF2B5EF4-FFF2-40B4-BE49-F238E27FC236}">
                <a16:creationId xmlns:a16="http://schemas.microsoft.com/office/drawing/2014/main" id="{4CB19460-4554-F302-6B2E-CD76431730AA}"/>
              </a:ext>
            </a:extLst>
          </p:cNvPr>
          <p:cNvSpPr txBox="1"/>
          <p:nvPr/>
        </p:nvSpPr>
        <p:spPr>
          <a:xfrm>
            <a:off x="528982" y="708211"/>
            <a:ext cx="11331324" cy="1661993"/>
          </a:xfrm>
          <a:prstGeom prst="rect">
            <a:avLst/>
          </a:prstGeom>
          <a:noFill/>
        </p:spPr>
        <p:txBody>
          <a:bodyPr wrap="square" rtlCol="0">
            <a:spAutoFit/>
          </a:bodyPr>
          <a:lstStyle/>
          <a:p>
            <a:pPr>
              <a:buNone/>
            </a:pPr>
            <a:r>
              <a:rPr lang="ja-JP" altLang="en-US" b="1" dirty="0">
                <a:latin typeface="メイリオ" panose="020B0604030504040204" pitchFamily="50" charset="-128"/>
                <a:ea typeface="メイリオ" panose="020B0604030504040204" pitchFamily="50" charset="-128"/>
              </a:rPr>
              <a:t>人材スキルの変化</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現状：データサイエンティストが</a:t>
            </a:r>
            <a:r>
              <a:rPr lang="en-US" altLang="ja-JP" sz="1600" dirty="0">
                <a:latin typeface="メイリオ" panose="020B0604030504040204" pitchFamily="50" charset="-128"/>
                <a:ea typeface="メイリオ" panose="020B0604030504040204" pitchFamily="50" charset="-128"/>
              </a:rPr>
              <a:t>SQL</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Python</a:t>
            </a:r>
            <a:r>
              <a:rPr lang="ja-JP" altLang="en-US" sz="1600" dirty="0">
                <a:latin typeface="メイリオ" panose="020B0604030504040204" pitchFamily="50" charset="-128"/>
                <a:ea typeface="メイリオ" panose="020B0604030504040204" pitchFamily="50" charset="-128"/>
              </a:rPr>
              <a:t>でモデルを作り、現場に説明する。</a:t>
            </a:r>
          </a:p>
          <a:p>
            <a:pPr>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将来：</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“現場エンジニア </a:t>
            </a:r>
            <a:r>
              <a:rPr lang="en-US" altLang="ja-JP" sz="1600" dirty="0">
                <a:latin typeface="メイリオ" panose="020B0604030504040204" pitchFamily="50" charset="-128"/>
                <a:ea typeface="メイリオ" panose="020B0604030504040204" pitchFamily="50" charset="-128"/>
              </a:rPr>
              <a:t>× AI</a:t>
            </a:r>
            <a:r>
              <a:rPr lang="ja-JP" altLang="en-US" sz="1600" dirty="0">
                <a:latin typeface="メイリオ" panose="020B0604030504040204" pitchFamily="50" charset="-128"/>
                <a:ea typeface="メイリオ" panose="020B0604030504040204" pitchFamily="50" charset="-128"/>
              </a:rPr>
              <a:t>支援” が標準化。エンジニアが自然言語で「どの工程の寄与率を解析」と指示できる。</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データサイエンティストは</a:t>
            </a:r>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基盤設計と運用監督へシフト。</a:t>
            </a:r>
          </a:p>
          <a:p>
            <a:pPr marL="742950" lvl="1" indent="-285750">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教育では「因果思考＋クラウド実装＋品質工学」の三位一体が必須。</a:t>
            </a:r>
          </a:p>
        </p:txBody>
      </p:sp>
      <p:sp>
        <p:nvSpPr>
          <p:cNvPr id="3" name="テキスト ボックス 2">
            <a:extLst>
              <a:ext uri="{FF2B5EF4-FFF2-40B4-BE49-F238E27FC236}">
                <a16:creationId xmlns:a16="http://schemas.microsoft.com/office/drawing/2014/main" id="{815C0B51-AD6D-2660-0D74-B2BD218FA321}"/>
              </a:ext>
            </a:extLst>
          </p:cNvPr>
          <p:cNvSpPr txBox="1"/>
          <p:nvPr/>
        </p:nvSpPr>
        <p:spPr>
          <a:xfrm>
            <a:off x="528982" y="4443147"/>
            <a:ext cx="5567018" cy="1415772"/>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課題</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エンジニアが</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を信頼するためには「根拠説明」が必須。</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データサイエンティストは「</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に置き換えられる」領域と「</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でも代替できない」領域を見極める必要。</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教育プログラムをどう設計し、若手</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ベテランにスムーズに浸透させるかが重要。</a:t>
            </a:r>
          </a:p>
        </p:txBody>
      </p:sp>
      <p:sp>
        <p:nvSpPr>
          <p:cNvPr id="4" name="テキスト ボックス 3">
            <a:extLst>
              <a:ext uri="{FF2B5EF4-FFF2-40B4-BE49-F238E27FC236}">
                <a16:creationId xmlns:a16="http://schemas.microsoft.com/office/drawing/2014/main" id="{9818C2E3-41F6-AD22-73D0-9D5DB72D9611}"/>
              </a:ext>
            </a:extLst>
          </p:cNvPr>
          <p:cNvSpPr txBox="1"/>
          <p:nvPr/>
        </p:nvSpPr>
        <p:spPr>
          <a:xfrm>
            <a:off x="6468100" y="4443146"/>
            <a:ext cx="5186018" cy="1415772"/>
          </a:xfrm>
          <a:prstGeom prst="rect">
            <a:avLst/>
          </a:prstGeom>
          <a:noFill/>
        </p:spPr>
        <p:txBody>
          <a:bodyPr wrap="square">
            <a:spAutoFit/>
          </a:bodyPr>
          <a:lstStyle/>
          <a:p>
            <a:pPr>
              <a:buNone/>
            </a:pPr>
            <a:r>
              <a:rPr lang="ja-JP" altLang="en-US" sz="1600" b="1" dirty="0">
                <a:latin typeface="メイリオ" panose="020B0604030504040204" pitchFamily="50" charset="-128"/>
                <a:ea typeface="メイリオ" panose="020B0604030504040204" pitchFamily="50" charset="-128"/>
              </a:rPr>
              <a:t>課題</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エンジニアが</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を信頼するためには「根拠説明」が必須。</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データサイエンティストは「</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に置き換えられる」領域と「</a:t>
            </a:r>
            <a:r>
              <a:rPr lang="en-US" altLang="ja-JP" sz="1400" dirty="0">
                <a:latin typeface="メイリオ" panose="020B0604030504040204" pitchFamily="50" charset="-128"/>
                <a:ea typeface="メイリオ" panose="020B0604030504040204" pitchFamily="50" charset="-128"/>
              </a:rPr>
              <a:t>AI</a:t>
            </a:r>
            <a:r>
              <a:rPr lang="ja-JP" altLang="en-US" sz="1400" dirty="0">
                <a:latin typeface="メイリオ" panose="020B0604030504040204" pitchFamily="50" charset="-128"/>
                <a:ea typeface="メイリオ" panose="020B0604030504040204" pitchFamily="50" charset="-128"/>
              </a:rPr>
              <a:t>でも代替できない」領域を見極める必要。</a:t>
            </a:r>
          </a:p>
          <a:p>
            <a:pPr>
              <a:buFont typeface="Arial" panose="020B0604020202020204" pitchFamily="34" charset="0"/>
              <a:buChar char="•"/>
            </a:pPr>
            <a:r>
              <a:rPr lang="ja-JP" altLang="en-US" sz="1400" dirty="0">
                <a:latin typeface="メイリオ" panose="020B0604030504040204" pitchFamily="50" charset="-128"/>
                <a:ea typeface="メイリオ" panose="020B0604030504040204" pitchFamily="50" charset="-128"/>
              </a:rPr>
              <a:t>教育プログラムをどう設計し、若手</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ベテランにスムーズに浸透させるかが重要。</a:t>
            </a:r>
          </a:p>
        </p:txBody>
      </p:sp>
    </p:spTree>
    <p:extLst>
      <p:ext uri="{BB962C8B-B14F-4D97-AF65-F5344CB8AC3E}">
        <p14:creationId xmlns:p14="http://schemas.microsoft.com/office/powerpoint/2010/main" val="124441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6BE1-E45F-348D-DB7B-7AE82900B7D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36419FC-BCCF-9931-B104-783C83851031}"/>
              </a:ext>
            </a:extLst>
          </p:cNvPr>
          <p:cNvSpPr txBox="1"/>
          <p:nvPr/>
        </p:nvSpPr>
        <p:spPr>
          <a:xfrm>
            <a:off x="215217" y="147482"/>
            <a:ext cx="6822702" cy="400110"/>
          </a:xfrm>
          <a:prstGeom prst="rect">
            <a:avLst/>
          </a:prstGeom>
          <a:noFill/>
        </p:spPr>
        <p:txBody>
          <a:bodyPr wrap="none" rtlCol="0">
            <a:spAutoFit/>
          </a:bodyPr>
          <a:lstStyle/>
          <a:p>
            <a:r>
              <a:rPr lang="ja-JP" altLang="en-US" sz="2000" dirty="0">
                <a:latin typeface="メイリオ" panose="020B0604030504040204" pitchFamily="50" charset="-128"/>
                <a:ea typeface="メイリオ" panose="020B0604030504040204" pitchFamily="50" charset="-128"/>
              </a:rPr>
              <a:t>６．人材は“解析する人”から“</a:t>
            </a: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基盤を監督する人”へ進化</a:t>
            </a:r>
          </a:p>
        </p:txBody>
      </p:sp>
      <p:sp>
        <p:nvSpPr>
          <p:cNvPr id="4" name="テキスト ボックス 3">
            <a:extLst>
              <a:ext uri="{FF2B5EF4-FFF2-40B4-BE49-F238E27FC236}">
                <a16:creationId xmlns:a16="http://schemas.microsoft.com/office/drawing/2014/main" id="{4103C68E-F64E-9753-101D-6A9CEE10BFEB}"/>
              </a:ext>
            </a:extLst>
          </p:cNvPr>
          <p:cNvSpPr txBox="1"/>
          <p:nvPr/>
        </p:nvSpPr>
        <p:spPr>
          <a:xfrm>
            <a:off x="381000" y="547592"/>
            <a:ext cx="11258550" cy="6001643"/>
          </a:xfrm>
          <a:prstGeom prst="rect">
            <a:avLst/>
          </a:prstGeom>
          <a:noFill/>
        </p:spPr>
        <p:txBody>
          <a:bodyPr wrap="square">
            <a:spAutoFit/>
          </a:bodyPr>
          <a:lstStyle/>
          <a:p>
            <a:pPr>
              <a:buNone/>
            </a:pPr>
            <a:r>
              <a:rPr lang="ja-JP" altLang="en-US" sz="1400" b="1" dirty="0">
                <a:latin typeface="メイリオ" panose="020B0604030504040204" pitchFamily="50" charset="-128"/>
                <a:ea typeface="メイリオ" panose="020B0604030504040204" pitchFamily="50" charset="-128"/>
              </a:rPr>
              <a:t>将来（シフトの方向性）</a:t>
            </a:r>
          </a:p>
          <a:p>
            <a:pPr>
              <a:buNone/>
            </a:pPr>
            <a:r>
              <a:rPr lang="en-US" altLang="ja-JP" sz="1200" dirty="0">
                <a:latin typeface="メイリオ" panose="020B0604030504040204" pitchFamily="50" charset="-128"/>
                <a:ea typeface="メイリオ" panose="020B0604030504040204" pitchFamily="50" charset="-128"/>
              </a:rPr>
              <a:t>1. </a:t>
            </a:r>
            <a:r>
              <a:rPr lang="ja-JP" altLang="en-US" sz="1200" dirty="0">
                <a:latin typeface="メイリオ" panose="020B0604030504040204" pitchFamily="50" charset="-128"/>
                <a:ea typeface="メイリオ" panose="020B0604030504040204" pitchFamily="50" charset="-128"/>
              </a:rPr>
              <a:t>現場エンジニア </a:t>
            </a:r>
            <a:r>
              <a:rPr lang="en-US" altLang="ja-JP" sz="1200" dirty="0">
                <a:latin typeface="メイリオ" panose="020B0604030504040204" pitchFamily="50" charset="-128"/>
                <a:ea typeface="メイリオ" panose="020B0604030504040204" pitchFamily="50" charset="-128"/>
              </a:rPr>
              <a:t>× AI</a:t>
            </a:r>
            <a:r>
              <a:rPr lang="ja-JP" altLang="en-US" sz="1200" dirty="0">
                <a:latin typeface="メイリオ" panose="020B0604030504040204" pitchFamily="50" charset="-128"/>
                <a:ea typeface="メイリオ" panose="020B0604030504040204" pitchFamily="50" charset="-128"/>
              </a:rPr>
              <a:t>支援の標準化</a:t>
            </a:r>
          </a:p>
          <a:p>
            <a:pPr>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変化：エンジニアが</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を自然言語で操作できるようになる。</a:t>
            </a:r>
          </a:p>
          <a:p>
            <a:pPr>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イメージ：</a:t>
            </a:r>
          </a:p>
          <a:p>
            <a:pPr marL="742950" lvl="1" indent="-285750">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エンジニア：「この工程の寄与率を解析して」</a:t>
            </a:r>
          </a:p>
          <a:p>
            <a:pPr marL="742950" lvl="1" indent="-285750">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：関連データを抽出し、寄与度グラフ＋要因分解結果を即時提示。</a:t>
            </a:r>
          </a:p>
          <a:p>
            <a:pPr>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背景：</a:t>
            </a:r>
          </a:p>
          <a:p>
            <a:pPr marL="742950" lvl="1" indent="-285750">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LLM</a:t>
            </a:r>
            <a:r>
              <a:rPr lang="ja-JP" altLang="en-US" sz="1200" dirty="0">
                <a:latin typeface="メイリオ" panose="020B0604030504040204" pitchFamily="50" charset="-128"/>
                <a:ea typeface="メイリオ" panose="020B0604030504040204" pitchFamily="50" charset="-128"/>
              </a:rPr>
              <a:t>（大規模言語モデル）の進化で、</a:t>
            </a:r>
            <a:r>
              <a:rPr lang="en-US" altLang="ja-JP" sz="1200" dirty="0">
                <a:latin typeface="メイリオ" panose="020B0604030504040204" pitchFamily="50" charset="-128"/>
                <a:ea typeface="メイリオ" panose="020B0604030504040204" pitchFamily="50" charset="-128"/>
              </a:rPr>
              <a:t>SQL</a:t>
            </a:r>
            <a:r>
              <a:rPr lang="ja-JP" altLang="en-US" sz="1200" dirty="0">
                <a:latin typeface="メイリオ" panose="020B0604030504040204" pitchFamily="50" charset="-128"/>
                <a:ea typeface="メイリオ" panose="020B0604030504040204" pitchFamily="50" charset="-128"/>
              </a:rPr>
              <a:t>や</a:t>
            </a:r>
            <a:r>
              <a:rPr lang="en-US" altLang="ja-JP" sz="1200" dirty="0">
                <a:latin typeface="メイリオ" panose="020B0604030504040204" pitchFamily="50" charset="-128"/>
                <a:ea typeface="メイリオ" panose="020B0604030504040204" pitchFamily="50" charset="-128"/>
              </a:rPr>
              <a:t>Python</a:t>
            </a:r>
            <a:r>
              <a:rPr lang="ja-JP" altLang="en-US" sz="1200" dirty="0">
                <a:latin typeface="メイリオ" panose="020B0604030504040204" pitchFamily="50" charset="-128"/>
                <a:ea typeface="メイリオ" panose="020B0604030504040204" pitchFamily="50" charset="-128"/>
              </a:rPr>
              <a:t>を書かなくても解析可能に。</a:t>
            </a:r>
          </a:p>
          <a:p>
            <a:pPr marL="742950" lvl="1" indent="-285750">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BI</a:t>
            </a: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の統合環境（例：生成</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＋データベース）が広がる。</a:t>
            </a:r>
          </a:p>
          <a:p>
            <a:pPr>
              <a:buNone/>
            </a:pPr>
            <a:r>
              <a:rPr lang="ja-JP" altLang="en-US" sz="1200" dirty="0">
                <a:latin typeface="メイリオ" panose="020B0604030504040204" pitchFamily="50" charset="-128"/>
                <a:ea typeface="メイリオ" panose="020B0604030504040204" pitchFamily="50" charset="-128"/>
              </a:rPr>
              <a:t>👉 「誰でもデータサイエンス」が現場レベルで実現。</a:t>
            </a:r>
            <a:br>
              <a:rPr lang="ja-JP" altLang="en-US" sz="1200" dirty="0">
                <a:latin typeface="メイリオ" panose="020B0604030504040204" pitchFamily="50" charset="-128"/>
                <a:ea typeface="メイリオ" panose="020B0604030504040204" pitchFamily="50" charset="-128"/>
              </a:rPr>
            </a:br>
            <a:endParaRPr lang="ja-JP" altLang="en-US" sz="1200" dirty="0">
              <a:latin typeface="メイリオ" panose="020B0604030504040204" pitchFamily="50" charset="-128"/>
              <a:ea typeface="メイリオ" panose="020B0604030504040204" pitchFamily="50" charset="-128"/>
            </a:endParaRPr>
          </a:p>
          <a:p>
            <a:pPr>
              <a:buNone/>
            </a:pPr>
            <a:r>
              <a:rPr lang="en-US" altLang="ja-JP" sz="1200" dirty="0">
                <a:latin typeface="メイリオ" panose="020B0604030504040204" pitchFamily="50" charset="-128"/>
                <a:ea typeface="メイリオ" panose="020B0604030504040204" pitchFamily="50" charset="-128"/>
              </a:rPr>
              <a:t>2. </a:t>
            </a:r>
            <a:r>
              <a:rPr lang="ja-JP" altLang="en-US" sz="1200" dirty="0">
                <a:latin typeface="メイリオ" panose="020B0604030504040204" pitchFamily="50" charset="-128"/>
                <a:ea typeface="メイリオ" panose="020B0604030504040204" pitchFamily="50" charset="-128"/>
              </a:rPr>
              <a:t>データサイエンティストの役割変化</a:t>
            </a:r>
          </a:p>
          <a:p>
            <a:pPr>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これからの役割は「解析実務」から「</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基盤設計・監督」へ。</a:t>
            </a:r>
          </a:p>
          <a:p>
            <a:pPr>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具体的には：</a:t>
            </a:r>
          </a:p>
          <a:p>
            <a:pPr marL="742950" lvl="1" indent="-285750">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データ統合基盤やクラウド</a:t>
            </a:r>
            <a:r>
              <a:rPr lang="en-US" altLang="ja-JP" sz="1200" dirty="0">
                <a:latin typeface="メイリオ" panose="020B0604030504040204" pitchFamily="50" charset="-128"/>
                <a:ea typeface="メイリオ" panose="020B0604030504040204" pitchFamily="50" charset="-128"/>
              </a:rPr>
              <a:t>DWH</a:t>
            </a:r>
            <a:r>
              <a:rPr lang="ja-JP" altLang="en-US" sz="1200" dirty="0">
                <a:latin typeface="メイリオ" panose="020B0604030504040204" pitchFamily="50" charset="-128"/>
                <a:ea typeface="メイリオ" panose="020B0604030504040204" pitchFamily="50" charset="-128"/>
              </a:rPr>
              <a:t>の設計・運用。</a:t>
            </a:r>
          </a:p>
          <a:p>
            <a:pPr marL="742950" lvl="1" indent="-285750">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モデルの精度管理、バージョン管理、</a:t>
            </a:r>
            <a:r>
              <a:rPr lang="en-US" altLang="ja-JP" sz="1200" dirty="0" err="1">
                <a:latin typeface="メイリオ" panose="020B0604030504040204" pitchFamily="50" charset="-128"/>
                <a:ea typeface="メイリオ" panose="020B0604030504040204" pitchFamily="50" charset="-128"/>
              </a:rPr>
              <a:t>MLOps</a:t>
            </a:r>
            <a:r>
              <a:rPr lang="ja-JP" altLang="en-US" sz="1200" dirty="0">
                <a:latin typeface="メイリオ" panose="020B0604030504040204" pitchFamily="50" charset="-128"/>
                <a:ea typeface="メイリオ" panose="020B0604030504040204" pitchFamily="50" charset="-128"/>
              </a:rPr>
              <a:t>の整備。</a:t>
            </a:r>
          </a:p>
          <a:p>
            <a:pPr marL="742950" lvl="1" indent="-285750">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が出す答えの妥当性検証（</a:t>
            </a:r>
            <a:r>
              <a:rPr lang="en-US" altLang="ja-JP" sz="1200" dirty="0">
                <a:latin typeface="メイリオ" panose="020B0604030504040204" pitchFamily="50" charset="-128"/>
                <a:ea typeface="メイリオ" panose="020B0604030504040204" pitchFamily="50" charset="-128"/>
              </a:rPr>
              <a:t>Explainability</a:t>
            </a:r>
            <a:r>
              <a:rPr lang="ja-JP" altLang="en-US" sz="1200" dirty="0">
                <a:latin typeface="メイリオ" panose="020B0604030504040204" pitchFamily="50" charset="-128"/>
                <a:ea typeface="メイリオ" panose="020B0604030504040204" pitchFamily="50" charset="-128"/>
              </a:rPr>
              <a:t>・因果検証）。</a:t>
            </a:r>
          </a:p>
          <a:p>
            <a:pPr marL="742950" lvl="1" indent="-285750">
              <a:buFont typeface="Arial" panose="020B0604020202020204" pitchFamily="34" charset="0"/>
              <a:buChar char="•"/>
            </a:pPr>
            <a:r>
              <a:rPr lang="ja-JP" altLang="en-US" sz="1200" dirty="0">
                <a:latin typeface="メイリオ" panose="020B0604030504040204" pitchFamily="50" charset="-128"/>
                <a:ea typeface="メイリオ" panose="020B0604030504040204" pitchFamily="50" charset="-128"/>
              </a:rPr>
              <a:t>全社横断的な解析フレームワーク構築。</a:t>
            </a:r>
          </a:p>
          <a:p>
            <a:pPr>
              <a:buNone/>
            </a:pPr>
            <a:r>
              <a:rPr lang="ja-JP" altLang="en-US" sz="1200" dirty="0">
                <a:latin typeface="メイリオ" panose="020B0604030504040204" pitchFamily="50" charset="-128"/>
                <a:ea typeface="メイリオ" panose="020B0604030504040204" pitchFamily="50" charset="-128"/>
              </a:rPr>
              <a:t>👉 「手を動かす専門家」から「</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と人をつなぐ設計者・監督者」へ。</a:t>
            </a:r>
            <a:br>
              <a:rPr lang="ja-JP" altLang="en-US" sz="1200" dirty="0">
                <a:latin typeface="メイリオ" panose="020B0604030504040204" pitchFamily="50" charset="-128"/>
                <a:ea typeface="メイリオ" panose="020B0604030504040204" pitchFamily="50" charset="-128"/>
              </a:rPr>
            </a:br>
            <a:endParaRPr lang="ja-JP" altLang="en-US" sz="1200" dirty="0">
              <a:latin typeface="メイリオ" panose="020B0604030504040204" pitchFamily="50" charset="-128"/>
              <a:ea typeface="メイリオ" panose="020B0604030504040204" pitchFamily="50" charset="-128"/>
            </a:endParaRPr>
          </a:p>
          <a:p>
            <a:pPr>
              <a:buNone/>
            </a:pPr>
            <a:r>
              <a:rPr lang="en-US" altLang="ja-JP" sz="1200" dirty="0">
                <a:latin typeface="メイリオ" panose="020B0604030504040204" pitchFamily="50" charset="-128"/>
                <a:ea typeface="メイリオ" panose="020B0604030504040204" pitchFamily="50" charset="-128"/>
              </a:rPr>
              <a:t>3. </a:t>
            </a:r>
            <a:r>
              <a:rPr lang="ja-JP" altLang="en-US" sz="1200" dirty="0">
                <a:latin typeface="メイリオ" panose="020B0604030504040204" pitchFamily="50" charset="-128"/>
                <a:ea typeface="メイリオ" panose="020B0604030504040204" pitchFamily="50" charset="-128"/>
              </a:rPr>
              <a:t>教育の必須スキルセット</a:t>
            </a:r>
          </a:p>
          <a:p>
            <a:pPr>
              <a:buNone/>
            </a:pPr>
            <a:r>
              <a:rPr lang="ja-JP" altLang="en-US" sz="1200" dirty="0">
                <a:latin typeface="メイリオ" panose="020B0604030504040204" pitchFamily="50" charset="-128"/>
                <a:ea typeface="メイリオ" panose="020B0604030504040204" pitchFamily="50" charset="-128"/>
              </a:rPr>
              <a:t>将来の人材育成では「因果思考 </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クラウド実装 </a:t>
            </a:r>
            <a:r>
              <a:rPr lang="en-US" altLang="ja-JP" sz="1200" dirty="0">
                <a:latin typeface="メイリオ" panose="020B0604030504040204" pitchFamily="50" charset="-128"/>
                <a:ea typeface="メイリオ" panose="020B0604030504040204" pitchFamily="50" charset="-128"/>
              </a:rPr>
              <a:t>× </a:t>
            </a:r>
            <a:r>
              <a:rPr lang="ja-JP" altLang="en-US" sz="1200" dirty="0">
                <a:latin typeface="メイリオ" panose="020B0604030504040204" pitchFamily="50" charset="-128"/>
                <a:ea typeface="メイリオ" panose="020B0604030504040204" pitchFamily="50" charset="-128"/>
              </a:rPr>
              <a:t>品質工学」が三位一体に。</a:t>
            </a:r>
          </a:p>
          <a:p>
            <a:pPr>
              <a:buFont typeface="+mj-lt"/>
              <a:buAutoNum type="arabicPeriod"/>
            </a:pPr>
            <a:r>
              <a:rPr lang="ja-JP" altLang="en-US" sz="1200" dirty="0">
                <a:latin typeface="メイリオ" panose="020B0604030504040204" pitchFamily="50" charset="-128"/>
                <a:ea typeface="メイリオ" panose="020B0604030504040204" pitchFamily="50" charset="-128"/>
              </a:rPr>
              <a:t>因果思考</a:t>
            </a:r>
          </a:p>
          <a:p>
            <a:pPr marL="742950" lvl="1" indent="-285750">
              <a:buFont typeface="+mj-lt"/>
              <a:buAutoNum type="arabicPeriod"/>
            </a:pPr>
            <a:r>
              <a:rPr lang="ja-JP" altLang="en-US" sz="1200" dirty="0">
                <a:latin typeface="メイリオ" panose="020B0604030504040204" pitchFamily="50" charset="-128"/>
                <a:ea typeface="メイリオ" panose="020B0604030504040204" pitchFamily="50" charset="-128"/>
              </a:rPr>
              <a:t>単なる相関分析ではなく「何を変えれば改善するか」を見極める力。</a:t>
            </a:r>
          </a:p>
          <a:p>
            <a:pPr marL="742950" lvl="1" indent="-285750">
              <a:buFont typeface="+mj-lt"/>
              <a:buAutoNum type="arabicPeriod"/>
            </a:pPr>
            <a:r>
              <a:rPr lang="en-US" altLang="ja-JP" sz="1200" dirty="0">
                <a:latin typeface="メイリオ" panose="020B0604030504040204" pitchFamily="50" charset="-128"/>
                <a:ea typeface="メイリオ" panose="020B0604030504040204" pitchFamily="50" charset="-128"/>
              </a:rPr>
              <a:t>DAG</a:t>
            </a:r>
            <a:r>
              <a:rPr lang="ja-JP" altLang="en-US" sz="1200" dirty="0">
                <a:latin typeface="メイリオ" panose="020B0604030504040204" pitchFamily="50" charset="-128"/>
                <a:ea typeface="メイリオ" panose="020B0604030504040204" pitchFamily="50" charset="-128"/>
              </a:rPr>
              <a:t>（因果グラフ）、介入効果、反事実推論の理解。</a:t>
            </a:r>
          </a:p>
          <a:p>
            <a:pPr>
              <a:buFont typeface="+mj-lt"/>
              <a:buAutoNum type="arabicPeriod"/>
            </a:pPr>
            <a:r>
              <a:rPr lang="ja-JP" altLang="en-US" sz="1200" dirty="0">
                <a:latin typeface="メイリオ" panose="020B0604030504040204" pitchFamily="50" charset="-128"/>
                <a:ea typeface="メイリオ" panose="020B0604030504040204" pitchFamily="50" charset="-128"/>
              </a:rPr>
              <a:t>クラウド実装</a:t>
            </a:r>
          </a:p>
          <a:p>
            <a:pPr marL="742950" lvl="1" indent="-285750">
              <a:buFont typeface="+mj-lt"/>
              <a:buAutoNum type="arabicPeriod"/>
            </a:pPr>
            <a:r>
              <a:rPr lang="en-US" altLang="ja-JP" sz="1200" dirty="0">
                <a:latin typeface="メイリオ" panose="020B0604030504040204" pitchFamily="50" charset="-128"/>
                <a:ea typeface="メイリオ" panose="020B0604030504040204" pitchFamily="50" charset="-128"/>
              </a:rPr>
              <a:t>AWS/GCP/Azure</a:t>
            </a:r>
            <a:r>
              <a:rPr lang="ja-JP" altLang="en-US" sz="1200" dirty="0">
                <a:latin typeface="メイリオ" panose="020B0604030504040204" pitchFamily="50" charset="-128"/>
                <a:ea typeface="メイリオ" panose="020B0604030504040204" pitchFamily="50" charset="-128"/>
              </a:rPr>
              <a:t>の</a:t>
            </a:r>
            <a:r>
              <a:rPr lang="en-US" altLang="ja-JP" sz="1200" dirty="0">
                <a:latin typeface="メイリオ" panose="020B0604030504040204" pitchFamily="50" charset="-128"/>
                <a:ea typeface="メイリオ" panose="020B0604030504040204" pitchFamily="50" charset="-128"/>
              </a:rPr>
              <a:t>DWH</a:t>
            </a:r>
            <a:r>
              <a:rPr lang="ja-JP" altLang="en-US" sz="1200" dirty="0">
                <a:latin typeface="メイリオ" panose="020B0604030504040204" pitchFamily="50" charset="-128"/>
                <a:ea typeface="メイリオ" panose="020B0604030504040204" pitchFamily="50" charset="-128"/>
              </a:rPr>
              <a:t>や</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基盤を操作できる力。</a:t>
            </a:r>
          </a:p>
          <a:p>
            <a:pPr marL="742950" lvl="1" indent="-285750">
              <a:buFont typeface="+mj-lt"/>
              <a:buAutoNum type="arabicPeriod"/>
            </a:pPr>
            <a:r>
              <a:rPr lang="ja-JP" altLang="en-US" sz="1200" dirty="0">
                <a:latin typeface="メイリオ" panose="020B0604030504040204" pitchFamily="50" charset="-128"/>
                <a:ea typeface="メイリオ" panose="020B0604030504040204" pitchFamily="50" charset="-128"/>
              </a:rPr>
              <a:t>データ統合・可視化・</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推論環境を現場にデプロイできる実装スキル。</a:t>
            </a:r>
          </a:p>
          <a:p>
            <a:pPr>
              <a:buFont typeface="+mj-lt"/>
              <a:buAutoNum type="arabicPeriod"/>
            </a:pPr>
            <a:r>
              <a:rPr lang="ja-JP" altLang="en-US" sz="1200" dirty="0">
                <a:latin typeface="メイリオ" panose="020B0604030504040204" pitchFamily="50" charset="-128"/>
                <a:ea typeface="メイリオ" panose="020B0604030504040204" pitchFamily="50" charset="-128"/>
              </a:rPr>
              <a:t>品質工学（田口メソッド含む）</a:t>
            </a:r>
          </a:p>
          <a:p>
            <a:pPr marL="742950" lvl="1" indent="-285750">
              <a:buFont typeface="+mj-lt"/>
              <a:buAutoNum type="arabicPeriod"/>
            </a:pPr>
            <a:r>
              <a:rPr lang="ja-JP" altLang="en-US" sz="1200" dirty="0">
                <a:latin typeface="メイリオ" panose="020B0604030504040204" pitchFamily="50" charset="-128"/>
                <a:ea typeface="メイリオ" panose="020B0604030504040204" pitchFamily="50" charset="-128"/>
              </a:rPr>
              <a:t>「ばらつき低減」や「ロバスト設計」の知識。</a:t>
            </a:r>
          </a:p>
          <a:p>
            <a:pPr marL="742950" lvl="1" indent="-285750">
              <a:buFont typeface="+mj-lt"/>
              <a:buAutoNum type="arabicPeriod"/>
            </a:pP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解析の結果を、実際の工程改善に落とし込むための伝統的な品質管理の考え方。</a:t>
            </a:r>
          </a:p>
          <a:p>
            <a:pPr>
              <a:buNone/>
            </a:pPr>
            <a:r>
              <a:rPr lang="ja-JP" altLang="en-US" sz="1200"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AI</a:t>
            </a:r>
            <a:r>
              <a:rPr lang="ja-JP" altLang="en-US" sz="1200" dirty="0">
                <a:latin typeface="メイリオ" panose="020B0604030504040204" pitchFamily="50" charset="-128"/>
                <a:ea typeface="メイリオ" panose="020B0604030504040204" pitchFamily="50" charset="-128"/>
              </a:rPr>
              <a:t>で要因を見つけ、クラウドで実装し、品質工学で改善を定着させる人材が価値を持つ。</a:t>
            </a:r>
          </a:p>
        </p:txBody>
      </p:sp>
    </p:spTree>
    <p:extLst>
      <p:ext uri="{BB962C8B-B14F-4D97-AF65-F5344CB8AC3E}">
        <p14:creationId xmlns:p14="http://schemas.microsoft.com/office/powerpoint/2010/main" val="292351421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4799</Words>
  <Application>Microsoft Office PowerPoint</Application>
  <PresentationFormat>ワイド画面</PresentationFormat>
  <Paragraphs>379</Paragraphs>
  <Slides>19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19</vt:i4>
      </vt:variant>
    </vt:vector>
  </HeadingPairs>
  <TitlesOfParts>
    <vt:vector size="24" baseType="lpstr">
      <vt:lpstr>メイリオ</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幸隆 浦</dc:creator>
  <cp:lastModifiedBy>幸隆 浦</cp:lastModifiedBy>
  <cp:revision>7</cp:revision>
  <dcterms:created xsi:type="dcterms:W3CDTF">2025-09-28T13:08:51Z</dcterms:created>
  <dcterms:modified xsi:type="dcterms:W3CDTF">2025-09-28T14:54:13Z</dcterms:modified>
</cp:coreProperties>
</file>