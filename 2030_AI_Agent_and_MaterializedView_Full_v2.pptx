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4" r:id="rId16"/>
    <p:sldId id="270" r:id="rId17"/>
    <p:sldId id="271" r:id="rId18"/>
    <p:sldId id="272" r:id="rId19"/>
    <p:sldId id="273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3950" y="2898085"/>
            <a:ext cx="10160923" cy="10618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100" dirty="0"/>
          </a:p>
          <a:p>
            <a:pPr algn="ctr">
              <a:defRPr sz="4400" b="1">
                <a:solidFill>
                  <a:srgbClr val="003366"/>
                </a:solidFill>
              </a:defRPr>
            </a:pPr>
            <a:r>
              <a:rPr sz="2800" dirty="0"/>
              <a:t>2030年 </a:t>
            </a:r>
            <a:r>
              <a:rPr sz="2800" dirty="0" err="1"/>
              <a:t>製造業AIエージェント設計とマテビュー実装ガイド</a:t>
            </a:r>
            <a:endParaRPr sz="2800" dirty="0"/>
          </a:p>
          <a:p>
            <a:pPr algn="ctr">
              <a:defRPr sz="2600">
                <a:solidFill>
                  <a:srgbClr val="505050"/>
                </a:solidFill>
              </a:defRPr>
            </a:pPr>
            <a:r>
              <a:rPr sz="2400" dirty="0" err="1"/>
              <a:t>リアルタイムAI基盤と知的マテビュー設計の完全版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 b="1">
                <a:solidFill>
                  <a:srgbClr val="003366"/>
                </a:solidFill>
              </a:defRPr>
            </a:pPr>
            <a:r>
              <a:t>1. 目的と背景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2000"/>
            </a:pPr>
            <a:r>
              <a:t>2030年の製造業では、品質・コスト・納期の同時最適化が必須となり、AIエージェントが現場に常駐してリアルタイムで意思決定を支援します。</a:t>
            </a:r>
          </a:p>
          <a:p>
            <a:pPr>
              <a:spcAft>
                <a:spcPts val="600"/>
              </a:spcAft>
              <a:defRPr sz="2000"/>
            </a:pPr>
            <a:r>
              <a:t>しかし、全データを毎回分析する方式は非現実的です。</a:t>
            </a:r>
          </a:p>
          <a:p>
            <a:pPr>
              <a:spcAft>
                <a:spcPts val="600"/>
              </a:spcAft>
              <a:defRPr sz="2000"/>
            </a:pPr>
            <a:r>
              <a:t>本資料では、リアルタイムAIエージェントの設計とマテビューの構築法を体系的に整理します。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 b="1">
                <a:solidFill>
                  <a:srgbClr val="003366"/>
                </a:solidFill>
              </a:defRPr>
            </a:pPr>
            <a:r>
              <a:t>2. リアルタイムAIエージェントの設計思想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◆ </a:t>
            </a:r>
            <a:r>
              <a:rPr dirty="0" err="1"/>
              <a:t>フルスキャンの限界</a:t>
            </a:r>
            <a:endParaRPr dirty="0"/>
          </a:p>
          <a:p>
            <a:pPr>
              <a:spcAft>
                <a:spcPts val="600"/>
              </a:spcAft>
              <a:defRPr sz="2000"/>
            </a:pPr>
            <a:r>
              <a:rPr lang="en-US" altLang="ja-JP" dirty="0"/>
              <a:t>AI</a:t>
            </a:r>
            <a:r>
              <a:rPr lang="ja-JP" altLang="en-US" dirty="0"/>
              <a:t>エージェントが製造現場データを“毎回すべて読み直す”ことは非現実的。装置信号、品質検査、環境条件などの総データ量はペタバイト級に達し、ネットワーク帯域やストレージ</a:t>
            </a:r>
            <a:r>
              <a:rPr lang="en-US" altLang="ja-JP" dirty="0"/>
              <a:t>I/O</a:t>
            </a:r>
            <a:r>
              <a:rPr lang="ja-JP" altLang="en-US" dirty="0"/>
              <a:t>がボトルネックになります。したがって、「必要な情報だけを即座に取得できる構造」を前提とします。</a:t>
            </a:r>
            <a:endParaRPr lang="en-US" altLang="ja-JP" dirty="0"/>
          </a:p>
          <a:p>
            <a:pPr>
              <a:spcAft>
                <a:spcPts val="600"/>
              </a:spcAft>
              <a:defRPr sz="2000"/>
            </a:pPr>
            <a:endParaRPr lang="en-US" dirty="0"/>
          </a:p>
          <a:p>
            <a:pPr>
              <a:spcAft>
                <a:spcPts val="600"/>
              </a:spcAft>
              <a:defRPr sz="2000"/>
            </a:pPr>
            <a:r>
              <a:rPr dirty="0" err="1"/>
              <a:t>膨大な装置データ・検査データを都度処理するのは不可能</a:t>
            </a:r>
            <a:r>
              <a:rPr dirty="0"/>
              <a:t>。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→ </a:t>
            </a:r>
            <a:r>
              <a:rPr dirty="0" err="1"/>
              <a:t>必要情報を整形済みで持つ構造が必須</a:t>
            </a:r>
            <a:r>
              <a:rPr dirty="0"/>
              <a:t>。</a:t>
            </a:r>
            <a:endParaRPr lang="en-US" dirty="0"/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◆ </a:t>
            </a:r>
            <a:r>
              <a:rPr dirty="0" err="1"/>
              <a:t>四層アーキテクチャ</a:t>
            </a: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1. </a:t>
            </a:r>
            <a:r>
              <a:rPr dirty="0" err="1"/>
              <a:t>エッジ層：前処理・特徴量抽出</a:t>
            </a: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2. </a:t>
            </a:r>
            <a:r>
              <a:rPr dirty="0" err="1"/>
              <a:t>ストリーミング層：増分処理と即時計算</a:t>
            </a: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3. </a:t>
            </a:r>
            <a:r>
              <a:rPr dirty="0" err="1"/>
              <a:t>マテビュー層：整形済みのKPI・特徴量保持</a:t>
            </a: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4. </a:t>
            </a:r>
            <a:r>
              <a:rPr dirty="0" err="1"/>
              <a:t>AIエージェント層：マテビュー参照による迅速判断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 b="1">
                <a:solidFill>
                  <a:srgbClr val="003366"/>
                </a:solidFill>
              </a:defRPr>
            </a:pPr>
            <a:r>
              <a:t>3. エッジ層：データを細らせる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2000"/>
            </a:pPr>
            <a:r>
              <a:t>・特徴量抽出：平均、分散、FFTピーク、勾配など</a:t>
            </a:r>
          </a:p>
          <a:p>
            <a:pPr>
              <a:spcAft>
                <a:spcPts val="600"/>
              </a:spcAft>
              <a:defRPr sz="2000"/>
            </a:pPr>
            <a:r>
              <a:t>・軽量モデル：1D-CNN, ARIMA, IsolationForestなど</a:t>
            </a:r>
          </a:p>
          <a:p>
            <a:pPr>
              <a:spcAft>
                <a:spcPts val="600"/>
              </a:spcAft>
              <a:defRPr sz="2000"/>
            </a:pPr>
            <a:r>
              <a:t>・可変サンプリング：正常時低頻度、異常時高頻度</a:t>
            </a:r>
          </a:p>
          <a:p>
            <a:pPr>
              <a:spcAft>
                <a:spcPts val="600"/>
              </a:spcAft>
              <a:defRPr sz="2000"/>
            </a:pPr>
            <a:r>
              <a:t>・イベントフィルタリング：必要情報のみ送信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 b="1">
                <a:solidFill>
                  <a:srgbClr val="003366"/>
                </a:solidFill>
              </a:defRPr>
            </a:pPr>
            <a:r>
              <a:t>4. ストリーミング層：増分処理で再計算を防ぐ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2000"/>
            </a:pPr>
            <a:r>
              <a:t>・ウィンドウ集計：歩留まり、稼働率、欠陥率を秒単位で更新</a:t>
            </a:r>
          </a:p>
          <a:p>
            <a:pPr>
              <a:spcAft>
                <a:spcPts val="600"/>
              </a:spcAft>
              <a:defRPr sz="2000"/>
            </a:pPr>
            <a:r>
              <a:t>・CEP：連鎖異常や順序依存異常をリアルタイム検知</a:t>
            </a:r>
          </a:p>
          <a:p>
            <a:pPr>
              <a:spcAft>
                <a:spcPts val="600"/>
              </a:spcAft>
              <a:defRPr sz="2000"/>
            </a:pPr>
            <a:r>
              <a:t>・近似統計：t-digest、Count-Min、HLLで巨大データを要約</a:t>
            </a:r>
          </a:p>
          <a:p>
            <a:pPr>
              <a:spcAft>
                <a:spcPts val="600"/>
              </a:spcAft>
              <a:defRPr sz="2000"/>
            </a:pPr>
            <a:r>
              <a:t>・オンライン特徴量ストア：装置×工程×ロット単位で保持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 b="1">
                <a:solidFill>
                  <a:srgbClr val="003366"/>
                </a:solidFill>
              </a:defRPr>
            </a:pPr>
            <a:r>
              <a:t>5. マテビュー層の位置付け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2000"/>
            </a:pPr>
            <a:r>
              <a:t>マテビュー＝AIエージェントの“思考の前処理層”。</a:t>
            </a:r>
          </a:p>
          <a:p>
            <a:pPr>
              <a:spcAft>
                <a:spcPts val="600"/>
              </a:spcAft>
              <a:defRPr sz="2000"/>
            </a:pPr>
            <a:r>
              <a:t>定期的に更新されるKPI・特徴量・相関・履歴情報を集約し、AIが即参照可能。</a:t>
            </a:r>
          </a:p>
          <a:p>
            <a:pPr>
              <a:spcAft>
                <a:spcPts val="600"/>
              </a:spcAft>
              <a:defRPr sz="2000"/>
            </a:pPr>
            <a:r>
              <a:t>AI出力の速度・精度はマテビュー品質に依存。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 b="1">
                <a:solidFill>
                  <a:srgbClr val="003366"/>
                </a:solidFill>
              </a:defRPr>
            </a:pPr>
            <a:r>
              <a:t>6. マテビューに格納すべき情報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2000"/>
            </a:pPr>
            <a:r>
              <a:t>① ロット品質KPI：歩留まり、不良率、通過時間</a:t>
            </a:r>
          </a:p>
          <a:p>
            <a:pPr>
              <a:spcAft>
                <a:spcPts val="600"/>
              </a:spcAft>
              <a:defRPr sz="2000"/>
            </a:pPr>
            <a:r>
              <a:t>② 装置安定性：稼働率、MTBF、アラーム回数、ドリフト</a:t>
            </a:r>
          </a:p>
          <a:p>
            <a:pPr>
              <a:spcAft>
                <a:spcPts val="600"/>
              </a:spcAft>
              <a:defRPr sz="2000"/>
            </a:pPr>
            <a:r>
              <a:t>③ 工程間相関：Granger因果、ANOVA、ラグ相関</a:t>
            </a:r>
          </a:p>
          <a:p>
            <a:pPr>
              <a:spcAft>
                <a:spcPts val="600"/>
              </a:spcAft>
              <a:defRPr sz="2000"/>
            </a:pPr>
            <a:r>
              <a:t>④ 異常イベント履歴：原因タグ、再発率、改善効果</a:t>
            </a:r>
          </a:p>
          <a:p>
            <a:pPr>
              <a:spcAft>
                <a:spcPts val="600"/>
              </a:spcAft>
              <a:defRPr sz="2000"/>
            </a:pPr>
            <a:r>
              <a:t>⑤ レシピ逸脱率・スペックマージン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 b="1">
                <a:solidFill>
                  <a:srgbClr val="003366"/>
                </a:solidFill>
              </a:defRPr>
            </a:pPr>
            <a:r>
              <a:t>7. マテビュー設計の基本原則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2000"/>
            </a:pPr>
            <a:r>
              <a:t>・重いクエリを事前実行（定番質問を集計化）</a:t>
            </a:r>
          </a:p>
          <a:p>
            <a:pPr>
              <a:spcAft>
                <a:spcPts val="600"/>
              </a:spcAft>
              <a:defRPr sz="2000"/>
            </a:pPr>
            <a:r>
              <a:t>・鮮度/信頼度/系統(lineage)を必ず保持</a:t>
            </a:r>
          </a:p>
          <a:p>
            <a:pPr>
              <a:spcAft>
                <a:spcPts val="600"/>
              </a:spcAft>
              <a:defRPr sz="2000"/>
            </a:pPr>
            <a:r>
              <a:t>・集計粒度を統一（装置・ロット単位）</a:t>
            </a:r>
          </a:p>
          <a:p>
            <a:pPr>
              <a:spcAft>
                <a:spcPts val="600"/>
              </a:spcAft>
              <a:defRPr sz="2000"/>
            </a:pPr>
            <a:r>
              <a:t>・特徴量＋統計指標を同居（平均＋σ＋外れ率）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 b="1">
                <a:solidFill>
                  <a:srgbClr val="003366"/>
                </a:solidFill>
              </a:defRPr>
            </a:pPr>
            <a:r>
              <a:t>8. AIエージェントの構造と動作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2000"/>
            </a:pPr>
            <a:r>
              <a:t>◆ 状態メモリ</a:t>
            </a:r>
          </a:p>
          <a:p>
            <a:pPr>
              <a:spcAft>
                <a:spcPts val="600"/>
              </a:spcAft>
              <a:defRPr sz="2000"/>
            </a:pPr>
            <a:r>
              <a:t>短期：最新MV/KPI</a:t>
            </a:r>
          </a:p>
          <a:p>
            <a:pPr>
              <a:spcAft>
                <a:spcPts val="600"/>
              </a:spcAft>
              <a:defRPr sz="2000"/>
            </a:pPr>
            <a:r>
              <a:t>長期：過去対策・結果（RAGベクトルDB）</a:t>
            </a:r>
          </a:p>
          <a:p>
            <a:pPr>
              <a:spcAft>
                <a:spcPts val="600"/>
              </a:spcAft>
              <a:defRPr sz="2000"/>
            </a:pPr>
            <a:r>
              <a:t>作業メモリ：現在判断に必要な最小サブセット</a:t>
            </a:r>
          </a:p>
          <a:p>
            <a:pPr>
              <a:spcAft>
                <a:spcPts val="600"/>
              </a:spcAft>
              <a:defRPr sz="2000"/>
            </a:pPr>
            <a:r>
              <a:t>◆ 処理フロー</a:t>
            </a:r>
          </a:p>
          <a:p>
            <a:pPr>
              <a:spcAft>
                <a:spcPts val="600"/>
              </a:spcAft>
              <a:defRPr sz="2000"/>
            </a:pPr>
            <a:r>
              <a:t>1. 感知（Perception）→2. 検索（Retrieve）→3. 計画（Plan）→4. 実行（Act）→5. 学習（Learn）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 b="1">
                <a:solidFill>
                  <a:srgbClr val="003366"/>
                </a:solidFill>
              </a:defRPr>
            </a:pPr>
            <a:r>
              <a:t>9. MVとAI出力品質の関係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2000"/>
            </a:pPr>
            <a:r>
              <a:t>・AIの提案精度はMVの品質に直結。</a:t>
            </a:r>
          </a:p>
          <a:p>
            <a:pPr>
              <a:spcAft>
                <a:spcPts val="600"/>
              </a:spcAft>
              <a:defRPr sz="2000"/>
            </a:pPr>
            <a:r>
              <a:t>・クリーニング：欠損補完、単位統一、外れ除去</a:t>
            </a:r>
          </a:p>
          <a:p>
            <a:pPr>
              <a:spcAft>
                <a:spcPts val="600"/>
              </a:spcAft>
              <a:defRPr sz="2000"/>
            </a:pPr>
            <a:r>
              <a:t>・特徴抽出：物理的意味ある変数を保持</a:t>
            </a:r>
          </a:p>
          <a:p>
            <a:pPr>
              <a:spcAft>
                <a:spcPts val="600"/>
              </a:spcAft>
              <a:defRPr sz="2000"/>
            </a:pPr>
            <a:r>
              <a:t>・メタ情報：更新時刻・信頼度・系統を明示</a:t>
            </a:r>
          </a:p>
          <a:p>
            <a:pPr>
              <a:spcAft>
                <a:spcPts val="600"/>
              </a:spcAft>
              <a:defRPr sz="2000"/>
            </a:pPr>
            <a:r>
              <a:t>・学習ループ：提案→結果→MV更新→再学習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 b="1">
                <a:solidFill>
                  <a:srgbClr val="003366"/>
                </a:solidFill>
              </a:defRPr>
            </a:pPr>
            <a:r>
              <a:t>10. 更新階層とデータフロー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2000"/>
            </a:pPr>
            <a:r>
              <a:t>Ultra-Hot層：秒単位更新（制御・警告）</a:t>
            </a:r>
          </a:p>
          <a:p>
            <a:pPr>
              <a:spcAft>
                <a:spcPts val="600"/>
              </a:spcAft>
              <a:defRPr sz="2000"/>
            </a:pPr>
            <a:r>
              <a:t>Hot層：数分単位（工程・装置KPI）</a:t>
            </a:r>
          </a:p>
          <a:p>
            <a:pPr>
              <a:spcAft>
                <a:spcPts val="600"/>
              </a:spcAft>
              <a:defRPr sz="2000"/>
            </a:pPr>
            <a:r>
              <a:t>Warm層：30分単位（品質・相関）</a:t>
            </a:r>
          </a:p>
          <a:p>
            <a:pPr>
              <a:spcAft>
                <a:spcPts val="600"/>
              </a:spcAft>
              <a:defRPr sz="2000"/>
            </a:pPr>
            <a:r>
              <a:t>Cold層：日次〜週次（履歴・再学習）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 b="1">
                <a:solidFill>
                  <a:srgbClr val="003366"/>
                </a:solidFill>
              </a:defRPr>
            </a:pPr>
            <a:r>
              <a:t>11. 運用SLOと可観測性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2000"/>
            </a:pPr>
            <a:r>
              <a:t>・遅延SLO：ストリーム&lt;2s、MV更新&lt;5min、AI提案&lt;10s</a:t>
            </a:r>
          </a:p>
          <a:p>
            <a:pPr>
              <a:spcAft>
                <a:spcPts val="600"/>
              </a:spcAft>
              <a:defRPr sz="2000"/>
            </a:pPr>
            <a:r>
              <a:t>・監視指標：データ鮮度、欠損率、ドリフト、外れ率</a:t>
            </a:r>
          </a:p>
          <a:p>
            <a:pPr>
              <a:spcAft>
                <a:spcPts val="600"/>
              </a:spcAft>
              <a:defRPr sz="2000"/>
            </a:pPr>
            <a:r>
              <a:t>・監査：AI出力、承認履歴、根拠データを記録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 b="1">
                <a:solidFill>
                  <a:srgbClr val="003366"/>
                </a:solidFill>
              </a:defRPr>
            </a:pPr>
            <a:r>
              <a:t>12. 実装チェックリスト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2000"/>
            </a:pPr>
            <a:r>
              <a:t>1. ユースケース選定（歩留まり、保全、品質）</a:t>
            </a:r>
          </a:p>
          <a:p>
            <a:pPr>
              <a:spcAft>
                <a:spcPts val="600"/>
              </a:spcAft>
              <a:defRPr sz="2000"/>
            </a:pPr>
            <a:r>
              <a:t>2. KPI定義（名称・粒度・周期）</a:t>
            </a:r>
          </a:p>
          <a:p>
            <a:pPr>
              <a:spcAft>
                <a:spcPts val="600"/>
              </a:spcAft>
              <a:defRPr sz="2000"/>
            </a:pPr>
            <a:r>
              <a:t>3. エッジPoC→ストリーム構築→MV分離</a:t>
            </a:r>
          </a:p>
          <a:p>
            <a:pPr>
              <a:spcAft>
                <a:spcPts val="600"/>
              </a:spcAft>
              <a:defRPr sz="2000"/>
            </a:pPr>
            <a:r>
              <a:t>4. 特徴量ストア整備＋RAG構築</a:t>
            </a:r>
          </a:p>
          <a:p>
            <a:pPr>
              <a:spcAft>
                <a:spcPts val="600"/>
              </a:spcAft>
              <a:defRPr sz="2000"/>
            </a:pPr>
            <a:r>
              <a:t>5. 運用監視と改善ループ定着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 b="1">
                <a:solidFill>
                  <a:srgbClr val="003366"/>
                </a:solidFill>
              </a:defRPr>
            </a:pPr>
            <a:r>
              <a:t>13. 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2000"/>
            </a:pPr>
            <a:r>
              <a:t>AIエージェントをリアルタイムで機能させる鍵は、データを整形し“即答できる形”に保つマテビュー設計にある。</a:t>
            </a:r>
          </a:p>
          <a:p>
            <a:pPr>
              <a:spcAft>
                <a:spcPts val="600"/>
              </a:spcAft>
              <a:defRPr sz="2000"/>
            </a:pPr>
            <a:r>
              <a:t>⇒『エージェントの賢さはマテビューの設計品質で決まる』</a:t>
            </a:r>
          </a:p>
          <a:p>
            <a:pPr>
              <a:spcAft>
                <a:spcPts val="600"/>
              </a:spcAft>
              <a:defRPr sz="2000"/>
            </a:pPr>
            <a:r>
              <a:t>2030年にはエッジ・ストリーム・MV・AIが一体化し、現場が自律的に進化する時代となる。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50A6C-C864-9829-764B-E5E83B485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C8DA2E1E-A8FE-7BED-AA65-A47D545AD716}"/>
              </a:ext>
            </a:extLst>
          </p:cNvPr>
          <p:cNvSpPr/>
          <p:nvPr/>
        </p:nvSpPr>
        <p:spPr>
          <a:xfrm>
            <a:off x="3122613" y="548640"/>
            <a:ext cx="3950540" cy="876748"/>
          </a:xfrm>
          <a:prstGeom prst="rect">
            <a:avLst/>
          </a:prstGeom>
          <a:solidFill>
            <a:srgbClr val="B4C8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600" dirty="0">
              <a:solidFill>
                <a:schemeClr val="tx1"/>
              </a:solidFill>
            </a:endParaRPr>
          </a:p>
          <a:p>
            <a:pPr>
              <a:defRPr sz="2000" b="1"/>
            </a:pPr>
            <a:r>
              <a:rPr dirty="0" err="1">
                <a:solidFill>
                  <a:schemeClr val="tx1"/>
                </a:solidFill>
              </a:rPr>
              <a:t>装置・センサー層</a:t>
            </a:r>
            <a:endParaRPr dirty="0">
              <a:solidFill>
                <a:schemeClr val="tx1"/>
              </a:solidFill>
            </a:endParaRPr>
          </a:p>
          <a:p>
            <a:pPr>
              <a:defRPr sz="1600"/>
            </a:pPr>
            <a:r>
              <a:rPr sz="1400" dirty="0" err="1">
                <a:solidFill>
                  <a:schemeClr val="tx1"/>
                </a:solidFill>
              </a:rPr>
              <a:t>生データ出力・FDC信号・品質検査結果</a:t>
            </a:r>
            <a:endParaRPr sz="1400" dirty="0">
              <a:solidFill>
                <a:schemeClr val="tx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D30592F-1264-9424-5548-479D73CEAD70}"/>
              </a:ext>
            </a:extLst>
          </p:cNvPr>
          <p:cNvSpPr/>
          <p:nvPr/>
        </p:nvSpPr>
        <p:spPr>
          <a:xfrm>
            <a:off x="3122613" y="1554480"/>
            <a:ext cx="3950540" cy="876748"/>
          </a:xfrm>
          <a:prstGeom prst="rect">
            <a:avLst/>
          </a:prstGeom>
          <a:solidFill>
            <a:srgbClr val="FFF0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600">
              <a:solidFill>
                <a:schemeClr val="tx1"/>
              </a:solidFill>
            </a:endParaRPr>
          </a:p>
          <a:p>
            <a:pPr>
              <a:defRPr sz="2000" b="1"/>
            </a:pPr>
            <a:r>
              <a:rPr>
                <a:solidFill>
                  <a:schemeClr val="tx1"/>
                </a:solidFill>
              </a:rPr>
              <a:t>エッジ層</a:t>
            </a:r>
          </a:p>
          <a:p>
            <a:pPr>
              <a:defRPr sz="1600"/>
            </a:pPr>
            <a:r>
              <a:rPr sz="1400">
                <a:solidFill>
                  <a:schemeClr val="tx1"/>
                </a:solidFill>
              </a:rPr>
              <a:t>特徴量抽出・軽量異常検知・イベント抽出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7F065DF-078C-A1F8-D859-6CD589B6475A}"/>
              </a:ext>
            </a:extLst>
          </p:cNvPr>
          <p:cNvSpPr/>
          <p:nvPr/>
        </p:nvSpPr>
        <p:spPr>
          <a:xfrm>
            <a:off x="3122613" y="2560320"/>
            <a:ext cx="3950540" cy="876748"/>
          </a:xfrm>
          <a:prstGeom prst="rect">
            <a:avLst/>
          </a:prstGeom>
          <a:solidFill>
            <a:srgbClr val="C8FF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600">
              <a:solidFill>
                <a:schemeClr val="tx1"/>
              </a:solidFill>
            </a:endParaRPr>
          </a:p>
          <a:p>
            <a:pPr>
              <a:defRPr sz="2000" b="1"/>
            </a:pPr>
            <a:r>
              <a:rPr>
                <a:solidFill>
                  <a:schemeClr val="tx1"/>
                </a:solidFill>
              </a:rPr>
              <a:t>ストリーミング層</a:t>
            </a:r>
          </a:p>
          <a:p>
            <a:pPr>
              <a:defRPr sz="1600"/>
            </a:pPr>
            <a:r>
              <a:rPr sz="1400">
                <a:solidFill>
                  <a:schemeClr val="tx1"/>
                </a:solidFill>
              </a:rPr>
              <a:t>リアルタイム集計・CEP・近似統計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63E293F-0C99-3628-DA4E-6FB627CE6C93}"/>
              </a:ext>
            </a:extLst>
          </p:cNvPr>
          <p:cNvSpPr/>
          <p:nvPr/>
        </p:nvSpPr>
        <p:spPr>
          <a:xfrm>
            <a:off x="3122613" y="3566160"/>
            <a:ext cx="3950540" cy="876748"/>
          </a:xfrm>
          <a:prstGeom prst="rect">
            <a:avLst/>
          </a:prstGeom>
          <a:solidFill>
            <a:srgbClr val="C8F0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600">
              <a:solidFill>
                <a:schemeClr val="tx1"/>
              </a:solidFill>
            </a:endParaRPr>
          </a:p>
          <a:p>
            <a:pPr>
              <a:defRPr sz="2000" b="1"/>
            </a:pPr>
            <a:r>
              <a:rPr>
                <a:solidFill>
                  <a:schemeClr val="tx1"/>
                </a:solidFill>
              </a:rPr>
              <a:t>マテビュー層</a:t>
            </a:r>
          </a:p>
          <a:p>
            <a:pPr>
              <a:defRPr sz="1600"/>
            </a:pPr>
            <a:r>
              <a:rPr sz="1400">
                <a:solidFill>
                  <a:schemeClr val="tx1"/>
                </a:solidFill>
              </a:rPr>
              <a:t>整形済みKPI・相関・履歴の保持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A699285-675F-0781-228B-307ED86272CA}"/>
              </a:ext>
            </a:extLst>
          </p:cNvPr>
          <p:cNvSpPr/>
          <p:nvPr/>
        </p:nvSpPr>
        <p:spPr>
          <a:xfrm>
            <a:off x="3122613" y="4572000"/>
            <a:ext cx="3950540" cy="876748"/>
          </a:xfrm>
          <a:prstGeom prst="rect">
            <a:avLst/>
          </a:prstGeom>
          <a:solidFill>
            <a:srgbClr val="FFDCD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600">
              <a:solidFill>
                <a:schemeClr val="tx1"/>
              </a:solidFill>
            </a:endParaRPr>
          </a:p>
          <a:p>
            <a:pPr>
              <a:defRPr sz="2000" b="1"/>
            </a:pPr>
            <a:r>
              <a:rPr>
                <a:solidFill>
                  <a:schemeClr val="tx1"/>
                </a:solidFill>
              </a:rPr>
              <a:t>AIエージェント層</a:t>
            </a:r>
          </a:p>
          <a:p>
            <a:pPr>
              <a:defRPr sz="1600"/>
            </a:pPr>
            <a:r>
              <a:rPr sz="1400">
                <a:solidFill>
                  <a:schemeClr val="tx1"/>
                </a:solidFill>
              </a:rPr>
              <a:t>判断・提案・学習・RAG・HITL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4BA38AC-4B44-20ED-16AF-ABF157B6E013}"/>
              </a:ext>
            </a:extLst>
          </p:cNvPr>
          <p:cNvSpPr/>
          <p:nvPr/>
        </p:nvSpPr>
        <p:spPr>
          <a:xfrm>
            <a:off x="3122613" y="5577840"/>
            <a:ext cx="3950540" cy="876748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600">
              <a:solidFill>
                <a:schemeClr val="tx1"/>
              </a:solidFill>
            </a:endParaRPr>
          </a:p>
          <a:p>
            <a:pPr>
              <a:defRPr sz="2000" b="1"/>
            </a:pPr>
            <a:r>
              <a:rPr>
                <a:solidFill>
                  <a:schemeClr val="tx1"/>
                </a:solidFill>
              </a:rPr>
              <a:t>人・制御システム</a:t>
            </a:r>
          </a:p>
          <a:p>
            <a:pPr>
              <a:defRPr sz="1600"/>
            </a:pPr>
            <a:r>
              <a:rPr sz="1400">
                <a:solidFill>
                  <a:schemeClr val="tx1"/>
                </a:solidFill>
              </a:rPr>
              <a:t>結果を確認し実行・意思決定支援</a:t>
            </a:r>
          </a:p>
        </p:txBody>
      </p:sp>
    </p:spTree>
    <p:extLst>
      <p:ext uri="{BB962C8B-B14F-4D97-AF65-F5344CB8AC3E}">
        <p14:creationId xmlns:p14="http://schemas.microsoft.com/office/powerpoint/2010/main" val="334355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 b="1">
                <a:solidFill>
                  <a:srgbClr val="003366"/>
                </a:solidFill>
              </a:defRPr>
            </a:pPr>
            <a:r>
              <a:t>補足：ストリーミング層とマテビュー層の違い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 b="1">
                <a:solidFill>
                  <a:srgbClr val="00468C"/>
                </a:solidFill>
              </a:defRPr>
            </a:pPr>
            <a:r>
              <a:t>🔹 ストリーミング層（Streaming Layer）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/>
            </a:pPr>
            <a:r>
              <a:t>・リアルタイムに流れるデータを処理し、即時の異常検知やイベント検出を担当。</a:t>
            </a:r>
          </a:p>
          <a:p>
            <a:pPr>
              <a:defRPr sz="1800"/>
            </a:pPr>
            <a:r>
              <a:t>・処理単位：イベント／数秒以内。</a:t>
            </a:r>
          </a:p>
          <a:p>
            <a:pPr>
              <a:defRPr sz="1800"/>
            </a:pPr>
            <a:r>
              <a:t>・形式：Push型、逐次処理（例：Kafka、Flink、ksqlDB）。</a:t>
            </a:r>
          </a:p>
          <a:p>
            <a:pPr>
              <a:defRPr sz="1800"/>
            </a:pPr>
            <a:r>
              <a:t>・利用目的：制御・アラート・監視。</a:t>
            </a:r>
          </a:p>
          <a:p>
            <a:pPr>
              <a:defRPr sz="1800"/>
            </a:pPr>
            <a:r>
              <a:t>・保持時間：短期（数秒〜数分）。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 b="1">
                <a:solidFill>
                  <a:srgbClr val="00468C"/>
                </a:solidFill>
              </a:defRPr>
            </a:pPr>
            <a:r>
              <a:t>🔸 マテビュー層（Materialized View Layer）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/>
            </a:pPr>
            <a:r>
              <a:t>・ストリーミング結果を整理し、分析・AI推論に使う整形済みデータを保持。</a:t>
            </a:r>
          </a:p>
          <a:p>
            <a:pPr>
              <a:defRPr sz="1800"/>
            </a:pPr>
            <a:r>
              <a:t>・処理単位：集計／分〜時間単位。</a:t>
            </a:r>
          </a:p>
          <a:p>
            <a:pPr>
              <a:defRPr sz="1800"/>
            </a:pPr>
            <a:r>
              <a:t>・形式：Pull型、定期更新（例：BigQuery MV、PostgreSQL MV、Delta）。</a:t>
            </a:r>
          </a:p>
          <a:p>
            <a:pPr>
              <a:defRPr sz="1800"/>
            </a:pPr>
            <a:r>
              <a:t>・利用目的：KPI集計・トレンド解析・AIエージェント参照。</a:t>
            </a:r>
          </a:p>
          <a:p>
            <a:pPr>
              <a:defRPr sz="1800"/>
            </a:pPr>
            <a:r>
              <a:t>・保持時間：長期（数時間〜数日）。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 b="1">
                <a:solidFill>
                  <a:srgbClr val="00468C"/>
                </a:solidFill>
              </a:defRPr>
            </a:pPr>
            <a:r>
              <a:t>⚙️ 両者の関係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/>
            </a:pPr>
            <a:r>
              <a:t>・ストリーミング層 → “流れる川”：即時処理。</a:t>
            </a:r>
          </a:p>
          <a:p>
            <a:pPr>
              <a:defRPr sz="1800"/>
            </a:pPr>
            <a:r>
              <a:t>・マテビュー層 → “貯水池”：整形して再利用。</a:t>
            </a:r>
          </a:p>
          <a:p>
            <a:pPr>
              <a:defRPr sz="1800"/>
            </a:pPr>
            <a:r>
              <a:t>・AIエージェントは通常マテビューを参照し、必要時のみストリーミングを読む。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44BD1-86C3-D416-3FAD-25F48C17A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48AF46-CDE6-5263-35E0-51899CB00A83}"/>
              </a:ext>
            </a:extLst>
          </p:cNvPr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 b="1">
                <a:solidFill>
                  <a:srgbClr val="003366"/>
                </a:solidFill>
              </a:defRPr>
            </a:pPr>
            <a:r>
              <a:t>補足：ストリーミング層とマテビュー層の違い</a:t>
            </a:r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4B3D35E3-E904-8814-4E72-73D384B9C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924324"/>
              </p:ext>
            </p:extLst>
          </p:nvPr>
        </p:nvGraphicFramePr>
        <p:xfrm>
          <a:off x="323850" y="1674336"/>
          <a:ext cx="11239500" cy="2194560"/>
        </p:xfrm>
        <a:graphic>
          <a:graphicData uri="http://schemas.openxmlformats.org/drawingml/2006/table">
            <a:tbl>
              <a:tblPr/>
              <a:tblGrid>
                <a:gridCol w="1873250">
                  <a:extLst>
                    <a:ext uri="{9D8B030D-6E8A-4147-A177-3AD203B41FA5}">
                      <a16:colId xmlns:a16="http://schemas.microsoft.com/office/drawing/2014/main" val="1290227579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1635982727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1866945999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3453447154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2899026487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6840189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主目的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データの性質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更新方式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主な利用者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代表的技術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454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1"/>
                        <a:t>ストリーミング層</a:t>
                      </a:r>
                      <a:endParaRPr lang="ja-JP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「流れてくるデータをリアルタイムに加工・検知」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瞬間・イベント中心（秒単位）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逐次・イベント駆動（</a:t>
                      </a:r>
                      <a:r>
                        <a:rPr lang="en-US" altLang="ja-JP"/>
                        <a:t>push</a:t>
                      </a:r>
                      <a:r>
                        <a:rPr lang="ja-JP" altLang="en-US"/>
                        <a:t>型）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制御系、アラート系、監視系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Kafka, Flink, Spark Streaming, ksqlDB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576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1"/>
                        <a:t>マテビュー層</a:t>
                      </a:r>
                      <a:endParaRPr lang="ja-JP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「加工結果を即参照できる“整理棚”として保持」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整形済み・集約済みデータ（分</a:t>
                      </a:r>
                      <a:r>
                        <a:rPr lang="en-US" altLang="ja-JP"/>
                        <a:t>〜</a:t>
                      </a:r>
                      <a:r>
                        <a:rPr lang="ja-JP" altLang="en-US"/>
                        <a:t>時間単位）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定期 </a:t>
                      </a:r>
                      <a:r>
                        <a:rPr lang="en-US" altLang="ja-JP"/>
                        <a:t>or </a:t>
                      </a:r>
                      <a:r>
                        <a:rPr lang="ja-JP" altLang="en-US"/>
                        <a:t>イベントトリガ更新（</a:t>
                      </a:r>
                      <a:r>
                        <a:rPr lang="en-US" altLang="ja-JP"/>
                        <a:t>pull</a:t>
                      </a:r>
                      <a:r>
                        <a:rPr lang="ja-JP" altLang="en-US"/>
                        <a:t>型）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/>
                        <a:t>AI</a:t>
                      </a:r>
                      <a:r>
                        <a:rPr lang="ja-JP" altLang="en-US"/>
                        <a:t>エージェント、</a:t>
                      </a:r>
                      <a:r>
                        <a:rPr lang="en-US" altLang="ja-JP"/>
                        <a:t>BI/Dashboard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Delta, </a:t>
                      </a:r>
                      <a:r>
                        <a:rPr lang="en-US" dirty="0" err="1"/>
                        <a:t>BigQuery</a:t>
                      </a:r>
                      <a:r>
                        <a:rPr lang="en-US" dirty="0"/>
                        <a:t> MV, PostgreSQL MV, </a:t>
                      </a:r>
                      <a:r>
                        <a:rPr lang="en-US" dirty="0" err="1"/>
                        <a:t>DuckDB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656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0860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7A545-D862-8399-B44F-80A1D3047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A323F8-9C8E-09BA-BE9D-CBC551E0255A}"/>
              </a:ext>
            </a:extLst>
          </p:cNvPr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 b="1">
                <a:solidFill>
                  <a:srgbClr val="003366"/>
                </a:solidFill>
              </a:defRPr>
            </a:pPr>
            <a:r>
              <a:t>補足：ストリーミング層とマテビュー層の違い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4B132B68-9B0C-7F0C-540B-8E504E7DBD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201042"/>
              </p:ext>
            </p:extLst>
          </p:nvPr>
        </p:nvGraphicFramePr>
        <p:xfrm>
          <a:off x="457200" y="1994376"/>
          <a:ext cx="11058525" cy="2194560"/>
        </p:xfrm>
        <a:graphic>
          <a:graphicData uri="http://schemas.openxmlformats.org/drawingml/2006/table">
            <a:tbl>
              <a:tblPr/>
              <a:tblGrid>
                <a:gridCol w="3686175">
                  <a:extLst>
                    <a:ext uri="{9D8B030D-6E8A-4147-A177-3AD203B41FA5}">
                      <a16:colId xmlns:a16="http://schemas.microsoft.com/office/drawing/2014/main" val="2180306574"/>
                    </a:ext>
                  </a:extLst>
                </a:gridCol>
                <a:gridCol w="3686175">
                  <a:extLst>
                    <a:ext uri="{9D8B030D-6E8A-4147-A177-3AD203B41FA5}">
                      <a16:colId xmlns:a16="http://schemas.microsoft.com/office/drawing/2014/main" val="3582331316"/>
                    </a:ext>
                  </a:extLst>
                </a:gridCol>
                <a:gridCol w="3686175">
                  <a:extLst>
                    <a:ext uri="{9D8B030D-6E8A-4147-A177-3AD203B41FA5}">
                      <a16:colId xmlns:a16="http://schemas.microsoft.com/office/drawing/2014/main" val="3571199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機能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ストリーミング層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マテビュー層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773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主要入力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センサ／イベント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ストリーム出力・</a:t>
                      </a:r>
                      <a:r>
                        <a:rPr lang="en-US" altLang="ja-JP"/>
                        <a:t>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977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処理方式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イベント駆動（</a:t>
                      </a:r>
                      <a:r>
                        <a:rPr lang="en-US" altLang="ja-JP"/>
                        <a:t>push</a:t>
                      </a:r>
                      <a:r>
                        <a:rPr lang="ja-JP" altLang="en-US"/>
                        <a:t>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定期更新（</a:t>
                      </a:r>
                      <a:r>
                        <a:rPr lang="en-US"/>
                        <a:t>pull）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214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データ形態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時系列・瞬時イベント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集計・統計・特徴量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2549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主な用途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検知・制御・通知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分析・推論・最適化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663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ライフサイクル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瞬時（秒単位）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長期（分</a:t>
                      </a:r>
                      <a:r>
                        <a:rPr lang="en-US" altLang="zh-TW" dirty="0"/>
                        <a:t>〜</a:t>
                      </a:r>
                      <a:r>
                        <a:rPr lang="zh-TW" altLang="en-US" dirty="0"/>
                        <a:t>日単位）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280393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0E0D8FAA-342B-1719-75BF-EBDA18DD8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015435"/>
            <a:ext cx="991552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ストリーミング層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：工場の監視室でリアルタイムにモニターを見ている係員。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マテビュー層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：その係員が毎日まとめる「稼働日報」「歩留まりレポート」。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AIエージェント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：日報＋モニタを参照し、改善提案や未来予測を行う参謀。</a:t>
            </a:r>
          </a:p>
        </p:txBody>
      </p:sp>
    </p:spTree>
    <p:extLst>
      <p:ext uri="{BB962C8B-B14F-4D97-AF65-F5344CB8AC3E}">
        <p14:creationId xmlns:p14="http://schemas.microsoft.com/office/powerpoint/2010/main" val="1738692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257E7-2329-E70D-CC9C-FE77D2BF6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26086F-D838-AED1-698C-83EBF211B580}"/>
              </a:ext>
            </a:extLst>
          </p:cNvPr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 b="1">
                <a:solidFill>
                  <a:srgbClr val="003366"/>
                </a:solidFill>
              </a:defRPr>
            </a:pPr>
            <a:r>
              <a:t>補足：ストリーミング層とマテビュー層の違い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B535AFB0-432F-4477-D9F1-B1261A0D6221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994376"/>
          <a:ext cx="11058525" cy="2194560"/>
        </p:xfrm>
        <a:graphic>
          <a:graphicData uri="http://schemas.openxmlformats.org/drawingml/2006/table">
            <a:tbl>
              <a:tblPr/>
              <a:tblGrid>
                <a:gridCol w="3686175">
                  <a:extLst>
                    <a:ext uri="{9D8B030D-6E8A-4147-A177-3AD203B41FA5}">
                      <a16:colId xmlns:a16="http://schemas.microsoft.com/office/drawing/2014/main" val="2180306574"/>
                    </a:ext>
                  </a:extLst>
                </a:gridCol>
                <a:gridCol w="3686175">
                  <a:extLst>
                    <a:ext uri="{9D8B030D-6E8A-4147-A177-3AD203B41FA5}">
                      <a16:colId xmlns:a16="http://schemas.microsoft.com/office/drawing/2014/main" val="3582331316"/>
                    </a:ext>
                  </a:extLst>
                </a:gridCol>
                <a:gridCol w="3686175">
                  <a:extLst>
                    <a:ext uri="{9D8B030D-6E8A-4147-A177-3AD203B41FA5}">
                      <a16:colId xmlns:a16="http://schemas.microsoft.com/office/drawing/2014/main" val="3571199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機能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ストリーミング層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マテビュー層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773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主要入力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センサ／イベント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ストリーム出力・</a:t>
                      </a:r>
                      <a:r>
                        <a:rPr lang="en-US" altLang="ja-JP"/>
                        <a:t>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977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処理方式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イベント駆動（</a:t>
                      </a:r>
                      <a:r>
                        <a:rPr lang="en-US" altLang="ja-JP"/>
                        <a:t>push</a:t>
                      </a:r>
                      <a:r>
                        <a:rPr lang="ja-JP" altLang="en-US"/>
                        <a:t>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定期更新（</a:t>
                      </a:r>
                      <a:r>
                        <a:rPr lang="en-US"/>
                        <a:t>pull）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214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データ形態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時系列・瞬時イベント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集計・統計・特徴量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2549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主な用途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検知・制御・通知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分析・推論・最適化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663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ライフサイクル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瞬時（秒単位）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長期（分</a:t>
                      </a:r>
                      <a:r>
                        <a:rPr lang="en-US" altLang="zh-TW" dirty="0"/>
                        <a:t>〜</a:t>
                      </a:r>
                      <a:r>
                        <a:rPr lang="zh-TW" altLang="en-US" dirty="0"/>
                        <a:t>日単位）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280393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5F1F9502-D6D2-B7EA-1852-71CCA513E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015435"/>
            <a:ext cx="991552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ストリーミング層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：工場の監視室でリアルタイムにモニターを見ている係員。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マテビュー層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：その係員が毎日まとめる「稼働日報」「歩留まりレポート」。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AIエージェント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：日報＋モニタを参照し、改善提案や未来予測を行う参謀。</a:t>
            </a:r>
          </a:p>
        </p:txBody>
      </p:sp>
    </p:spTree>
    <p:extLst>
      <p:ext uri="{BB962C8B-B14F-4D97-AF65-F5344CB8AC3E}">
        <p14:creationId xmlns:p14="http://schemas.microsoft.com/office/powerpoint/2010/main" val="2646375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1092</Words>
  <Application>Microsoft Office PowerPoint</Application>
  <PresentationFormat>ユーザー設定</PresentationFormat>
  <Paragraphs>210</Paragraphs>
  <Slides>19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幸隆 浦</cp:lastModifiedBy>
  <cp:revision>3</cp:revision>
  <dcterms:created xsi:type="dcterms:W3CDTF">2013-01-27T09:14:16Z</dcterms:created>
  <dcterms:modified xsi:type="dcterms:W3CDTF">2025-10-19T13:48:49Z</dcterms:modified>
  <cp:category/>
</cp:coreProperties>
</file>