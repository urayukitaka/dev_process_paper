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85"/>
    <a:srgbClr val="A2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E98C06-E707-78E4-DD31-CD30151F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7D2B4F-3AFB-E155-D5FD-A5D0A51BB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529966-EF24-B128-0E48-311302BE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246EC-DCEA-B9F6-2F7C-65809A7B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E9FE0F-D55D-CC35-C9BC-CC22CCEB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7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D44ED-8380-1BF3-320B-0CB6B143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A989E6-7BD7-1052-6785-5461DAB29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0260A-9414-A514-220F-2D28DEC4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89FCB9-5C49-0984-9AA9-44B7906F6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677EE1-E552-E9E7-1C1A-0F6EB2C5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75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9D776-A90F-BF68-9369-7F40F1D1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B26CE2-9D75-1050-68E9-793945640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C3637D-28B5-BEBA-31BB-1526BFD57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7D2940-E890-C490-A8CE-B8364EBA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BB7256-93C4-49F6-4EA9-F752C12D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86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3568E-CB74-1915-1E00-D032E431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18C345-1BA9-1527-010C-71F56B50D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16D5B7-2F85-7A76-E372-6318A4848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708444-8359-C695-694B-D7E77C37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DB8F11-9A43-941B-C70E-FBAF6E01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9FD94E-867F-C792-88A1-6CE9DD39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50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C79F4E-447C-577A-1C42-B50925CB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326AE3-EE5E-12D7-B95E-D2CD75B8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299439-D3E2-1DF7-4386-9FA302B17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32E105F-F822-CED1-E4AA-7137B60FB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028666-53DB-B441-0591-77C1158B9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39EA61F-3771-D143-5136-F3A6FEC1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FB0780-3D08-A194-C265-D5851983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E407EF3-BFE6-2F16-E126-B8B192EDC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23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70301D-B545-E73C-231D-185DD68E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032A79-64FA-D7AB-8511-A29DA105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B6BF904-FD26-DE79-E62A-49EF06A3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6CDECDC-AC47-6B94-DDD4-2279522E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531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0BD4E81-134B-EBF1-4D07-3987BE2C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927A1A2-4ECF-BB85-B31C-205EF4A2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8CD9EE-663B-2361-444F-AAC94A68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4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ACE2FF-D1C9-3B2C-71CB-0D8D2B64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31981C-547F-96E5-8B73-8B95C3735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605340-875B-5EC7-155D-DBDCBEFB2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43E308-3203-9E1D-611F-1E8497EAB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458192-2787-F00B-9735-5AD0D02E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A4012C-1BB8-8C6E-9E11-7712C4EFB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96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D68B3-0574-2C01-0012-17853C56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2946B2-C64B-7F13-66B0-A8D87967D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35FF0B-B0D5-23EA-4166-65DA807F0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F1C383-989E-87EB-FF3F-3F86192E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127807-8BC3-0A9A-FA94-DADF8068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E547DD-27E4-C6A5-9FFB-B3F8914F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23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4E9D0-246D-478E-1EA0-621B12FAA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66645D-0DC3-F307-6CC3-A550254C5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17A5EA-74AE-9BC1-CBA8-2EAD98F5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E8264B-CF0C-92D4-D19A-D4F7F7B0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A3B002-801C-4419-50D9-86AFD930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44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3AD0D3-618E-BA4F-7581-3470B7759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9D3D0E-74D4-A585-8565-F990BA5F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DE49B6-9EF4-183B-FB16-A09A7E21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DC4BC3-E0EA-1E3D-1003-74467A06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B71EC5-DA28-1C0F-60AF-76029DAF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41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34B8CE-E495-FDE8-8300-61D53689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AE220E-E6C3-4F73-EE0C-E6CF9CB3E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1B2400-ADB6-DFC1-7B31-BEE3649B5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91312-0141-4771-98A9-E4E19FF5F4F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093D88-7464-9A93-4CEA-5085FD9F5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F8C620-95E7-DA7E-39BB-63B145CA2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1D893-93AF-488E-B625-0F5F227E3D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18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5580-BEE2-CD58-0014-740663BC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C07D82-65B5-EBD2-F9C7-A96C712C200F}"/>
              </a:ext>
            </a:extLst>
          </p:cNvPr>
          <p:cNvSpPr txBox="1"/>
          <p:nvPr/>
        </p:nvSpPr>
        <p:spPr>
          <a:xfrm>
            <a:off x="614038" y="8061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派生タイプ開発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1CE90D7-79F2-54BE-B61D-6DA39E63F67F}"/>
              </a:ext>
            </a:extLst>
          </p:cNvPr>
          <p:cNvSpPr/>
          <p:nvPr/>
        </p:nvSpPr>
        <p:spPr>
          <a:xfrm>
            <a:off x="829090" y="2836822"/>
            <a:ext cx="1261884" cy="3077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ベースタイプ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8B6998-E499-D850-DD3E-F4596E4F6EE2}"/>
              </a:ext>
            </a:extLst>
          </p:cNvPr>
          <p:cNvSpPr/>
          <p:nvPr/>
        </p:nvSpPr>
        <p:spPr>
          <a:xfrm>
            <a:off x="829090" y="1514127"/>
            <a:ext cx="1261884" cy="307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最適値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4B53493-F90E-45CD-2A31-595562299EF1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1460032" y="1821904"/>
            <a:ext cx="0" cy="1014918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0E140E-EB82-3804-F7AB-BE4051C610EC}"/>
              </a:ext>
            </a:extLst>
          </p:cNvPr>
          <p:cNvSpPr txBox="1"/>
          <p:nvPr/>
        </p:nvSpPr>
        <p:spPr>
          <a:xfrm>
            <a:off x="829090" y="2175474"/>
            <a:ext cx="126188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相対的な検証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C5592D-70EE-814D-AFE1-4CE1B62FFC46}"/>
              </a:ext>
            </a:extLst>
          </p:cNvPr>
          <p:cNvSpPr txBox="1"/>
          <p:nvPr/>
        </p:nvSpPr>
        <p:spPr>
          <a:xfrm>
            <a:off x="5860801" y="80611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新規構造タイプ開発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C3526BD-2A79-6DED-F583-1FB670D3551A}"/>
              </a:ext>
            </a:extLst>
          </p:cNvPr>
          <p:cNvSpPr txBox="1"/>
          <p:nvPr/>
        </p:nvSpPr>
        <p:spPr>
          <a:xfrm>
            <a:off x="829089" y="1158349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高い予測精度のモデルを得やすい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8F4901A-A099-F02C-4CEE-1F99B853A99C}"/>
              </a:ext>
            </a:extLst>
          </p:cNvPr>
          <p:cNvSpPr/>
          <p:nvPr/>
        </p:nvSpPr>
        <p:spPr>
          <a:xfrm>
            <a:off x="6341249" y="1478019"/>
            <a:ext cx="1261884" cy="307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最適値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299FFA8-E680-1AE2-CCEB-414BCC432121}"/>
              </a:ext>
            </a:extLst>
          </p:cNvPr>
          <p:cNvSpPr txBox="1"/>
          <p:nvPr/>
        </p:nvSpPr>
        <p:spPr>
          <a:xfrm>
            <a:off x="5872833" y="2889421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Sim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F9CD0CA-64C2-6521-B04B-BBB54234D6FD}"/>
              </a:ext>
            </a:extLst>
          </p:cNvPr>
          <p:cNvSpPr txBox="1"/>
          <p:nvPr/>
        </p:nvSpPr>
        <p:spPr>
          <a:xfrm>
            <a:off x="6341523" y="1113888"/>
            <a:ext cx="3954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説明変数漏れのリスク、学習不十分で精度低下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8A93B82-B124-4413-483C-7DC507E02958}"/>
              </a:ext>
            </a:extLst>
          </p:cNvPr>
          <p:cNvSpPr txBox="1"/>
          <p:nvPr/>
        </p:nvSpPr>
        <p:spPr>
          <a:xfrm>
            <a:off x="7421207" y="288043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少実験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59D397FE-22B5-3760-E15B-FC197AD374A2}"/>
              </a:ext>
            </a:extLst>
          </p:cNvPr>
          <p:cNvSpPr txBox="1"/>
          <p:nvPr/>
        </p:nvSpPr>
        <p:spPr>
          <a:xfrm>
            <a:off x="2231024" y="1513216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特性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目的変数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7038D755-3FDD-037B-8CF6-48B5F5EDF8DD}"/>
              </a:ext>
            </a:extLst>
          </p:cNvPr>
          <p:cNvSpPr txBox="1"/>
          <p:nvPr/>
        </p:nvSpPr>
        <p:spPr>
          <a:xfrm>
            <a:off x="3185522" y="1808083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構造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E0E9AEF5-991F-E7C8-914C-059F81D5299B}"/>
              </a:ext>
            </a:extLst>
          </p:cNvPr>
          <p:cNvSpPr txBox="1"/>
          <p:nvPr/>
        </p:nvSpPr>
        <p:spPr>
          <a:xfrm>
            <a:off x="3187125" y="2947113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構造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コネクタ: カギ線 99">
            <a:extLst>
              <a:ext uri="{FF2B5EF4-FFF2-40B4-BE49-F238E27FC236}">
                <a16:creationId xmlns:a16="http://schemas.microsoft.com/office/drawing/2014/main" id="{C5E18FEC-1575-E4C3-3B1B-0CF958FFF27E}"/>
              </a:ext>
            </a:extLst>
          </p:cNvPr>
          <p:cNvCxnSpPr>
            <a:cxnSpLocks/>
            <a:stCxn id="91" idx="2"/>
            <a:endCxn id="99" idx="1"/>
          </p:cNvCxnSpPr>
          <p:nvPr/>
        </p:nvCxnSpPr>
        <p:spPr>
          <a:xfrm rot="16200000" flipH="1">
            <a:off x="2423815" y="2337691"/>
            <a:ext cx="1280009" cy="246612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2567D80E-89A7-558D-BC96-0552F1F795DC}"/>
              </a:ext>
            </a:extLst>
          </p:cNvPr>
          <p:cNvSpPr txBox="1"/>
          <p:nvPr/>
        </p:nvSpPr>
        <p:spPr>
          <a:xfrm>
            <a:off x="4131677" y="1808083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PQC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C7984136-4288-D856-8F1F-16AB115B2D66}"/>
              </a:ext>
            </a:extLst>
          </p:cNvPr>
          <p:cNvCxnSpPr>
            <a:cxnSpLocks/>
            <a:stCxn id="92" idx="3"/>
            <a:endCxn id="104" idx="1"/>
          </p:cNvCxnSpPr>
          <p:nvPr/>
        </p:nvCxnSpPr>
        <p:spPr>
          <a:xfrm>
            <a:off x="3851089" y="1961972"/>
            <a:ext cx="28058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C9D03F22-3B17-09B9-C289-183A899850D8}"/>
              </a:ext>
            </a:extLst>
          </p:cNvPr>
          <p:cNvSpPr txBox="1"/>
          <p:nvPr/>
        </p:nvSpPr>
        <p:spPr>
          <a:xfrm>
            <a:off x="4131677" y="219037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インプラ条件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30AF5196-73BA-CFF3-184D-ECD4AE686A84}"/>
              </a:ext>
            </a:extLst>
          </p:cNvPr>
          <p:cNvSpPr txBox="1"/>
          <p:nvPr/>
        </p:nvSpPr>
        <p:spPr>
          <a:xfrm>
            <a:off x="4135088" y="257266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装置信号</a:t>
            </a:r>
          </a:p>
        </p:txBody>
      </p: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EF2C3AF3-54E3-70E2-4802-515417800FCD}"/>
              </a:ext>
            </a:extLst>
          </p:cNvPr>
          <p:cNvCxnSpPr>
            <a:cxnSpLocks/>
            <a:stCxn id="92" idx="3"/>
            <a:endCxn id="108" idx="1"/>
          </p:cNvCxnSpPr>
          <p:nvPr/>
        </p:nvCxnSpPr>
        <p:spPr>
          <a:xfrm>
            <a:off x="3851089" y="1961972"/>
            <a:ext cx="280588" cy="3822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C1DC4314-73F1-8545-C68A-BDF51FE8F36F}"/>
              </a:ext>
            </a:extLst>
          </p:cNvPr>
          <p:cNvCxnSpPr>
            <a:cxnSpLocks/>
            <a:stCxn id="92" idx="3"/>
            <a:endCxn id="109" idx="1"/>
          </p:cNvCxnSpPr>
          <p:nvPr/>
        </p:nvCxnSpPr>
        <p:spPr>
          <a:xfrm>
            <a:off x="3851089" y="1961972"/>
            <a:ext cx="283999" cy="7645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6E7EB7FA-1C85-898E-A044-60D3090AD045}"/>
              </a:ext>
            </a:extLst>
          </p:cNvPr>
          <p:cNvSpPr txBox="1"/>
          <p:nvPr/>
        </p:nvSpPr>
        <p:spPr>
          <a:xfrm>
            <a:off x="4140298" y="2946681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PQC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3CE98D4D-B89E-F9D4-88D3-07B480808B61}"/>
              </a:ext>
            </a:extLst>
          </p:cNvPr>
          <p:cNvCxnSpPr>
            <a:cxnSpLocks/>
          </p:cNvCxnSpPr>
          <p:nvPr/>
        </p:nvCxnSpPr>
        <p:spPr>
          <a:xfrm flipV="1">
            <a:off x="9228241" y="308247"/>
            <a:ext cx="289209" cy="43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077C476B-E4D8-FDE0-0DB1-A38851E05052}"/>
              </a:ext>
            </a:extLst>
          </p:cNvPr>
          <p:cNvSpPr txBox="1"/>
          <p:nvPr/>
        </p:nvSpPr>
        <p:spPr>
          <a:xfrm>
            <a:off x="7743458" y="1477262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特性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目的変数</a:t>
            </a:r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AC3507BB-9425-69B6-747E-291B0AE299C4}"/>
              </a:ext>
            </a:extLst>
          </p:cNvPr>
          <p:cNvSpPr txBox="1"/>
          <p:nvPr/>
        </p:nvSpPr>
        <p:spPr>
          <a:xfrm>
            <a:off x="8697956" y="180984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新構造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8D7ABCDB-DCDF-1BF7-E843-77DD6F007FFF}"/>
              </a:ext>
            </a:extLst>
          </p:cNvPr>
          <p:cNvSpPr txBox="1"/>
          <p:nvPr/>
        </p:nvSpPr>
        <p:spPr>
          <a:xfrm>
            <a:off x="8699559" y="2948870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構造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F7AB188D-5ABF-4462-87A9-B8019498EFD0}"/>
              </a:ext>
            </a:extLst>
          </p:cNvPr>
          <p:cNvCxnSpPr>
            <a:cxnSpLocks/>
            <a:stCxn id="128" idx="2"/>
            <a:endCxn id="131" idx="1"/>
          </p:cNvCxnSpPr>
          <p:nvPr/>
        </p:nvCxnSpPr>
        <p:spPr>
          <a:xfrm rot="16200000" flipH="1">
            <a:off x="7917393" y="2320593"/>
            <a:ext cx="1317720" cy="246612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2BB137EA-AAB8-EB0A-95FE-2471C727A04A}"/>
              </a:ext>
            </a:extLst>
          </p:cNvPr>
          <p:cNvSpPr txBox="1"/>
          <p:nvPr/>
        </p:nvSpPr>
        <p:spPr>
          <a:xfrm>
            <a:off x="9644111" y="1809840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PQC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F3B50854-65C0-F574-1F73-7F5733C14744}"/>
              </a:ext>
            </a:extLst>
          </p:cNvPr>
          <p:cNvCxnSpPr>
            <a:cxnSpLocks/>
            <a:stCxn id="129" idx="3"/>
            <a:endCxn id="133" idx="1"/>
          </p:cNvCxnSpPr>
          <p:nvPr/>
        </p:nvCxnSpPr>
        <p:spPr>
          <a:xfrm>
            <a:off x="9421231" y="1963729"/>
            <a:ext cx="2228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3FC46D29-F556-723F-7DBA-7DCDEE1FF84C}"/>
              </a:ext>
            </a:extLst>
          </p:cNvPr>
          <p:cNvSpPr txBox="1"/>
          <p:nvPr/>
        </p:nvSpPr>
        <p:spPr>
          <a:xfrm>
            <a:off x="9644111" y="219212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858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検証不十分</a:t>
            </a:r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4C9C8BF2-087F-4DB9-640E-0C52B67C249F}"/>
              </a:ext>
            </a:extLst>
          </p:cNvPr>
          <p:cNvSpPr txBox="1"/>
          <p:nvPr/>
        </p:nvSpPr>
        <p:spPr>
          <a:xfrm>
            <a:off x="9647522" y="257441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想定漏れ</a:t>
            </a:r>
            <a:endParaRPr kumimoji="1" lang="ja-JP" altLang="en-US" sz="14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ABEA6AF1-44F6-71C2-4874-B87A7C218A1F}"/>
              </a:ext>
            </a:extLst>
          </p:cNvPr>
          <p:cNvCxnSpPr>
            <a:cxnSpLocks/>
            <a:stCxn id="129" idx="3"/>
            <a:endCxn id="135" idx="1"/>
          </p:cNvCxnSpPr>
          <p:nvPr/>
        </p:nvCxnSpPr>
        <p:spPr>
          <a:xfrm>
            <a:off x="9421231" y="1963729"/>
            <a:ext cx="222880" cy="3822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F3F0C45C-F9E6-F390-63A3-C99F5BA27D3A}"/>
              </a:ext>
            </a:extLst>
          </p:cNvPr>
          <p:cNvCxnSpPr>
            <a:cxnSpLocks/>
            <a:stCxn id="129" idx="3"/>
            <a:endCxn id="136" idx="1"/>
          </p:cNvCxnSpPr>
          <p:nvPr/>
        </p:nvCxnSpPr>
        <p:spPr>
          <a:xfrm>
            <a:off x="9421231" y="1963729"/>
            <a:ext cx="226291" cy="7645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34D4FC0B-CE0B-D22E-7A48-7D51912E3B66}"/>
              </a:ext>
            </a:extLst>
          </p:cNvPr>
          <p:cNvSpPr txBox="1"/>
          <p:nvPr/>
        </p:nvSpPr>
        <p:spPr>
          <a:xfrm>
            <a:off x="9652732" y="2948438"/>
            <a:ext cx="5485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PQC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0848B36F-C5F1-A7EF-DE23-A794636EC2BE}"/>
              </a:ext>
            </a:extLst>
          </p:cNvPr>
          <p:cNvCxnSpPr>
            <a:cxnSpLocks/>
            <a:stCxn id="131" idx="3"/>
            <a:endCxn id="139" idx="1"/>
          </p:cNvCxnSpPr>
          <p:nvPr/>
        </p:nvCxnSpPr>
        <p:spPr>
          <a:xfrm flipV="1">
            <a:off x="9363523" y="3102327"/>
            <a:ext cx="289209" cy="43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D4456FB1-790C-D045-687C-17F542820844}"/>
              </a:ext>
            </a:extLst>
          </p:cNvPr>
          <p:cNvCxnSpPr>
            <a:cxnSpLocks/>
            <a:stCxn id="60" idx="0"/>
            <a:endCxn id="52" idx="2"/>
          </p:cNvCxnSpPr>
          <p:nvPr/>
        </p:nvCxnSpPr>
        <p:spPr>
          <a:xfrm flipV="1">
            <a:off x="6130276" y="1785796"/>
            <a:ext cx="841915" cy="1103625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矢印コネクタ 143">
            <a:extLst>
              <a:ext uri="{FF2B5EF4-FFF2-40B4-BE49-F238E27FC236}">
                <a16:creationId xmlns:a16="http://schemas.microsoft.com/office/drawing/2014/main" id="{68F619A3-AD4C-40D2-BE50-40823F5DFD62}"/>
              </a:ext>
            </a:extLst>
          </p:cNvPr>
          <p:cNvCxnSpPr>
            <a:cxnSpLocks/>
            <a:stCxn id="64" idx="0"/>
            <a:endCxn id="52" idx="2"/>
          </p:cNvCxnSpPr>
          <p:nvPr/>
        </p:nvCxnSpPr>
        <p:spPr>
          <a:xfrm flipH="1" flipV="1">
            <a:off x="6972191" y="1785796"/>
            <a:ext cx="810654" cy="109464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5DDB1220-316E-5AFF-B7A1-A85513C1564E}"/>
              </a:ext>
            </a:extLst>
          </p:cNvPr>
          <p:cNvSpPr txBox="1"/>
          <p:nvPr/>
        </p:nvSpPr>
        <p:spPr>
          <a:xfrm>
            <a:off x="10726459" y="225083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大きな</a:t>
            </a:r>
            <a:endParaRPr lang="en-US" altLang="ja-JP" sz="14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リスク</a:t>
            </a:r>
            <a:endParaRPr kumimoji="1" lang="en-US" altLang="ja-JP" sz="14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BB0FEF4A-0AA1-3E16-5557-91C73F454133}"/>
              </a:ext>
            </a:extLst>
          </p:cNvPr>
          <p:cNvSpPr/>
          <p:nvPr/>
        </p:nvSpPr>
        <p:spPr>
          <a:xfrm>
            <a:off x="9421231" y="2154873"/>
            <a:ext cx="1305228" cy="726458"/>
          </a:xfrm>
          <a:prstGeom prst="rect">
            <a:avLst/>
          </a:prstGeom>
          <a:noFill/>
          <a:ln w="19050">
            <a:solidFill>
              <a:srgbClr val="A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6" name="コネクタ: カギ線 155">
            <a:extLst>
              <a:ext uri="{FF2B5EF4-FFF2-40B4-BE49-F238E27FC236}">
                <a16:creationId xmlns:a16="http://schemas.microsoft.com/office/drawing/2014/main" id="{9D661294-3134-82BD-B36F-7BB43535BA84}"/>
              </a:ext>
            </a:extLst>
          </p:cNvPr>
          <p:cNvCxnSpPr>
            <a:cxnSpLocks/>
            <a:stCxn id="91" idx="2"/>
            <a:endCxn id="92" idx="1"/>
          </p:cNvCxnSpPr>
          <p:nvPr/>
        </p:nvCxnSpPr>
        <p:spPr>
          <a:xfrm rot="16200000" flipH="1">
            <a:off x="2992528" y="1768977"/>
            <a:ext cx="140979" cy="245009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コネクタ: カギ線 162">
            <a:extLst>
              <a:ext uri="{FF2B5EF4-FFF2-40B4-BE49-F238E27FC236}">
                <a16:creationId xmlns:a16="http://schemas.microsoft.com/office/drawing/2014/main" id="{A7A332A6-3618-0F60-D218-A0372811A93F}"/>
              </a:ext>
            </a:extLst>
          </p:cNvPr>
          <p:cNvCxnSpPr>
            <a:cxnSpLocks/>
            <a:stCxn id="128" idx="2"/>
            <a:endCxn id="129" idx="1"/>
          </p:cNvCxnSpPr>
          <p:nvPr/>
        </p:nvCxnSpPr>
        <p:spPr>
          <a:xfrm rot="16200000" flipH="1">
            <a:off x="8486106" y="1751879"/>
            <a:ext cx="178690" cy="245009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1AF1F761-8556-C0CA-A37F-1CD1E8D55BE1}"/>
              </a:ext>
            </a:extLst>
          </p:cNvPr>
          <p:cNvSpPr txBox="1"/>
          <p:nvPr/>
        </p:nvSpPr>
        <p:spPr>
          <a:xfrm>
            <a:off x="7131574" y="2242611"/>
            <a:ext cx="108234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少量データ</a:t>
            </a:r>
          </a:p>
        </p:txBody>
      </p: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88065B66-4F41-8518-57A5-94A80AF85150}"/>
              </a:ext>
            </a:extLst>
          </p:cNvPr>
          <p:cNvSpPr txBox="1"/>
          <p:nvPr/>
        </p:nvSpPr>
        <p:spPr>
          <a:xfrm>
            <a:off x="6291270" y="4178996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想定漏れを無くすこと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6" name="テキスト ボックス 175">
            <a:extLst>
              <a:ext uri="{FF2B5EF4-FFF2-40B4-BE49-F238E27FC236}">
                <a16:creationId xmlns:a16="http://schemas.microsoft.com/office/drawing/2014/main" id="{900526A5-120E-228C-97C9-E619CB0B7FF8}"/>
              </a:ext>
            </a:extLst>
          </p:cNvPr>
          <p:cNvSpPr txBox="1"/>
          <p:nvPr/>
        </p:nvSpPr>
        <p:spPr>
          <a:xfrm>
            <a:off x="8580574" y="417692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既存のノウハウは循環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77" name="図 176">
            <a:extLst>
              <a:ext uri="{FF2B5EF4-FFF2-40B4-BE49-F238E27FC236}">
                <a16:creationId xmlns:a16="http://schemas.microsoft.com/office/drawing/2014/main" id="{0CA7D231-647C-E953-F5C8-E7EBD05D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33" t="14861" r="7577" b="8056"/>
          <a:stretch>
            <a:fillRect/>
          </a:stretch>
        </p:blipFill>
        <p:spPr>
          <a:xfrm>
            <a:off x="9133861" y="4552726"/>
            <a:ext cx="867389" cy="856216"/>
          </a:xfrm>
          <a:prstGeom prst="rect">
            <a:avLst/>
          </a:prstGeom>
        </p:spPr>
      </p:pic>
      <p:pic>
        <p:nvPicPr>
          <p:cNvPr id="178" name="図 177">
            <a:extLst>
              <a:ext uri="{FF2B5EF4-FFF2-40B4-BE49-F238E27FC236}">
                <a16:creationId xmlns:a16="http://schemas.microsoft.com/office/drawing/2014/main" id="{AA8983FA-3510-4719-A82B-DA16F04D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29" b="18055"/>
          <a:stretch>
            <a:fillRect/>
          </a:stretch>
        </p:blipFill>
        <p:spPr>
          <a:xfrm>
            <a:off x="6576910" y="4535374"/>
            <a:ext cx="1457145" cy="944475"/>
          </a:xfrm>
          <a:prstGeom prst="rect">
            <a:avLst/>
          </a:prstGeom>
        </p:spPr>
      </p:pic>
      <p:sp>
        <p:nvSpPr>
          <p:cNvPr id="179" name="乗算記号 178">
            <a:extLst>
              <a:ext uri="{FF2B5EF4-FFF2-40B4-BE49-F238E27FC236}">
                <a16:creationId xmlns:a16="http://schemas.microsoft.com/office/drawing/2014/main" id="{9418C786-2167-EFD6-4BB7-1DD09ACD8EAD}"/>
              </a:ext>
            </a:extLst>
          </p:cNvPr>
          <p:cNvSpPr/>
          <p:nvPr/>
        </p:nvSpPr>
        <p:spPr>
          <a:xfrm>
            <a:off x="6624046" y="4334273"/>
            <a:ext cx="1457145" cy="1389499"/>
          </a:xfrm>
          <a:prstGeom prst="mathMultiply">
            <a:avLst>
              <a:gd name="adj1" fmla="val 485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テキスト ボックス 180">
            <a:extLst>
              <a:ext uri="{FF2B5EF4-FFF2-40B4-BE49-F238E27FC236}">
                <a16:creationId xmlns:a16="http://schemas.microsoft.com/office/drawing/2014/main" id="{4488B272-C4F6-7254-053A-7FDE2738B5A8}"/>
              </a:ext>
            </a:extLst>
          </p:cNvPr>
          <p:cNvSpPr txBox="1"/>
          <p:nvPr/>
        </p:nvSpPr>
        <p:spPr>
          <a:xfrm>
            <a:off x="6641796" y="2880438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FMEA</a:t>
            </a:r>
          </a:p>
        </p:txBody>
      </p:sp>
      <p:cxnSp>
        <p:nvCxnSpPr>
          <p:cNvPr id="182" name="直線矢印コネクタ 181">
            <a:extLst>
              <a:ext uri="{FF2B5EF4-FFF2-40B4-BE49-F238E27FC236}">
                <a16:creationId xmlns:a16="http://schemas.microsoft.com/office/drawing/2014/main" id="{3BDD6B07-0643-9247-A817-F009C01B383D}"/>
              </a:ext>
            </a:extLst>
          </p:cNvPr>
          <p:cNvCxnSpPr>
            <a:cxnSpLocks/>
            <a:stCxn id="181" idx="0"/>
            <a:endCxn id="52" idx="2"/>
          </p:cNvCxnSpPr>
          <p:nvPr/>
        </p:nvCxnSpPr>
        <p:spPr>
          <a:xfrm flipH="1" flipV="1">
            <a:off x="6972191" y="1785796"/>
            <a:ext cx="3992" cy="109464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テキスト ボックス 172">
            <a:extLst>
              <a:ext uri="{FF2B5EF4-FFF2-40B4-BE49-F238E27FC236}">
                <a16:creationId xmlns:a16="http://schemas.microsoft.com/office/drawing/2014/main" id="{3C75F573-F6DA-9567-15D7-E877EE977EAF}"/>
              </a:ext>
            </a:extLst>
          </p:cNvPr>
          <p:cNvSpPr txBox="1"/>
          <p:nvPr/>
        </p:nvSpPr>
        <p:spPr>
          <a:xfrm>
            <a:off x="6223665" y="2242321"/>
            <a:ext cx="90281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説明変数</a:t>
            </a:r>
          </a:p>
        </p:txBody>
      </p:sp>
      <p:sp>
        <p:nvSpPr>
          <p:cNvPr id="187" name="テキスト ボックス 186">
            <a:extLst>
              <a:ext uri="{FF2B5EF4-FFF2-40B4-BE49-F238E27FC236}">
                <a16:creationId xmlns:a16="http://schemas.microsoft.com/office/drawing/2014/main" id="{5A774B41-075A-DD13-306A-3F5CD206C0EF}"/>
              </a:ext>
            </a:extLst>
          </p:cNvPr>
          <p:cNvSpPr txBox="1"/>
          <p:nvPr/>
        </p:nvSpPr>
        <p:spPr>
          <a:xfrm>
            <a:off x="6223665" y="3305638"/>
            <a:ext cx="4836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不確実性が高い開発 ➡ 説明要因を出し切れてない</a:t>
            </a:r>
            <a:endParaRPr kumimoji="1" lang="en-US" altLang="ja-JP" sz="16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8" name="矢印: 下 187">
            <a:extLst>
              <a:ext uri="{FF2B5EF4-FFF2-40B4-BE49-F238E27FC236}">
                <a16:creationId xmlns:a16="http://schemas.microsoft.com/office/drawing/2014/main" id="{ED050312-160E-55CA-2372-9BBCA523380A}"/>
              </a:ext>
            </a:extLst>
          </p:cNvPr>
          <p:cNvSpPr/>
          <p:nvPr/>
        </p:nvSpPr>
        <p:spPr>
          <a:xfrm>
            <a:off x="7298125" y="3678415"/>
            <a:ext cx="2219325" cy="39960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テキスト ボックス 188">
            <a:extLst>
              <a:ext uri="{FF2B5EF4-FFF2-40B4-BE49-F238E27FC236}">
                <a16:creationId xmlns:a16="http://schemas.microsoft.com/office/drawing/2014/main" id="{B13785D8-BA6B-C7C4-5187-75FFE655BE8D}"/>
              </a:ext>
            </a:extLst>
          </p:cNvPr>
          <p:cNvSpPr txBox="1"/>
          <p:nvPr/>
        </p:nvSpPr>
        <p:spPr>
          <a:xfrm>
            <a:off x="1116937" y="4096482"/>
            <a:ext cx="36471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でデータ駆動のリスク回避</a:t>
            </a:r>
            <a:endParaRPr lang="en-US" altLang="ja-JP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・知の探索と取出しを容易</a:t>
            </a:r>
            <a:endParaRPr lang="en-US" altLang="ja-JP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・社外情報も取り入れ網羅性</a:t>
            </a:r>
            <a:r>
              <a:rPr lang="en-US" altLang="ja-JP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UP</a:t>
            </a:r>
          </a:p>
          <a:p>
            <a:r>
              <a:rPr lang="ja-JP" altLang="en-US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・言語化して解釈性を上げる</a:t>
            </a:r>
            <a:endParaRPr lang="en-US" altLang="ja-JP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・できたノウハウを次世代に継承</a:t>
            </a:r>
            <a:endParaRPr lang="en-US" altLang="ja-JP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0" name="テキスト ボックス 189">
            <a:extLst>
              <a:ext uri="{FF2B5EF4-FFF2-40B4-BE49-F238E27FC236}">
                <a16:creationId xmlns:a16="http://schemas.microsoft.com/office/drawing/2014/main" id="{CE25F0E1-B5EB-9104-4BA5-AE65A8D755F5}"/>
              </a:ext>
            </a:extLst>
          </p:cNvPr>
          <p:cNvSpPr txBox="1"/>
          <p:nvPr/>
        </p:nvSpPr>
        <p:spPr>
          <a:xfrm>
            <a:off x="5878915" y="5547869"/>
            <a:ext cx="5638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人手で情報を集める</a:t>
            </a:r>
            <a:r>
              <a:rPr lang="en-US" altLang="ja-JP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継承する事は高コスト</a:t>
            </a:r>
            <a:r>
              <a:rPr lang="en-US" altLang="ja-JP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時間</a:t>
            </a:r>
            <a:r>
              <a:rPr lang="en-US" altLang="ja-JP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,</a:t>
            </a:r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精神力</a:t>
            </a:r>
            <a:r>
              <a:rPr lang="en-US" altLang="ja-JP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3411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141</Words>
  <Application>Microsoft Office PowerPoint</Application>
  <PresentationFormat>ワイド画面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幸隆 浦</dc:creator>
  <cp:lastModifiedBy>幸隆 浦</cp:lastModifiedBy>
  <cp:revision>3</cp:revision>
  <dcterms:created xsi:type="dcterms:W3CDTF">2025-11-19T12:38:26Z</dcterms:created>
  <dcterms:modified xsi:type="dcterms:W3CDTF">2025-11-19T14:09:44Z</dcterms:modified>
</cp:coreProperties>
</file>