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隆 浦" initials="幸浦" lastIdx="1" clrIdx="0">
    <p:extLst>
      <p:ext uri="{19B8F6BF-5375-455C-9EA6-DF929625EA0E}">
        <p15:presenceInfo xmlns:p15="http://schemas.microsoft.com/office/powerpoint/2012/main" userId="1aea823ad74671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3D5238-AA5A-D9FA-E16B-58A8EB2EB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7CB9B0F-B9BA-C03F-ED47-C612EFE7D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1DEA6-614A-B8CE-EEF7-34F3BE0E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8FF9B-915C-9BEE-1C60-5F6A51E1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23DBD0-AD08-F5B8-00FA-F458FFD9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59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CE9B-0AE7-756B-D043-9A1246F9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175EA7-ED2C-40F1-E948-C8D7EEBDF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0C6F2D-261F-D0E1-674D-BBDD3167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06EF73-F782-C712-4B54-B9DD1172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4E5F9A-CA05-DB80-3CF2-A70BA987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36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6E9BD7-B821-54C6-7462-99259A442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50146F-2E76-1446-2A97-CB5198BAC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EBD5CF-FED1-9079-3759-696F9456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D8A35B-72A0-A023-7CA5-DB3A0D82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6D960-9CB2-CFC6-AFAF-F04166C8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56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C03D-EED7-3C5D-BF6F-3460F3C2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C013A9-7BF9-EE06-13CD-3DC495743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302932-859D-C97F-288D-FF650D323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2D617D-6756-62A0-D53D-CF6CC6B6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204A75-B840-B759-DEC3-62EAF920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6EE6F-D4C9-7E63-533C-5B9C8F61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79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74A64F-ED47-F9DA-FF3F-AB6CF039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74A096-9666-0EF0-4D67-D46F1EF46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1EBECE-AB14-809E-22F5-2756B697F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357146-3F63-CAE5-8FBF-5E4852F4B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D3F074-5631-C595-F3DF-007DA8858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280756-B887-7EE8-0904-C90819CE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440CE6-56D4-1658-DD63-17E6B3BD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60DE66-2862-515F-A1C0-B99FE8B5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42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A70505-0549-1451-67AD-30125F70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9D9981-4E0F-5B72-5E0B-ACAB8593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ABD82E7-2B6B-89B3-7127-A8AF6BE8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DBDE9EF-EC50-4DC0-9D71-8015E934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99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9A1479-7B0B-0C7D-995E-DF2C6D05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D453450-8FF0-918C-2EA5-A74335EB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8CBC64-6837-5684-E47E-00C59C6F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16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3ED201-FECA-BD6A-E7B2-F344F246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EC784-DC63-3A01-FED1-8EB445460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99FE19-114A-5B41-071A-8C194B770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E88F22-5CD7-D1DE-7647-60FC26FB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994115-A1AC-F4A0-9486-28558AA4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6FA70E-2646-16A0-E360-ACDDDD90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19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7F3D5-E198-C5FE-D998-F1999568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0295D2F-5B7F-607A-99AE-A1DC1BA35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F366A71-319C-5C96-C8D5-9FC414BDE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378E3C-033A-7505-F67D-6FAC778D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F5B776-B74D-9F57-38EC-C46F4110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EA064B-FAE5-DC83-C14A-BA47007D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53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A7341-10DF-6B07-8746-4F25D174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D1A170-C573-7062-5C05-37DC7A03D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4340B-E286-6FA3-EB99-1B8E23E7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461D18-529E-1724-9805-F5EDF69B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11435B-08D8-A573-20B0-60DF84EB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20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9C08A8-411B-F9B7-0064-2F04061DA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96C276-A14E-6711-AA58-160C572C2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16F7FA-A6DA-CFFE-E2D3-3B9032B6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678EEF-921B-19A4-DFF2-7D13F17FE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C7EB75-2BEE-D0BF-1ACC-0ED3328F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63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E4408FE-0771-228F-6D5F-A56755909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F8C6EB-D830-C6D0-0B82-33E5F2153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BE5AF5-3E77-1642-DAAB-585061209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DAC97-CC5E-409A-8D8F-7B7336A6276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E0526-36D4-DBC5-3961-9394DE1A7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99DEA5-D6F4-28F1-DC6F-DF470C4F4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9B25-0090-46FA-BAAB-2A0727712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93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CDF7CA-C7FB-1493-05B9-327DF6C1233A}"/>
              </a:ext>
            </a:extLst>
          </p:cNvPr>
          <p:cNvSpPr txBox="1"/>
          <p:nvPr/>
        </p:nvSpPr>
        <p:spPr>
          <a:xfrm>
            <a:off x="349623" y="197226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V****</a:t>
            </a:r>
            <a:endParaRPr kumimoji="1" lang="ja-JP" altLang="en-US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9092CA-83F3-24F4-6903-7F346E15E026}"/>
              </a:ext>
            </a:extLst>
          </p:cNvPr>
          <p:cNvSpPr txBox="1"/>
          <p:nvPr/>
        </p:nvSpPr>
        <p:spPr>
          <a:xfrm>
            <a:off x="761378" y="2251907"/>
            <a:ext cx="14975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状況認識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00F89CB-F0AA-6203-CD01-E907C39D0AD5}"/>
              </a:ext>
            </a:extLst>
          </p:cNvPr>
          <p:cNvSpPr txBox="1"/>
          <p:nvPr/>
        </p:nvSpPr>
        <p:spPr>
          <a:xfrm>
            <a:off x="761378" y="2978047"/>
            <a:ext cx="14975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仮説生成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6522CA-BFDA-E986-B539-9B98E114E736}"/>
              </a:ext>
            </a:extLst>
          </p:cNvPr>
          <p:cNvSpPr txBox="1"/>
          <p:nvPr/>
        </p:nvSpPr>
        <p:spPr>
          <a:xfrm>
            <a:off x="778392" y="3759755"/>
            <a:ext cx="146349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判断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決定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4D07BF4-0C77-C0D1-3B27-459EE9B153B5}"/>
              </a:ext>
            </a:extLst>
          </p:cNvPr>
          <p:cNvSpPr txBox="1"/>
          <p:nvPr/>
        </p:nvSpPr>
        <p:spPr>
          <a:xfrm>
            <a:off x="724987" y="1215585"/>
            <a:ext cx="156966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業務プロセス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49C373D-75D5-03FB-E845-294C749054C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510141" y="2621239"/>
            <a:ext cx="0" cy="35680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88616910-852D-747E-69C9-C67BB926D5B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510141" y="3347379"/>
            <a:ext cx="0" cy="41237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152D37C-0B78-66C5-0D33-65AC25DDA647}"/>
              </a:ext>
            </a:extLst>
          </p:cNvPr>
          <p:cNvSpPr txBox="1"/>
          <p:nvPr/>
        </p:nvSpPr>
        <p:spPr>
          <a:xfrm>
            <a:off x="778390" y="4541463"/>
            <a:ext cx="14635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実行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CC08F7A-A5F0-958E-8A3B-5A02EC21F169}"/>
              </a:ext>
            </a:extLst>
          </p:cNvPr>
          <p:cNvCxnSpPr>
            <a:cxnSpLocks/>
            <a:stCxn id="8" idx="2"/>
            <a:endCxn id="29" idx="0"/>
          </p:cNvCxnSpPr>
          <p:nvPr/>
        </p:nvCxnSpPr>
        <p:spPr>
          <a:xfrm flipH="1">
            <a:off x="1510140" y="4129087"/>
            <a:ext cx="1" cy="41237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80C9D682-F843-9A1D-972C-A5E446F8CBDA}"/>
              </a:ext>
            </a:extLst>
          </p:cNvPr>
          <p:cNvCxnSpPr>
            <a:cxnSpLocks/>
            <a:stCxn id="29" idx="2"/>
            <a:endCxn id="6" idx="0"/>
          </p:cNvCxnSpPr>
          <p:nvPr/>
        </p:nvCxnSpPr>
        <p:spPr>
          <a:xfrm rot="5400000" flipH="1" flipV="1">
            <a:off x="180696" y="3581350"/>
            <a:ext cx="2658888" cy="1"/>
          </a:xfrm>
          <a:prstGeom prst="bentConnector5">
            <a:avLst>
              <a:gd name="adj1" fmla="val -8598"/>
              <a:gd name="adj2" fmla="val 97736400000"/>
              <a:gd name="adj3" fmla="val 108598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A64CC5F-2E09-1862-34F0-3FDA85809733}"/>
              </a:ext>
            </a:extLst>
          </p:cNvPr>
          <p:cNvSpPr txBox="1"/>
          <p:nvPr/>
        </p:nvSpPr>
        <p:spPr>
          <a:xfrm>
            <a:off x="7539276" y="1215585"/>
            <a:ext cx="3647152" cy="64633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</a:t>
            </a:r>
          </a:p>
          <a:p>
            <a:r>
              <a:rPr lang="ja-JP" altLang="en-US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：意思決定プロセスの代替と拡張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8C506F9-E914-21BF-0D5E-F6B16E2A1490}"/>
              </a:ext>
            </a:extLst>
          </p:cNvPr>
          <p:cNvSpPr txBox="1"/>
          <p:nvPr/>
        </p:nvSpPr>
        <p:spPr>
          <a:xfrm>
            <a:off x="3540162" y="1215584"/>
            <a:ext cx="2954655" cy="64633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従来の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化</a:t>
            </a:r>
            <a:endParaRPr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：一部業務の部分サポート</a:t>
            </a:r>
          </a:p>
        </p:txBody>
      </p:sp>
      <p:sp>
        <p:nvSpPr>
          <p:cNvPr id="46" name="矢印: 右 45">
            <a:extLst>
              <a:ext uri="{FF2B5EF4-FFF2-40B4-BE49-F238E27FC236}">
                <a16:creationId xmlns:a16="http://schemas.microsoft.com/office/drawing/2014/main" id="{4F6E30ED-A0C6-1167-680C-43D5605307AB}"/>
              </a:ext>
            </a:extLst>
          </p:cNvPr>
          <p:cNvSpPr/>
          <p:nvPr/>
        </p:nvSpPr>
        <p:spPr>
          <a:xfrm>
            <a:off x="6762915" y="1215584"/>
            <a:ext cx="577228" cy="6463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FB4D626-EBCE-5E29-E03F-2435F44B55EA}"/>
              </a:ext>
            </a:extLst>
          </p:cNvPr>
          <p:cNvSpPr txBox="1"/>
          <p:nvPr/>
        </p:nvSpPr>
        <p:spPr>
          <a:xfrm>
            <a:off x="4042461" y="2250139"/>
            <a:ext cx="149752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5000"/>
                  <a:lumOff val="55000"/>
                </a:schemeClr>
              </a:gs>
              <a:gs pos="54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状況認識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B969CE5-2A4D-54DB-44AF-EF994705938A}"/>
              </a:ext>
            </a:extLst>
          </p:cNvPr>
          <p:cNvSpPr txBox="1"/>
          <p:nvPr/>
        </p:nvSpPr>
        <p:spPr>
          <a:xfrm>
            <a:off x="4042461" y="2976279"/>
            <a:ext cx="14975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仮説生成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1A7A05A-C0A5-F0B1-01FD-34ABF41E40BB}"/>
              </a:ext>
            </a:extLst>
          </p:cNvPr>
          <p:cNvSpPr txBox="1"/>
          <p:nvPr/>
        </p:nvSpPr>
        <p:spPr>
          <a:xfrm>
            <a:off x="4059475" y="3757987"/>
            <a:ext cx="1463498" cy="369332"/>
          </a:xfrm>
          <a:prstGeom prst="rect">
            <a:avLst/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54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</a:gra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判断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決定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3B87D523-D93A-67CD-231C-904DB539EE29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4791224" y="2619471"/>
            <a:ext cx="0" cy="35680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07E3D728-22D4-BFEE-F008-90378C258F7E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4791224" y="3345611"/>
            <a:ext cx="0" cy="41237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EBCB6FA-1DA1-5539-46CD-C14AAA4BD80C}"/>
              </a:ext>
            </a:extLst>
          </p:cNvPr>
          <p:cNvSpPr txBox="1"/>
          <p:nvPr/>
        </p:nvSpPr>
        <p:spPr>
          <a:xfrm>
            <a:off x="4059473" y="4539695"/>
            <a:ext cx="14635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実行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E81402C-A8AA-B2E8-B7D4-11F845C665FB}"/>
              </a:ext>
            </a:extLst>
          </p:cNvPr>
          <p:cNvCxnSpPr>
            <a:cxnSpLocks/>
            <a:stCxn id="49" idx="2"/>
            <a:endCxn id="52" idx="0"/>
          </p:cNvCxnSpPr>
          <p:nvPr/>
        </p:nvCxnSpPr>
        <p:spPr>
          <a:xfrm flipH="1">
            <a:off x="4791223" y="4127319"/>
            <a:ext cx="1" cy="41237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28A29ECC-3BD5-A73D-B277-1523B4E6339E}"/>
              </a:ext>
            </a:extLst>
          </p:cNvPr>
          <p:cNvCxnSpPr>
            <a:cxnSpLocks/>
            <a:stCxn id="52" idx="2"/>
            <a:endCxn id="47" idx="0"/>
          </p:cNvCxnSpPr>
          <p:nvPr/>
        </p:nvCxnSpPr>
        <p:spPr>
          <a:xfrm rot="5400000" flipH="1" flipV="1">
            <a:off x="3461779" y="3579582"/>
            <a:ext cx="2658888" cy="1"/>
          </a:xfrm>
          <a:prstGeom prst="bentConnector5">
            <a:avLst>
              <a:gd name="adj1" fmla="val -8598"/>
              <a:gd name="adj2" fmla="val 97736400000"/>
              <a:gd name="adj3" fmla="val 108598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A4C7AC5-4066-D73A-8468-CA3401991693}"/>
              </a:ext>
            </a:extLst>
          </p:cNvPr>
          <p:cNvSpPr txBox="1"/>
          <p:nvPr/>
        </p:nvSpPr>
        <p:spPr>
          <a:xfrm>
            <a:off x="8608298" y="2250138"/>
            <a:ext cx="1497526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状況認識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AF6DFCE-C77B-7009-282D-810AF35F6B3F}"/>
              </a:ext>
            </a:extLst>
          </p:cNvPr>
          <p:cNvSpPr txBox="1"/>
          <p:nvPr/>
        </p:nvSpPr>
        <p:spPr>
          <a:xfrm>
            <a:off x="8608298" y="2976278"/>
            <a:ext cx="1497526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仮説生成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92285E8-842F-12D5-55D0-78F2DAF18A83}"/>
              </a:ext>
            </a:extLst>
          </p:cNvPr>
          <p:cNvSpPr txBox="1"/>
          <p:nvPr/>
        </p:nvSpPr>
        <p:spPr>
          <a:xfrm>
            <a:off x="8625312" y="3757986"/>
            <a:ext cx="1463498" cy="369332"/>
          </a:xfrm>
          <a:prstGeom prst="rect">
            <a:avLst/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54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</a:gra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判断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決定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C044840D-60D9-EB07-85DB-B453EAA9F2E7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9357061" y="2619470"/>
            <a:ext cx="0" cy="356808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0162E43D-FE1C-BFA5-7AFE-B9D1AAB057E4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9357061" y="3345610"/>
            <a:ext cx="0" cy="41237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1A636865-B4FA-0435-6BAF-7BF987C130FF}"/>
              </a:ext>
            </a:extLst>
          </p:cNvPr>
          <p:cNvSpPr txBox="1"/>
          <p:nvPr/>
        </p:nvSpPr>
        <p:spPr>
          <a:xfrm>
            <a:off x="8625310" y="4539694"/>
            <a:ext cx="1463500" cy="369332"/>
          </a:xfrm>
          <a:prstGeom prst="rect">
            <a:avLst/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54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</a:gra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実行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D730B843-4196-FBAF-C9A1-58FA2C7C5622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flipH="1">
            <a:off x="9357060" y="4127318"/>
            <a:ext cx="1" cy="412376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A55CD424-2FC1-AE85-22F0-5CB2FC92C3BC}"/>
              </a:ext>
            </a:extLst>
          </p:cNvPr>
          <p:cNvCxnSpPr>
            <a:cxnSpLocks/>
            <a:stCxn id="60" idx="2"/>
            <a:endCxn id="55" idx="0"/>
          </p:cNvCxnSpPr>
          <p:nvPr/>
        </p:nvCxnSpPr>
        <p:spPr>
          <a:xfrm rot="5400000" flipH="1" flipV="1">
            <a:off x="8027616" y="3579581"/>
            <a:ext cx="2658888" cy="1"/>
          </a:xfrm>
          <a:prstGeom prst="bentConnector5">
            <a:avLst>
              <a:gd name="adj1" fmla="val -8598"/>
              <a:gd name="adj2" fmla="val 97736400000"/>
              <a:gd name="adj3" fmla="val 108598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CA420B36-9916-F5BC-C85E-CB3B228E9A87}"/>
              </a:ext>
            </a:extLst>
          </p:cNvPr>
          <p:cNvCxnSpPr>
            <a:cxnSpLocks/>
          </p:cNvCxnSpPr>
          <p:nvPr/>
        </p:nvCxnSpPr>
        <p:spPr>
          <a:xfrm>
            <a:off x="3146610" y="1048870"/>
            <a:ext cx="0" cy="447787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172088D6-6789-C6C7-35E6-965F328A8F51}"/>
              </a:ext>
            </a:extLst>
          </p:cNvPr>
          <p:cNvSpPr txBox="1"/>
          <p:nvPr/>
        </p:nvSpPr>
        <p:spPr>
          <a:xfrm>
            <a:off x="10170018" y="4127318"/>
            <a:ext cx="1620957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重要判断はヒト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8C52695-F204-FC2F-5933-24E46EAE2BD1}"/>
              </a:ext>
            </a:extLst>
          </p:cNvPr>
          <p:cNvSpPr txBox="1"/>
          <p:nvPr/>
        </p:nvSpPr>
        <p:spPr>
          <a:xfrm>
            <a:off x="3293698" y="1984149"/>
            <a:ext cx="91723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単機能</a:t>
            </a:r>
            <a:r>
              <a:rPr lang="en-US" altLang="ja-JP" sz="14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endParaRPr lang="ja-JP" altLang="en-US" sz="1400" dirty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300A706B-6C17-4804-C9C5-8B228B5DAAF5}"/>
              </a:ext>
            </a:extLst>
          </p:cNvPr>
          <p:cNvSpPr txBox="1"/>
          <p:nvPr/>
        </p:nvSpPr>
        <p:spPr>
          <a:xfrm>
            <a:off x="3293698" y="3480987"/>
            <a:ext cx="91723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単機能</a:t>
            </a:r>
            <a:r>
              <a:rPr lang="en-US" altLang="ja-JP" sz="14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endParaRPr lang="ja-JP" altLang="en-US" sz="1400" dirty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049AEA8-98F3-6F6A-377C-1743AAE3EC9F}"/>
              </a:ext>
            </a:extLst>
          </p:cNvPr>
          <p:cNvSpPr txBox="1"/>
          <p:nvPr/>
        </p:nvSpPr>
        <p:spPr>
          <a:xfrm>
            <a:off x="7679202" y="1931849"/>
            <a:ext cx="109677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全体機能</a:t>
            </a:r>
            <a:r>
              <a:rPr lang="en-US" altLang="ja-JP" sz="14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endParaRPr lang="ja-JP" altLang="en-US" sz="1400" dirty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矢印: 下 81">
            <a:extLst>
              <a:ext uri="{FF2B5EF4-FFF2-40B4-BE49-F238E27FC236}">
                <a16:creationId xmlns:a16="http://schemas.microsoft.com/office/drawing/2014/main" id="{347744C5-70E3-7819-9A9C-98E924401579}"/>
              </a:ext>
            </a:extLst>
          </p:cNvPr>
          <p:cNvSpPr/>
          <p:nvPr/>
        </p:nvSpPr>
        <p:spPr>
          <a:xfrm>
            <a:off x="8073948" y="2291925"/>
            <a:ext cx="307284" cy="265888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D39E8C50-E331-685F-5ED9-AF892F408237}"/>
              </a:ext>
            </a:extLst>
          </p:cNvPr>
          <p:cNvGrpSpPr/>
          <p:nvPr/>
        </p:nvGrpSpPr>
        <p:grpSpPr>
          <a:xfrm>
            <a:off x="805283" y="5458618"/>
            <a:ext cx="9575845" cy="681257"/>
            <a:chOff x="878541" y="681318"/>
            <a:chExt cx="10408024" cy="1264023"/>
          </a:xfrm>
        </p:grpSpPr>
        <p:cxnSp>
          <p:nvCxnSpPr>
            <p:cNvPr id="84" name="直線矢印コネクタ 83">
              <a:extLst>
                <a:ext uri="{FF2B5EF4-FFF2-40B4-BE49-F238E27FC236}">
                  <a16:creationId xmlns:a16="http://schemas.microsoft.com/office/drawing/2014/main" id="{912118C7-BCD3-AA60-07F2-26B7243C8F33}"/>
                </a:ext>
              </a:extLst>
            </p:cNvPr>
            <p:cNvCxnSpPr/>
            <p:nvPr/>
          </p:nvCxnSpPr>
          <p:spPr>
            <a:xfrm>
              <a:off x="878541" y="1945341"/>
              <a:ext cx="10408024" cy="0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矢印コネクタ 84">
              <a:extLst>
                <a:ext uri="{FF2B5EF4-FFF2-40B4-BE49-F238E27FC236}">
                  <a16:creationId xmlns:a16="http://schemas.microsoft.com/office/drawing/2014/main" id="{377766B9-629B-D7A8-FEDA-5CF531D8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8541" y="681318"/>
              <a:ext cx="0" cy="1264023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14AFE603-6E07-526C-FD1F-CAE284B79246}"/>
              </a:ext>
            </a:extLst>
          </p:cNvPr>
          <p:cNvSpPr/>
          <p:nvPr/>
        </p:nvSpPr>
        <p:spPr>
          <a:xfrm>
            <a:off x="1076057" y="5356398"/>
            <a:ext cx="8838906" cy="699247"/>
          </a:xfrm>
          <a:custGeom>
            <a:avLst/>
            <a:gdLst>
              <a:gd name="connsiteX0" fmla="*/ 0 w 9897035"/>
              <a:gd name="connsiteY0" fmla="*/ 699247 h 699247"/>
              <a:gd name="connsiteX1" fmla="*/ 4168588 w 9897035"/>
              <a:gd name="connsiteY1" fmla="*/ 636494 h 699247"/>
              <a:gd name="connsiteX2" fmla="*/ 9897035 w 9897035"/>
              <a:gd name="connsiteY2" fmla="*/ 0 h 699247"/>
              <a:gd name="connsiteX0" fmla="*/ 0 w 9897035"/>
              <a:gd name="connsiteY0" fmla="*/ 699247 h 699247"/>
              <a:gd name="connsiteX1" fmla="*/ 5674658 w 9897035"/>
              <a:gd name="connsiteY1" fmla="*/ 546847 h 699247"/>
              <a:gd name="connsiteX2" fmla="*/ 9897035 w 9897035"/>
              <a:gd name="connsiteY2" fmla="*/ 0 h 699247"/>
              <a:gd name="connsiteX0" fmla="*/ 0 w 9897035"/>
              <a:gd name="connsiteY0" fmla="*/ 699247 h 699247"/>
              <a:gd name="connsiteX1" fmla="*/ 5909294 w 9897035"/>
              <a:gd name="connsiteY1" fmla="*/ 508747 h 699247"/>
              <a:gd name="connsiteX2" fmla="*/ 9897035 w 9897035"/>
              <a:gd name="connsiteY2" fmla="*/ 0 h 69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97035" h="699247">
                <a:moveTo>
                  <a:pt x="0" y="699247"/>
                </a:moveTo>
                <a:cubicBezTo>
                  <a:pt x="1389529" y="678329"/>
                  <a:pt x="4519765" y="529665"/>
                  <a:pt x="5909294" y="508747"/>
                </a:cubicBezTo>
                <a:cubicBezTo>
                  <a:pt x="7558800" y="392206"/>
                  <a:pt x="7857564" y="259976"/>
                  <a:pt x="9897035" y="0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ACC4A5CB-136C-EE5F-1DAD-0D7C6327BFA3}"/>
              </a:ext>
            </a:extLst>
          </p:cNvPr>
          <p:cNvSpPr txBox="1"/>
          <p:nvPr/>
        </p:nvSpPr>
        <p:spPr>
          <a:xfrm rot="16200000">
            <a:off x="-115800" y="5645357"/>
            <a:ext cx="1271502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生産性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(QCD)</a:t>
            </a:r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67C20DA-4C50-19EF-FDC3-7DF5FFB6CCBD}"/>
              </a:ext>
            </a:extLst>
          </p:cNvPr>
          <p:cNvSpPr txBox="1"/>
          <p:nvPr/>
        </p:nvSpPr>
        <p:spPr>
          <a:xfrm>
            <a:off x="9486605" y="5506859"/>
            <a:ext cx="223651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エンジニア業務効率化</a:t>
            </a:r>
            <a:endParaRPr lang="en-US" altLang="ja-JP" sz="1600" dirty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の超速進歩を作る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4DF4E57E-8D59-F3CE-E9FA-FEC9977DF60D}"/>
              </a:ext>
            </a:extLst>
          </p:cNvPr>
          <p:cNvSpPr txBox="1"/>
          <p:nvPr/>
        </p:nvSpPr>
        <p:spPr>
          <a:xfrm>
            <a:off x="519951" y="624794"/>
            <a:ext cx="6794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“CT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＊＊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＊＊＊＊＊＊＊＊開発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 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で実現する業務プロセスの進化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1F9F4BF4-D0CE-1EC5-93CD-208F842035C2}"/>
              </a:ext>
            </a:extLst>
          </p:cNvPr>
          <p:cNvSpPr/>
          <p:nvPr/>
        </p:nvSpPr>
        <p:spPr>
          <a:xfrm>
            <a:off x="0" y="6464457"/>
            <a:ext cx="12191995" cy="393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C5F54A1D-16D9-3E58-E8CB-B64D05633067}"/>
              </a:ext>
            </a:extLst>
          </p:cNvPr>
          <p:cNvSpPr txBox="1"/>
          <p:nvPr/>
        </p:nvSpPr>
        <p:spPr>
          <a:xfrm>
            <a:off x="10980496" y="197226"/>
            <a:ext cx="35779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855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4E14-DDEC-8D6B-5265-75C833AE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2169BCC4-9B48-6531-BDF4-406CF9742C09}"/>
              </a:ext>
            </a:extLst>
          </p:cNvPr>
          <p:cNvSpPr/>
          <p:nvPr/>
        </p:nvSpPr>
        <p:spPr>
          <a:xfrm>
            <a:off x="4772025" y="1676400"/>
            <a:ext cx="6972300" cy="4400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782F9C-1C6A-1AC7-6E0E-854C4AFD488A}"/>
              </a:ext>
            </a:extLst>
          </p:cNvPr>
          <p:cNvSpPr txBox="1"/>
          <p:nvPr/>
        </p:nvSpPr>
        <p:spPr>
          <a:xfrm>
            <a:off x="349623" y="197226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</a:t>
            </a:r>
            <a:r>
              <a:rPr kumimoji="1" lang="en-US" altLang="ja-JP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O</a:t>
            </a:r>
            <a:r>
              <a:rPr kumimoji="1" lang="ja-JP" altLang="en-US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＊＊＊＊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01E469E6-BB55-4578-A4D4-B03C7A145D9A}"/>
              </a:ext>
            </a:extLst>
          </p:cNvPr>
          <p:cNvSpPr txBox="1"/>
          <p:nvPr/>
        </p:nvSpPr>
        <p:spPr>
          <a:xfrm>
            <a:off x="519951" y="624794"/>
            <a:ext cx="1105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＊＊＊＊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開発の実務適用選定。特に＊＊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技術部の＊＊＊＊＊解析業務に適し、利益貢献が大きいと決定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2450C4-A38F-58C6-5FF5-837A0FD0D7AA}"/>
              </a:ext>
            </a:extLst>
          </p:cNvPr>
          <p:cNvSpPr txBox="1"/>
          <p:nvPr/>
        </p:nvSpPr>
        <p:spPr>
          <a:xfrm>
            <a:off x="519951" y="1209454"/>
            <a:ext cx="3474028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＊＊＊＊化の貢献が高い業務</a:t>
            </a:r>
            <a:endParaRPr kumimoji="1"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44A57CF-4264-5066-0A23-1689CF7B9044}"/>
              </a:ext>
            </a:extLst>
          </p:cNvPr>
          <p:cNvSpPr txBox="1"/>
          <p:nvPr/>
        </p:nvSpPr>
        <p:spPr>
          <a:xfrm>
            <a:off x="4781549" y="1209454"/>
            <a:ext cx="3185487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＊＊＊＊＊解析の現状の課題</a:t>
            </a:r>
            <a:endParaRPr kumimoji="1" lang="en-US" altLang="ja-JP" b="1" dirty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15DBABC-A100-378B-9272-84D62FBD4A44}"/>
              </a:ext>
            </a:extLst>
          </p:cNvPr>
          <p:cNvSpPr txBox="1"/>
          <p:nvPr/>
        </p:nvSpPr>
        <p:spPr>
          <a:xfrm>
            <a:off x="796165" y="1870314"/>
            <a:ext cx="301383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①判断に情報統合が必要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1798FDC-1538-CFB6-1C00-B4D72528379C}"/>
              </a:ext>
            </a:extLst>
          </p:cNvPr>
          <p:cNvSpPr txBox="1"/>
          <p:nvPr/>
        </p:nvSpPr>
        <p:spPr>
          <a:xfrm>
            <a:off x="796166" y="2886957"/>
            <a:ext cx="301383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②サイクルに時間がかかる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262D964-8C44-FFFE-5361-B3BF1437FF15}"/>
              </a:ext>
            </a:extLst>
          </p:cNvPr>
          <p:cNvSpPr txBox="1"/>
          <p:nvPr/>
        </p:nvSpPr>
        <p:spPr>
          <a:xfrm>
            <a:off x="796164" y="3903600"/>
            <a:ext cx="301383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③情報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ナレッジ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が分散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50B44E-A7CA-ED41-2E14-9EAB458648E4}"/>
              </a:ext>
            </a:extLst>
          </p:cNvPr>
          <p:cNvSpPr txBox="1"/>
          <p:nvPr/>
        </p:nvSpPr>
        <p:spPr>
          <a:xfrm>
            <a:off x="796162" y="4920243"/>
            <a:ext cx="301383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④俗人化されている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3A1D091-C28E-4B4F-F21E-2C025D862EF8}"/>
              </a:ext>
            </a:extLst>
          </p:cNvPr>
          <p:cNvSpPr txBox="1"/>
          <p:nvPr/>
        </p:nvSpPr>
        <p:spPr>
          <a:xfrm>
            <a:off x="4991100" y="1870314"/>
            <a:ext cx="386114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A.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重複解析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63C7A2-7F16-C579-BA81-B548EC7DD29A}"/>
              </a:ext>
            </a:extLst>
          </p:cNvPr>
          <p:cNvSpPr txBox="1"/>
          <p:nvPr/>
        </p:nvSpPr>
        <p:spPr>
          <a:xfrm>
            <a:off x="4991099" y="2886957"/>
            <a:ext cx="386114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B.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解析の長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TAT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化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D9C7EC6-A292-DB7C-38B3-CD1EC471A6D7}"/>
              </a:ext>
            </a:extLst>
          </p:cNvPr>
          <p:cNvSpPr txBox="1"/>
          <p:nvPr/>
        </p:nvSpPr>
        <p:spPr>
          <a:xfrm>
            <a:off x="4991099" y="3903600"/>
            <a:ext cx="386115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C.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判明率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解析精度の低下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0A3C456-6C98-E668-EEBE-737B0A1ADE99}"/>
              </a:ext>
            </a:extLst>
          </p:cNvPr>
          <p:cNvSpPr txBox="1"/>
          <p:nvPr/>
        </p:nvSpPr>
        <p:spPr>
          <a:xfrm>
            <a:off x="4991100" y="4920243"/>
            <a:ext cx="386115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D.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解析結果のブラックボックス化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66C033F-C76F-7465-25CE-76B705C073F1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 flipV="1">
            <a:off x="3809998" y="2054980"/>
            <a:ext cx="1181102" cy="203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31FAC05-6019-25B6-6C9D-D1CF21AFC0C5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3809999" y="2054980"/>
            <a:ext cx="1181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6E235C6D-DF18-2A40-7004-39EA1202893C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3810000" y="3071623"/>
            <a:ext cx="11810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EEF428D-9D1C-CD02-FDF9-7FAEE388BDA0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3810000" y="2054980"/>
            <a:ext cx="1181100" cy="1016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C76B3D8-1DF6-2D6F-85D8-84CB9D5A8BCC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3809999" y="2054980"/>
            <a:ext cx="1181100" cy="203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77B14E6B-D725-6905-4A67-0A263024A46E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3809996" y="4088266"/>
            <a:ext cx="1181103" cy="1016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91E87556-500E-C062-81BD-5E19DDCF508E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3809996" y="5104909"/>
            <a:ext cx="1181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930A9079-EB2A-C53E-E1B2-A36877F22A9C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3809998" y="4088266"/>
            <a:ext cx="1181102" cy="1016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9F4F6F30-4D5F-6A78-B936-903E2566B414}"/>
              </a:ext>
            </a:extLst>
          </p:cNvPr>
          <p:cNvSpPr txBox="1"/>
          <p:nvPr/>
        </p:nvSpPr>
        <p:spPr>
          <a:xfrm>
            <a:off x="3275348" y="2394024"/>
            <a:ext cx="2031325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課題解決のポイント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B40ED8B2-77C2-DBFF-A45C-08E7EA020CC7}"/>
              </a:ext>
            </a:extLst>
          </p:cNvPr>
          <p:cNvSpPr txBox="1"/>
          <p:nvPr/>
        </p:nvSpPr>
        <p:spPr>
          <a:xfrm>
            <a:off x="4781549" y="5645312"/>
            <a:ext cx="6742551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過去の解析資料をライブラリ化</a:t>
            </a:r>
            <a:r>
              <a:rPr lang="en-US" altLang="ja-JP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(AI</a:t>
            </a:r>
            <a:r>
              <a:rPr lang="ja-JP" altLang="en-US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化？</a:t>
            </a:r>
            <a:r>
              <a:rPr lang="en-US" altLang="ja-JP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し検索可能にする➡＊＊＊設定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53C2C76A-10A7-5965-FD6A-C64D71BCBB39}"/>
              </a:ext>
            </a:extLst>
          </p:cNvPr>
          <p:cNvSpPr/>
          <p:nvPr/>
        </p:nvSpPr>
        <p:spPr>
          <a:xfrm>
            <a:off x="0" y="6464457"/>
            <a:ext cx="12191995" cy="393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3CA4196A-AC33-0B69-E3EB-C31093D85726}"/>
              </a:ext>
            </a:extLst>
          </p:cNvPr>
          <p:cNvSpPr txBox="1"/>
          <p:nvPr/>
        </p:nvSpPr>
        <p:spPr>
          <a:xfrm>
            <a:off x="9326106" y="2209358"/>
            <a:ext cx="2262158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それぞれの説明書く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581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CD94-E83A-2DC4-E5E4-DCF7D53F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6D07ACB-93EB-7E86-772D-35E4C5534798}"/>
              </a:ext>
            </a:extLst>
          </p:cNvPr>
          <p:cNvSpPr/>
          <p:nvPr/>
        </p:nvSpPr>
        <p:spPr>
          <a:xfrm>
            <a:off x="1066800" y="1052362"/>
            <a:ext cx="333375" cy="613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CBC80199-BB46-16CA-096E-32ACBAC72B9C}"/>
              </a:ext>
            </a:extLst>
          </p:cNvPr>
          <p:cNvSpPr/>
          <p:nvPr/>
        </p:nvSpPr>
        <p:spPr>
          <a:xfrm rot="10800000">
            <a:off x="1757574" y="1729622"/>
            <a:ext cx="454284" cy="436233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F46F6B-F106-5412-49BF-0D7BD701FAB4}"/>
              </a:ext>
            </a:extLst>
          </p:cNvPr>
          <p:cNvSpPr txBox="1"/>
          <p:nvPr/>
        </p:nvSpPr>
        <p:spPr>
          <a:xfrm>
            <a:off x="349623" y="197226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C</a:t>
            </a:r>
            <a:r>
              <a:rPr kumimoji="1" lang="ja-JP" altLang="en-US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＊その優先順位をつける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40A6C86-1443-A8D6-C8E3-93B1DA5EBDDB}"/>
              </a:ext>
            </a:extLst>
          </p:cNvPr>
          <p:cNvSpPr txBox="1"/>
          <p:nvPr/>
        </p:nvSpPr>
        <p:spPr>
          <a:xfrm>
            <a:off x="519951" y="624794"/>
            <a:ext cx="8618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エージェント構築のための要素を分解、モデルレイヤー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データレイヤーが重要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2D0DBE-243C-C118-497F-FC4A16CC3F54}"/>
              </a:ext>
            </a:extLst>
          </p:cNvPr>
          <p:cNvSpPr txBox="1"/>
          <p:nvPr/>
        </p:nvSpPr>
        <p:spPr>
          <a:xfrm>
            <a:off x="349623" y="1296814"/>
            <a:ext cx="34355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エージェントを構成する要素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B941D81-01E0-C081-1733-E10BA4ED17AE}"/>
              </a:ext>
            </a:extLst>
          </p:cNvPr>
          <p:cNvSpPr txBox="1"/>
          <p:nvPr/>
        </p:nvSpPr>
        <p:spPr>
          <a:xfrm>
            <a:off x="1609102" y="2027919"/>
            <a:ext cx="24199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ユーザーインターフェース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989203-15F2-04A0-B0BA-60944950D944}"/>
              </a:ext>
            </a:extLst>
          </p:cNvPr>
          <p:cNvSpPr txBox="1"/>
          <p:nvPr/>
        </p:nvSpPr>
        <p:spPr>
          <a:xfrm>
            <a:off x="1609102" y="2603214"/>
            <a:ext cx="24199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エージェントオーケストレーション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90E8EA-F4D6-C54E-36B1-541704C935EF}"/>
              </a:ext>
            </a:extLst>
          </p:cNvPr>
          <p:cNvSpPr txBox="1"/>
          <p:nvPr/>
        </p:nvSpPr>
        <p:spPr>
          <a:xfrm>
            <a:off x="1626116" y="3345267"/>
            <a:ext cx="2364985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モデルレイヤー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783C46-A191-ABD9-48C5-639ADDA2C618}"/>
              </a:ext>
            </a:extLst>
          </p:cNvPr>
          <p:cNvSpPr txBox="1"/>
          <p:nvPr/>
        </p:nvSpPr>
        <p:spPr>
          <a:xfrm>
            <a:off x="1626115" y="4126975"/>
            <a:ext cx="23649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データレイヤー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E271A94-835B-1BF7-6B80-0CF8EB877FBC}"/>
              </a:ext>
            </a:extLst>
          </p:cNvPr>
          <p:cNvSpPr txBox="1"/>
          <p:nvPr/>
        </p:nvSpPr>
        <p:spPr>
          <a:xfrm>
            <a:off x="1626115" y="5613533"/>
            <a:ext cx="2364988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基盤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 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*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ある種買い物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B654E463-FA4E-554C-5F93-3F0542726A54}"/>
              </a:ext>
            </a:extLst>
          </p:cNvPr>
          <p:cNvCxnSpPr>
            <a:cxnSpLocks/>
            <a:stCxn id="6" idx="1"/>
            <a:endCxn id="13" idx="2"/>
          </p:cNvCxnSpPr>
          <p:nvPr/>
        </p:nvCxnSpPr>
        <p:spPr>
          <a:xfrm rot="10800000">
            <a:off x="1233488" y="1666146"/>
            <a:ext cx="375614" cy="49257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897D1B2F-D89E-A46E-5317-AE137CA13B60}"/>
              </a:ext>
            </a:extLst>
          </p:cNvPr>
          <p:cNvCxnSpPr>
            <a:cxnSpLocks/>
            <a:stCxn id="7" idx="1"/>
            <a:endCxn id="13" idx="2"/>
          </p:cNvCxnSpPr>
          <p:nvPr/>
        </p:nvCxnSpPr>
        <p:spPr>
          <a:xfrm rot="10800000">
            <a:off x="1233488" y="1666147"/>
            <a:ext cx="375614" cy="1067873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8299FE99-7DA0-8200-320F-809F0A1A0D53}"/>
              </a:ext>
            </a:extLst>
          </p:cNvPr>
          <p:cNvCxnSpPr>
            <a:cxnSpLocks/>
            <a:stCxn id="8" idx="1"/>
            <a:endCxn id="13" idx="2"/>
          </p:cNvCxnSpPr>
          <p:nvPr/>
        </p:nvCxnSpPr>
        <p:spPr>
          <a:xfrm rot="10800000">
            <a:off x="1233488" y="1666146"/>
            <a:ext cx="392628" cy="184839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5824D399-9498-246F-21FC-B0CBABEBFD8A}"/>
              </a:ext>
            </a:extLst>
          </p:cNvPr>
          <p:cNvCxnSpPr>
            <a:cxnSpLocks/>
            <a:stCxn id="9" idx="1"/>
            <a:endCxn id="13" idx="2"/>
          </p:cNvCxnSpPr>
          <p:nvPr/>
        </p:nvCxnSpPr>
        <p:spPr>
          <a:xfrm rot="10800000">
            <a:off x="1233489" y="1666146"/>
            <a:ext cx="392627" cy="2630106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2BA5C1C7-939F-F96A-1C0A-29F0CBD94A0C}"/>
              </a:ext>
            </a:extLst>
          </p:cNvPr>
          <p:cNvCxnSpPr>
            <a:cxnSpLocks/>
            <a:stCxn id="10" idx="1"/>
            <a:endCxn id="13" idx="2"/>
          </p:cNvCxnSpPr>
          <p:nvPr/>
        </p:nvCxnSpPr>
        <p:spPr>
          <a:xfrm rot="10800000">
            <a:off x="1233489" y="1666146"/>
            <a:ext cx="392627" cy="4078192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25221C4-F610-0C95-66AA-EC65348BE30D}"/>
              </a:ext>
            </a:extLst>
          </p:cNvPr>
          <p:cNvSpPr txBox="1"/>
          <p:nvPr/>
        </p:nvSpPr>
        <p:spPr>
          <a:xfrm>
            <a:off x="4312138" y="4126975"/>
            <a:ext cx="18695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ベクトル化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24E7717-F205-4D0E-D5F9-A69A8F7C0786}"/>
              </a:ext>
            </a:extLst>
          </p:cNvPr>
          <p:cNvSpPr/>
          <p:nvPr/>
        </p:nvSpPr>
        <p:spPr>
          <a:xfrm>
            <a:off x="0" y="6464457"/>
            <a:ext cx="12191995" cy="393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15998A2-4BFB-C6B8-F764-BBED94BBCBDB}"/>
              </a:ext>
            </a:extLst>
          </p:cNvPr>
          <p:cNvSpPr txBox="1"/>
          <p:nvPr/>
        </p:nvSpPr>
        <p:spPr>
          <a:xfrm>
            <a:off x="4312138" y="4786387"/>
            <a:ext cx="18695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ナレッジグラフ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3D5970DC-76B2-47BD-DD23-0F4797E4AE83}"/>
              </a:ext>
            </a:extLst>
          </p:cNvPr>
          <p:cNvCxnSpPr>
            <a:cxnSpLocks/>
            <a:stCxn id="48" idx="1"/>
            <a:endCxn id="9" idx="3"/>
          </p:cNvCxnSpPr>
          <p:nvPr/>
        </p:nvCxnSpPr>
        <p:spPr>
          <a:xfrm rot="10800000">
            <a:off x="3991104" y="4296252"/>
            <a:ext cx="321035" cy="6594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9388D7EF-25C5-0E01-48B0-F1935E14098A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>
            <a:off x="3991103" y="4296252"/>
            <a:ext cx="321035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86E2AA3-ACC9-5B79-DCE2-B43A01B2FBE2}"/>
              </a:ext>
            </a:extLst>
          </p:cNvPr>
          <p:cNvSpPr txBox="1"/>
          <p:nvPr/>
        </p:nvSpPr>
        <p:spPr>
          <a:xfrm>
            <a:off x="1609102" y="6028065"/>
            <a:ext cx="748923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algn="r"/>
            <a:r>
              <a:rPr lang="ja-JP" altLang="en-US" sz="11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構築順序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60D3E6CE-8BF8-FD73-8068-8388B895F1A7}"/>
              </a:ext>
            </a:extLst>
          </p:cNvPr>
          <p:cNvSpPr txBox="1"/>
          <p:nvPr/>
        </p:nvSpPr>
        <p:spPr>
          <a:xfrm>
            <a:off x="6887706" y="1288703"/>
            <a:ext cx="1338828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言葉の説明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46995D4-4FEB-9782-73BF-A97B29F25027}"/>
              </a:ext>
            </a:extLst>
          </p:cNvPr>
          <p:cNvSpPr txBox="1"/>
          <p:nvPr/>
        </p:nvSpPr>
        <p:spPr>
          <a:xfrm>
            <a:off x="4064672" y="2943228"/>
            <a:ext cx="2031325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優先絞り込み</a:t>
            </a:r>
            <a:r>
              <a:rPr lang="en-US" altLang="ja-JP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#1</a:t>
            </a:r>
          </a:p>
          <a:p>
            <a:r>
              <a:rPr lang="ja-JP" altLang="en-US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・構築のベースから</a:t>
            </a:r>
          </a:p>
        </p:txBody>
      </p:sp>
    </p:spTree>
    <p:extLst>
      <p:ext uri="{BB962C8B-B14F-4D97-AF65-F5344CB8AC3E}">
        <p14:creationId xmlns:p14="http://schemas.microsoft.com/office/powerpoint/2010/main" val="69718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0A9F9-B6EE-AAAA-0261-A0513DDB2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80FCB051-11AF-369A-AA13-76CA74113F1E}"/>
              </a:ext>
            </a:extLst>
          </p:cNvPr>
          <p:cNvSpPr txBox="1"/>
          <p:nvPr/>
        </p:nvSpPr>
        <p:spPr>
          <a:xfrm>
            <a:off x="519951" y="624794"/>
            <a:ext cx="11427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社内のデータ利用には主に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つの方法あり、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RAG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活用が開発事情に合い且つデータレイヤーへの対応で完了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248B0A-70A2-2E37-5ED0-AF8CE25DC808}"/>
              </a:ext>
            </a:extLst>
          </p:cNvPr>
          <p:cNvSpPr/>
          <p:nvPr/>
        </p:nvSpPr>
        <p:spPr>
          <a:xfrm>
            <a:off x="1066800" y="1052362"/>
            <a:ext cx="333375" cy="613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948E9B4D-F6A9-B59E-337E-7FA6D4B3C52D}"/>
              </a:ext>
            </a:extLst>
          </p:cNvPr>
          <p:cNvSpPr/>
          <p:nvPr/>
        </p:nvSpPr>
        <p:spPr>
          <a:xfrm rot="10800000">
            <a:off x="1757574" y="1729622"/>
            <a:ext cx="454284" cy="436233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FCC4AB-5411-A00F-625B-503882F32C58}"/>
              </a:ext>
            </a:extLst>
          </p:cNvPr>
          <p:cNvSpPr txBox="1"/>
          <p:nvPr/>
        </p:nvSpPr>
        <p:spPr>
          <a:xfrm>
            <a:off x="349623" y="1296814"/>
            <a:ext cx="34355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エージェントを構成する要素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8DB3913-AB86-9537-0D65-CDDCD1C426D8}"/>
              </a:ext>
            </a:extLst>
          </p:cNvPr>
          <p:cNvSpPr txBox="1"/>
          <p:nvPr/>
        </p:nvSpPr>
        <p:spPr>
          <a:xfrm>
            <a:off x="1609102" y="2027919"/>
            <a:ext cx="24199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ユーザーインターフェース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A39E04-23A5-FCB7-C2BB-C1CEFB7B8D44}"/>
              </a:ext>
            </a:extLst>
          </p:cNvPr>
          <p:cNvSpPr txBox="1"/>
          <p:nvPr/>
        </p:nvSpPr>
        <p:spPr>
          <a:xfrm>
            <a:off x="1609102" y="2603214"/>
            <a:ext cx="24199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エージェントオーケストレーション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7099207-15AB-1D65-B98E-BC736306856E}"/>
              </a:ext>
            </a:extLst>
          </p:cNvPr>
          <p:cNvSpPr txBox="1"/>
          <p:nvPr/>
        </p:nvSpPr>
        <p:spPr>
          <a:xfrm>
            <a:off x="1626116" y="3345267"/>
            <a:ext cx="236498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モデルレイヤー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E634536-4366-456E-65B7-66B3A1DC2001}"/>
              </a:ext>
            </a:extLst>
          </p:cNvPr>
          <p:cNvSpPr txBox="1"/>
          <p:nvPr/>
        </p:nvSpPr>
        <p:spPr>
          <a:xfrm>
            <a:off x="1626115" y="4126975"/>
            <a:ext cx="23649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データレイヤー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85DA8B8-46A0-A1C0-FEA7-1133C64CE5C9}"/>
              </a:ext>
            </a:extLst>
          </p:cNvPr>
          <p:cNvSpPr txBox="1"/>
          <p:nvPr/>
        </p:nvSpPr>
        <p:spPr>
          <a:xfrm>
            <a:off x="1626115" y="5613533"/>
            <a:ext cx="2364988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基盤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 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*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ある種買い物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23C9E07E-77BC-3F64-2FBE-62352C4DD24D}"/>
              </a:ext>
            </a:extLst>
          </p:cNvPr>
          <p:cNvCxnSpPr>
            <a:cxnSpLocks/>
            <a:stCxn id="14" idx="1"/>
            <a:endCxn id="2" idx="2"/>
          </p:cNvCxnSpPr>
          <p:nvPr/>
        </p:nvCxnSpPr>
        <p:spPr>
          <a:xfrm rot="10800000">
            <a:off x="1233488" y="1666146"/>
            <a:ext cx="375614" cy="49257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C484B341-3AA9-9A99-FED4-2EBCC709E469}"/>
              </a:ext>
            </a:extLst>
          </p:cNvPr>
          <p:cNvCxnSpPr>
            <a:cxnSpLocks/>
            <a:stCxn id="15" idx="1"/>
            <a:endCxn id="2" idx="2"/>
          </p:cNvCxnSpPr>
          <p:nvPr/>
        </p:nvCxnSpPr>
        <p:spPr>
          <a:xfrm rot="10800000">
            <a:off x="1233488" y="1666147"/>
            <a:ext cx="375614" cy="1067873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630059D5-C5BA-D8F9-E195-1093F56FFDF1}"/>
              </a:ext>
            </a:extLst>
          </p:cNvPr>
          <p:cNvCxnSpPr>
            <a:cxnSpLocks/>
            <a:stCxn id="16" idx="1"/>
            <a:endCxn id="2" idx="2"/>
          </p:cNvCxnSpPr>
          <p:nvPr/>
        </p:nvCxnSpPr>
        <p:spPr>
          <a:xfrm rot="10800000">
            <a:off x="1233488" y="1666146"/>
            <a:ext cx="392628" cy="184839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1BD7DE89-40BE-90F4-9994-A6E9D270D2F1}"/>
              </a:ext>
            </a:extLst>
          </p:cNvPr>
          <p:cNvCxnSpPr>
            <a:cxnSpLocks/>
            <a:stCxn id="17" idx="1"/>
            <a:endCxn id="2" idx="2"/>
          </p:cNvCxnSpPr>
          <p:nvPr/>
        </p:nvCxnSpPr>
        <p:spPr>
          <a:xfrm rot="10800000">
            <a:off x="1233489" y="1666146"/>
            <a:ext cx="392627" cy="2630106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AD3CE3B9-83A2-918A-33FE-17B95B396B72}"/>
              </a:ext>
            </a:extLst>
          </p:cNvPr>
          <p:cNvCxnSpPr>
            <a:cxnSpLocks/>
            <a:stCxn id="18" idx="1"/>
            <a:endCxn id="2" idx="2"/>
          </p:cNvCxnSpPr>
          <p:nvPr/>
        </p:nvCxnSpPr>
        <p:spPr>
          <a:xfrm rot="10800000">
            <a:off x="1233489" y="1666146"/>
            <a:ext cx="392627" cy="4078192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5169A50-448C-042C-CF74-44056319CDAF}"/>
              </a:ext>
            </a:extLst>
          </p:cNvPr>
          <p:cNvSpPr txBox="1"/>
          <p:nvPr/>
        </p:nvSpPr>
        <p:spPr>
          <a:xfrm>
            <a:off x="4312138" y="4126975"/>
            <a:ext cx="18695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ベクトル化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5B419A6-1880-42F7-2583-6DA9B583EF91}"/>
              </a:ext>
            </a:extLst>
          </p:cNvPr>
          <p:cNvSpPr txBox="1"/>
          <p:nvPr/>
        </p:nvSpPr>
        <p:spPr>
          <a:xfrm>
            <a:off x="4312138" y="4786387"/>
            <a:ext cx="18695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ナレッジグラフ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C524E1C-9BE5-5158-C7A8-3D32DEEC508C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rot="10800000">
            <a:off x="3991104" y="4296252"/>
            <a:ext cx="321035" cy="6594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A181ABD-21B0-8185-B7B4-4A84E378DF8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3991103" y="4296252"/>
            <a:ext cx="321035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D5FED30-5A20-7005-8DF5-32974F3621BA}"/>
              </a:ext>
            </a:extLst>
          </p:cNvPr>
          <p:cNvSpPr txBox="1"/>
          <p:nvPr/>
        </p:nvSpPr>
        <p:spPr>
          <a:xfrm>
            <a:off x="1609102" y="6028065"/>
            <a:ext cx="748923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algn="r"/>
            <a:r>
              <a:rPr lang="ja-JP" altLang="en-US" sz="11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構築順序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EDBC440-04ED-BA12-1EDC-82D32E3CABB3}"/>
              </a:ext>
            </a:extLst>
          </p:cNvPr>
          <p:cNvSpPr txBox="1"/>
          <p:nvPr/>
        </p:nvSpPr>
        <p:spPr>
          <a:xfrm>
            <a:off x="6778884" y="1297616"/>
            <a:ext cx="156966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活用方法の表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26623F0-EBF6-2B8C-D844-5B6F6A9C4FD4}"/>
              </a:ext>
            </a:extLst>
          </p:cNvPr>
          <p:cNvSpPr/>
          <p:nvPr/>
        </p:nvSpPr>
        <p:spPr>
          <a:xfrm>
            <a:off x="0" y="6464457"/>
            <a:ext cx="12191995" cy="393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F12E8DA-E16B-686F-27B1-D75E7F2F5FA0}"/>
              </a:ext>
            </a:extLst>
          </p:cNvPr>
          <p:cNvSpPr txBox="1"/>
          <p:nvPr/>
        </p:nvSpPr>
        <p:spPr>
          <a:xfrm>
            <a:off x="4122557" y="3412854"/>
            <a:ext cx="1726755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優先絞り込み</a:t>
            </a:r>
            <a:r>
              <a:rPr lang="en-US" altLang="ja-JP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#2</a:t>
            </a:r>
          </a:p>
          <a:p>
            <a:r>
              <a:rPr lang="ja-JP" altLang="en-US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・社内状況から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B7E7BCA-5B67-92B3-3ACD-ADAE79A254CB}"/>
              </a:ext>
            </a:extLst>
          </p:cNvPr>
          <p:cNvSpPr txBox="1"/>
          <p:nvPr/>
        </p:nvSpPr>
        <p:spPr>
          <a:xfrm>
            <a:off x="349623" y="197226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C</a:t>
            </a:r>
            <a:r>
              <a:rPr kumimoji="1" lang="ja-JP" altLang="en-US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＊その優先順位をつける</a:t>
            </a:r>
          </a:p>
        </p:txBody>
      </p:sp>
    </p:spTree>
    <p:extLst>
      <p:ext uri="{BB962C8B-B14F-4D97-AF65-F5344CB8AC3E}">
        <p14:creationId xmlns:p14="http://schemas.microsoft.com/office/powerpoint/2010/main" val="59682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2494-3730-E357-6CED-DE1C9F40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F1604F0B-DEE2-832D-6C25-17F86CD30B6A}"/>
              </a:ext>
            </a:extLst>
          </p:cNvPr>
          <p:cNvSpPr txBox="1"/>
          <p:nvPr/>
        </p:nvSpPr>
        <p:spPr>
          <a:xfrm>
            <a:off x="519951" y="624794"/>
            <a:ext cx="1083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CTQ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は検索機能。特にベクトル化の品質課題、現状の解析文書は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フレンドリーで無く構造化が必要。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B245216-9216-0D2E-DDED-C488193B4B2D}"/>
              </a:ext>
            </a:extLst>
          </p:cNvPr>
          <p:cNvSpPr/>
          <p:nvPr/>
        </p:nvSpPr>
        <p:spPr>
          <a:xfrm>
            <a:off x="1066800" y="1052362"/>
            <a:ext cx="333375" cy="613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6A073020-A63F-313D-D8F7-057846DB9CB0}"/>
              </a:ext>
            </a:extLst>
          </p:cNvPr>
          <p:cNvSpPr/>
          <p:nvPr/>
        </p:nvSpPr>
        <p:spPr>
          <a:xfrm rot="10800000">
            <a:off x="1757574" y="1729622"/>
            <a:ext cx="454284" cy="436233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5AA669F-A3D2-8343-AEBE-2299595AC142}"/>
              </a:ext>
            </a:extLst>
          </p:cNvPr>
          <p:cNvSpPr txBox="1"/>
          <p:nvPr/>
        </p:nvSpPr>
        <p:spPr>
          <a:xfrm>
            <a:off x="349623" y="1296814"/>
            <a:ext cx="343555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エージェントを構成する要素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3996E8-C5DE-4850-3421-3003D12C42AA}"/>
              </a:ext>
            </a:extLst>
          </p:cNvPr>
          <p:cNvSpPr txBox="1"/>
          <p:nvPr/>
        </p:nvSpPr>
        <p:spPr>
          <a:xfrm>
            <a:off x="1609102" y="2027919"/>
            <a:ext cx="24199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ユーザーインターフェース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C4A9860-C6E0-C320-BDBB-D062FF3D99F4}"/>
              </a:ext>
            </a:extLst>
          </p:cNvPr>
          <p:cNvSpPr txBox="1"/>
          <p:nvPr/>
        </p:nvSpPr>
        <p:spPr>
          <a:xfrm>
            <a:off x="1609102" y="2603214"/>
            <a:ext cx="241997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エージェントオーケストレーション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D7C6D4F-2412-A262-9ACF-61A420DF593F}"/>
              </a:ext>
            </a:extLst>
          </p:cNvPr>
          <p:cNvSpPr txBox="1"/>
          <p:nvPr/>
        </p:nvSpPr>
        <p:spPr>
          <a:xfrm>
            <a:off x="1626116" y="3345267"/>
            <a:ext cx="236498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モデルレイヤー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FC692ED-BF9D-58DA-C509-3DBF46BB380F}"/>
              </a:ext>
            </a:extLst>
          </p:cNvPr>
          <p:cNvSpPr txBox="1"/>
          <p:nvPr/>
        </p:nvSpPr>
        <p:spPr>
          <a:xfrm>
            <a:off x="1626115" y="4126975"/>
            <a:ext cx="23649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データレイヤー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918BE3F-E291-0E5E-7DE3-D0861B23287F}"/>
              </a:ext>
            </a:extLst>
          </p:cNvPr>
          <p:cNvSpPr txBox="1"/>
          <p:nvPr/>
        </p:nvSpPr>
        <p:spPr>
          <a:xfrm>
            <a:off x="1626115" y="5613533"/>
            <a:ext cx="2364988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基盤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 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*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ある種買い物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1CFF21CA-BC55-E33E-37D4-080849D4F83E}"/>
              </a:ext>
            </a:extLst>
          </p:cNvPr>
          <p:cNvCxnSpPr>
            <a:cxnSpLocks/>
            <a:stCxn id="14" idx="1"/>
            <a:endCxn id="2" idx="2"/>
          </p:cNvCxnSpPr>
          <p:nvPr/>
        </p:nvCxnSpPr>
        <p:spPr>
          <a:xfrm rot="10800000">
            <a:off x="1233488" y="1666146"/>
            <a:ext cx="375614" cy="49257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32E44EC8-7DB7-091C-3CFC-EDC51829111F}"/>
              </a:ext>
            </a:extLst>
          </p:cNvPr>
          <p:cNvCxnSpPr>
            <a:cxnSpLocks/>
            <a:stCxn id="15" idx="1"/>
            <a:endCxn id="2" idx="2"/>
          </p:cNvCxnSpPr>
          <p:nvPr/>
        </p:nvCxnSpPr>
        <p:spPr>
          <a:xfrm rot="10800000">
            <a:off x="1233488" y="1666147"/>
            <a:ext cx="375614" cy="1067873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EE0F1E90-7DAF-0602-CFAB-FECA0BEA78E0}"/>
              </a:ext>
            </a:extLst>
          </p:cNvPr>
          <p:cNvCxnSpPr>
            <a:cxnSpLocks/>
            <a:stCxn id="16" idx="1"/>
            <a:endCxn id="2" idx="2"/>
          </p:cNvCxnSpPr>
          <p:nvPr/>
        </p:nvCxnSpPr>
        <p:spPr>
          <a:xfrm rot="10800000">
            <a:off x="1233488" y="1666146"/>
            <a:ext cx="392628" cy="184839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5848E6C9-7C52-84CD-FD42-88FA94B47C59}"/>
              </a:ext>
            </a:extLst>
          </p:cNvPr>
          <p:cNvCxnSpPr>
            <a:cxnSpLocks/>
            <a:stCxn id="17" idx="1"/>
            <a:endCxn id="2" idx="2"/>
          </p:cNvCxnSpPr>
          <p:nvPr/>
        </p:nvCxnSpPr>
        <p:spPr>
          <a:xfrm rot="10800000">
            <a:off x="1233489" y="1666146"/>
            <a:ext cx="392627" cy="2630106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74727180-C56C-C5E8-C4CB-17A92DF489FB}"/>
              </a:ext>
            </a:extLst>
          </p:cNvPr>
          <p:cNvCxnSpPr>
            <a:cxnSpLocks/>
            <a:stCxn id="18" idx="1"/>
            <a:endCxn id="2" idx="2"/>
          </p:cNvCxnSpPr>
          <p:nvPr/>
        </p:nvCxnSpPr>
        <p:spPr>
          <a:xfrm rot="10800000">
            <a:off x="1233489" y="1666146"/>
            <a:ext cx="392627" cy="4078192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158095E-FCB0-D20E-DC0B-694513D5844E}"/>
              </a:ext>
            </a:extLst>
          </p:cNvPr>
          <p:cNvSpPr txBox="1"/>
          <p:nvPr/>
        </p:nvSpPr>
        <p:spPr>
          <a:xfrm>
            <a:off x="4312138" y="4126975"/>
            <a:ext cx="186958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ベクトル化</a:t>
            </a:r>
            <a:endParaRPr kumimoji="1" lang="ja-JP" altLang="en-US" sz="1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656982D-3ADF-3DA3-111B-4815BBAA8588}"/>
              </a:ext>
            </a:extLst>
          </p:cNvPr>
          <p:cNvSpPr txBox="1"/>
          <p:nvPr/>
        </p:nvSpPr>
        <p:spPr>
          <a:xfrm>
            <a:off x="4312138" y="4786387"/>
            <a:ext cx="186958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ナレッジグラフ</a:t>
            </a:r>
            <a:endParaRPr kumimoji="1" lang="ja-JP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2C6C9EFA-7DD9-5071-B3D4-77B65719A963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rot="10800000">
            <a:off x="3991104" y="4296252"/>
            <a:ext cx="321035" cy="6594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58094CD-BCA0-CE32-7D06-CC0FF3AB3B3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3991103" y="4296252"/>
            <a:ext cx="321035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C1AFB6C-64F7-78C9-3B38-99C9D0879232}"/>
              </a:ext>
            </a:extLst>
          </p:cNvPr>
          <p:cNvSpPr txBox="1"/>
          <p:nvPr/>
        </p:nvSpPr>
        <p:spPr>
          <a:xfrm>
            <a:off x="1609102" y="6028065"/>
            <a:ext cx="748923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pPr algn="r"/>
            <a:r>
              <a:rPr lang="ja-JP" altLang="en-US" sz="1100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構築順序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9991B49-975B-EDD1-42CB-E25E460BF0CB}"/>
              </a:ext>
            </a:extLst>
          </p:cNvPr>
          <p:cNvSpPr txBox="1"/>
          <p:nvPr/>
        </p:nvSpPr>
        <p:spPr>
          <a:xfrm>
            <a:off x="6778884" y="1297616"/>
            <a:ext cx="341632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非構造データと構造データの図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5473CE3-6685-6D89-9043-27764924753F}"/>
              </a:ext>
            </a:extLst>
          </p:cNvPr>
          <p:cNvSpPr/>
          <p:nvPr/>
        </p:nvSpPr>
        <p:spPr>
          <a:xfrm>
            <a:off x="0" y="6464457"/>
            <a:ext cx="12191995" cy="393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3B541E-A3CC-4048-BB14-CA083F5F1CA0}"/>
              </a:ext>
            </a:extLst>
          </p:cNvPr>
          <p:cNvSpPr txBox="1"/>
          <p:nvPr/>
        </p:nvSpPr>
        <p:spPr>
          <a:xfrm>
            <a:off x="6524626" y="5972681"/>
            <a:ext cx="5105400" cy="369332"/>
          </a:xfrm>
          <a:prstGeom prst="rect">
            <a:avLst/>
          </a:prstGeom>
          <a:solidFill>
            <a:schemeClr val="accent2"/>
          </a:solidFill>
          <a:effectLst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実務課題決定：＊＊＊＊＊解析文書の構造化</a:t>
            </a:r>
            <a:endParaRPr kumimoji="1" lang="en-US" altLang="ja-JP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038FB7-95B0-7B2B-481D-4DDBE4C2CE4E}"/>
              </a:ext>
            </a:extLst>
          </p:cNvPr>
          <p:cNvSpPr txBox="1"/>
          <p:nvPr/>
        </p:nvSpPr>
        <p:spPr>
          <a:xfrm>
            <a:off x="6778884" y="1729622"/>
            <a:ext cx="3843360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As-Is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：現状の＊＊＊＊＊解析文書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非構造化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67CCBD-875F-C002-2345-3575704E34BB}"/>
              </a:ext>
            </a:extLst>
          </p:cNvPr>
          <p:cNvSpPr txBox="1"/>
          <p:nvPr/>
        </p:nvSpPr>
        <p:spPr>
          <a:xfrm>
            <a:off x="6778883" y="3944039"/>
            <a:ext cx="2364988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To-Be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：構造化データの例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9BDDF0-87FD-090B-DA06-C07C9E5F867B}"/>
              </a:ext>
            </a:extLst>
          </p:cNvPr>
          <p:cNvSpPr txBox="1"/>
          <p:nvPr/>
        </p:nvSpPr>
        <p:spPr>
          <a:xfrm>
            <a:off x="4122557" y="3412854"/>
            <a:ext cx="1726755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優先絞り込み</a:t>
            </a:r>
            <a:r>
              <a:rPr lang="en-US" altLang="ja-JP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#3</a:t>
            </a:r>
          </a:p>
          <a:p>
            <a:r>
              <a:rPr lang="ja-JP" altLang="en-US" sz="1600" b="1" dirty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・利用目的から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79DDC2-B248-29AE-53D5-71DE598801E0}"/>
              </a:ext>
            </a:extLst>
          </p:cNvPr>
          <p:cNvSpPr txBox="1"/>
          <p:nvPr/>
        </p:nvSpPr>
        <p:spPr>
          <a:xfrm>
            <a:off x="349623" y="197226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C</a:t>
            </a:r>
            <a:r>
              <a:rPr kumimoji="1" lang="ja-JP" altLang="en-US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＊その優先順位をつける</a:t>
            </a:r>
          </a:p>
        </p:txBody>
      </p:sp>
    </p:spTree>
    <p:extLst>
      <p:ext uri="{BB962C8B-B14F-4D97-AF65-F5344CB8AC3E}">
        <p14:creationId xmlns:p14="http://schemas.microsoft.com/office/powerpoint/2010/main" val="211181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65D3-ABD6-286A-B811-7696F5E2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204196E-FBCA-4036-4951-8A7FB12814BF}"/>
              </a:ext>
            </a:extLst>
          </p:cNvPr>
          <p:cNvSpPr/>
          <p:nvPr/>
        </p:nvSpPr>
        <p:spPr>
          <a:xfrm>
            <a:off x="614068" y="2934932"/>
            <a:ext cx="3894638" cy="12490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C7AD80-20A0-91F9-AD5D-D59F4691FD41}"/>
              </a:ext>
            </a:extLst>
          </p:cNvPr>
          <p:cNvSpPr txBox="1"/>
          <p:nvPr/>
        </p:nvSpPr>
        <p:spPr>
          <a:xfrm>
            <a:off x="349623" y="197226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重要＊＊＊の能力を＊＊＊目標＋＋</a:t>
            </a:r>
            <a:endParaRPr kumimoji="1" lang="ja-JP" altLang="en-US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7ACC2D3F-8C07-484D-2BE3-4ACE68E8523F}"/>
              </a:ext>
            </a:extLst>
          </p:cNvPr>
          <p:cNvSpPr txBox="1"/>
          <p:nvPr/>
        </p:nvSpPr>
        <p:spPr>
          <a:xfrm>
            <a:off x="519951" y="6247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＊＊＊＊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827ECD-EB4F-ED02-DA94-EB799F09D422}"/>
              </a:ext>
            </a:extLst>
          </p:cNvPr>
          <p:cNvSpPr txBox="1"/>
          <p:nvPr/>
        </p:nvSpPr>
        <p:spPr>
          <a:xfrm>
            <a:off x="11509551" y="197226"/>
            <a:ext cx="37702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9144AC-24D0-5968-1870-8B882291461A}"/>
              </a:ext>
            </a:extLst>
          </p:cNvPr>
          <p:cNvSpPr txBox="1"/>
          <p:nvPr/>
        </p:nvSpPr>
        <p:spPr>
          <a:xfrm>
            <a:off x="1565164" y="1643153"/>
            <a:ext cx="64633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E7FA1D1-0EA4-5075-F327-3ADDDA590F29}"/>
              </a:ext>
            </a:extLst>
          </p:cNvPr>
          <p:cNvSpPr txBox="1"/>
          <p:nvPr/>
        </p:nvSpPr>
        <p:spPr>
          <a:xfrm>
            <a:off x="724987" y="1091760"/>
            <a:ext cx="3672800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解析データ検索を想定した業務フロー</a:t>
            </a:r>
            <a:endParaRPr kumimoji="1"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D0FEA46-4820-D8BB-A52A-D9C0BD35AA3C}"/>
              </a:ext>
            </a:extLst>
          </p:cNvPr>
          <p:cNvSpPr txBox="1"/>
          <p:nvPr/>
        </p:nvSpPr>
        <p:spPr>
          <a:xfrm>
            <a:off x="1513870" y="2109442"/>
            <a:ext cx="74892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問題決定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7DF756D-EB67-FA13-39F9-9156F51C4024}"/>
              </a:ext>
            </a:extLst>
          </p:cNvPr>
          <p:cNvSpPr txBox="1"/>
          <p:nvPr/>
        </p:nvSpPr>
        <p:spPr>
          <a:xfrm>
            <a:off x="1513870" y="2588440"/>
            <a:ext cx="74892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課題設定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CB7FDFE-E3BC-0E11-933A-8B441381E0BF}"/>
              </a:ext>
            </a:extLst>
          </p:cNvPr>
          <p:cNvSpPr txBox="1"/>
          <p:nvPr/>
        </p:nvSpPr>
        <p:spPr>
          <a:xfrm>
            <a:off x="1513871" y="3096013"/>
            <a:ext cx="74892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文書検索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フローチャート: 判断 33">
            <a:extLst>
              <a:ext uri="{FF2B5EF4-FFF2-40B4-BE49-F238E27FC236}">
                <a16:creationId xmlns:a16="http://schemas.microsoft.com/office/drawing/2014/main" id="{7D46877C-8C8D-6F94-FC28-CA6400244E08}"/>
              </a:ext>
            </a:extLst>
          </p:cNvPr>
          <p:cNvSpPr/>
          <p:nvPr/>
        </p:nvSpPr>
        <p:spPr>
          <a:xfrm>
            <a:off x="1062829" y="3572741"/>
            <a:ext cx="1651000" cy="48306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必要情報か？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5A67D9B-2636-9F5A-F2DF-D2AD5AF7DBAF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1888330" y="1904763"/>
            <a:ext cx="2" cy="204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D6F96C44-58F5-CD7F-F7CA-203022DBA69E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1888332" y="2371052"/>
            <a:ext cx="0" cy="217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D3912A82-00A6-F0B4-939E-EA9273258F72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>
            <a:off x="1888332" y="2850050"/>
            <a:ext cx="1" cy="245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76FA64B-9737-2278-705F-3DDD6178569B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1888329" y="3357623"/>
            <a:ext cx="4" cy="215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7E7B24CC-CD44-BA63-85FF-84EA66A01BCB}"/>
              </a:ext>
            </a:extLst>
          </p:cNvPr>
          <p:cNvCxnSpPr>
            <a:stCxn id="34" idx="1"/>
            <a:endCxn id="32" idx="1"/>
          </p:cNvCxnSpPr>
          <p:nvPr/>
        </p:nvCxnSpPr>
        <p:spPr>
          <a:xfrm rot="10800000" flipH="1">
            <a:off x="1062829" y="3226819"/>
            <a:ext cx="451042" cy="587457"/>
          </a:xfrm>
          <a:prstGeom prst="bentConnector3">
            <a:avLst>
              <a:gd name="adj1" fmla="val -506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4801285-7281-A5DE-1379-3909A612AF63}"/>
              </a:ext>
            </a:extLst>
          </p:cNvPr>
          <p:cNvSpPr txBox="1"/>
          <p:nvPr/>
        </p:nvSpPr>
        <p:spPr>
          <a:xfrm>
            <a:off x="1513867" y="4270927"/>
            <a:ext cx="74892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資料調査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フローチャート: 判断 51">
            <a:extLst>
              <a:ext uri="{FF2B5EF4-FFF2-40B4-BE49-F238E27FC236}">
                <a16:creationId xmlns:a16="http://schemas.microsoft.com/office/drawing/2014/main" id="{1BDDC6DF-2284-A15E-AE70-8AE182FE2365}"/>
              </a:ext>
            </a:extLst>
          </p:cNvPr>
          <p:cNvSpPr/>
          <p:nvPr/>
        </p:nvSpPr>
        <p:spPr>
          <a:xfrm>
            <a:off x="1062829" y="4714090"/>
            <a:ext cx="1651000" cy="48306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追加解析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必要か？</a:t>
            </a:r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5D2E2145-FF2F-B5DF-C37E-337AC05B4FD7}"/>
              </a:ext>
            </a:extLst>
          </p:cNvPr>
          <p:cNvSpPr txBox="1"/>
          <p:nvPr/>
        </p:nvSpPr>
        <p:spPr>
          <a:xfrm>
            <a:off x="1513866" y="5415192"/>
            <a:ext cx="74892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解析計画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A1B0B765-E21A-6D39-3035-07691D019FEA}"/>
              </a:ext>
            </a:extLst>
          </p:cNvPr>
          <p:cNvCxnSpPr>
            <a:cxnSpLocks/>
            <a:stCxn id="34" idx="2"/>
            <a:endCxn id="51" idx="0"/>
          </p:cNvCxnSpPr>
          <p:nvPr/>
        </p:nvCxnSpPr>
        <p:spPr>
          <a:xfrm>
            <a:off x="1888329" y="4055809"/>
            <a:ext cx="0" cy="215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76B967B2-79FD-FB0B-0654-F578E252E469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1888329" y="4532537"/>
            <a:ext cx="0" cy="181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B540A8A6-8414-13A6-804F-3F2C9F64B401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 flipH="1">
            <a:off x="1888328" y="5197158"/>
            <a:ext cx="1" cy="218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F70E674F-E82F-0BF3-A588-E983DBE829F7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 flipV="1">
            <a:off x="857795" y="4955623"/>
            <a:ext cx="205035" cy="806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F6BD56D2-A68F-2452-284D-33C6AA63DA5F}"/>
              </a:ext>
            </a:extLst>
          </p:cNvPr>
          <p:cNvSpPr txBox="1"/>
          <p:nvPr/>
        </p:nvSpPr>
        <p:spPr>
          <a:xfrm>
            <a:off x="2713829" y="3105021"/>
            <a:ext cx="1525961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解析文書検索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の業務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C5EEFAAC-0E84-D0B2-5302-2A505CABC863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1888328" y="5676802"/>
            <a:ext cx="0" cy="296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94D3BBEF-99D5-5982-1AFE-7196286FC3BD}"/>
              </a:ext>
            </a:extLst>
          </p:cNvPr>
          <p:cNvSpPr/>
          <p:nvPr/>
        </p:nvSpPr>
        <p:spPr>
          <a:xfrm>
            <a:off x="0" y="6464457"/>
            <a:ext cx="12191995" cy="393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5699CACA-2D84-5F5F-FFDA-1DA01DB8C586}"/>
              </a:ext>
            </a:extLst>
          </p:cNvPr>
          <p:cNvSpPr txBox="1"/>
          <p:nvPr/>
        </p:nvSpPr>
        <p:spPr>
          <a:xfrm>
            <a:off x="2766944" y="3951538"/>
            <a:ext cx="3373037" cy="116955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資料有無の精度が以降の解析実行有無</a:t>
            </a:r>
            <a:r>
              <a:rPr lang="en-US" altLang="ja-JP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(=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工数</a:t>
            </a:r>
            <a:r>
              <a:rPr lang="en-US" altLang="ja-JP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(C)&amp;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時間</a:t>
            </a:r>
            <a:r>
              <a:rPr lang="en-US" altLang="ja-JP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(D))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に直結する。</a:t>
            </a:r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➡数値指標</a:t>
            </a:r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検索に対する資料の正答率とする</a:t>
            </a:r>
            <a:endParaRPr lang="en-US" altLang="ja-JP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062D53A-E408-7B6E-B063-D1D4CA47C32A}"/>
              </a:ext>
            </a:extLst>
          </p:cNvPr>
          <p:cNvSpPr txBox="1"/>
          <p:nvPr/>
        </p:nvSpPr>
        <p:spPr>
          <a:xfrm>
            <a:off x="6393704" y="1091760"/>
            <a:ext cx="1210588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目標値設定</a:t>
            </a:r>
            <a:endParaRPr kumimoji="1"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4279775-4B34-6152-AAB3-585AE3E5106C}"/>
              </a:ext>
            </a:extLst>
          </p:cNvPr>
          <p:cNvSpPr txBox="1"/>
          <p:nvPr/>
        </p:nvSpPr>
        <p:spPr>
          <a:xfrm>
            <a:off x="6741764" y="1566209"/>
            <a:ext cx="1005403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計測方法</a:t>
            </a:r>
            <a:endParaRPr kumimoji="1"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C7B7E9B9-66A2-838D-8274-6931449B4D93}"/>
              </a:ext>
            </a:extLst>
          </p:cNvPr>
          <p:cNvSpPr txBox="1"/>
          <p:nvPr/>
        </p:nvSpPr>
        <p:spPr>
          <a:xfrm>
            <a:off x="6737910" y="3891743"/>
            <a:ext cx="800219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目標値</a:t>
            </a:r>
            <a:endParaRPr kumimoji="1" lang="en-US" altLang="ja-JP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1509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548</Words>
  <Application>Microsoft Office PowerPoint</Application>
  <PresentationFormat>ワイド画面</PresentationFormat>
  <Paragraphs>109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幸隆 浦</dc:creator>
  <cp:lastModifiedBy>幸隆 浦</cp:lastModifiedBy>
  <cp:revision>6</cp:revision>
  <dcterms:created xsi:type="dcterms:W3CDTF">2026-03-22T04:46:59Z</dcterms:created>
  <dcterms:modified xsi:type="dcterms:W3CDTF">2026-03-22T06:34:00Z</dcterms:modified>
</cp:coreProperties>
</file>