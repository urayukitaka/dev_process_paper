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73" r:id="rId3"/>
    <p:sldId id="274" r:id="rId4"/>
    <p:sldId id="275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ナレッジ統合型AIエージェント構成イメージ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097280"/>
            <a:ext cx="8229600" cy="914400"/>
          </a:xfrm>
          <a:prstGeom prst="rect">
            <a:avLst/>
          </a:prstGeom>
          <a:solidFill>
            <a:srgbClr val="FFF0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>
              <a:defRPr sz="2000" b="1"/>
            </a:pPr>
            <a:r>
              <a:t>品質・技術ナレッジ層</a:t>
            </a:r>
          </a:p>
          <a:p>
            <a:pPr>
              <a:defRPr sz="1600"/>
            </a:pPr>
            <a:r>
              <a:t>品質基準書、技術仕様書、保全マニュアル、過去改善履歴</a:t>
            </a:r>
            <a:br/>
            <a:r>
              <a:t>→ ベクトルDB／ナレッジベースに格納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377440"/>
            <a:ext cx="8229600" cy="914400"/>
          </a:xfrm>
          <a:prstGeom prst="rect">
            <a:avLst/>
          </a:prstGeom>
          <a:solidFill>
            <a:srgbClr val="C8F0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>
              <a:defRPr sz="2000" b="1"/>
            </a:pPr>
            <a:r>
              <a:t>マテビュー層</a:t>
            </a:r>
          </a:p>
          <a:p>
            <a:pPr>
              <a:defRPr sz="1600"/>
            </a:pPr>
            <a:r>
              <a:t>整形済みKPI、特徴量、履歴、因果候補</a:t>
            </a:r>
            <a:br/>
            <a:r>
              <a:t>→ AIが即参照するデータ基盤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solidFill>
            <a:srgbClr val="FFDCD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>
              <a:defRPr sz="2000" b="1"/>
            </a:pPr>
            <a:r>
              <a:t>AIエージェント層</a:t>
            </a:r>
          </a:p>
          <a:p>
            <a:pPr>
              <a:defRPr sz="1600"/>
            </a:pPr>
            <a:r>
              <a:t>データ＋ナレッジを統合推論（RAG）</a:t>
            </a:r>
            <a:br/>
            <a:r>
              <a:t>提案・根拠・対策を生成し説明付き出力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4937760"/>
            <a:ext cx="8229600" cy="91440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>
              <a:defRPr sz="2000" b="1"/>
            </a:pPr>
            <a:r>
              <a:t>人・意思決定層</a:t>
            </a:r>
          </a:p>
          <a:p>
            <a:pPr>
              <a:defRPr sz="1600"/>
            </a:pPr>
            <a:r>
              <a:t>エンジニア・マネージャが提案を確認・承認</a:t>
            </a:r>
            <a:br/>
            <a:r>
              <a:t>→ 実施結果を再びナレッジに反映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0" y="182880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0" y="310896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0" y="4389120"/>
            <a:ext cx="0" cy="3657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ナレッジ統合の意義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000"/>
            </a:pPr>
            <a:r>
              <a:t>製造業におけるAIエージェントは、単なるデータ解析だけでなく「品質基準」や「技術仕様」を踏まえて判断する必要があります。</a:t>
            </a:r>
          </a:p>
          <a:p>
            <a:pPr>
              <a:spcAft>
                <a:spcPts val="800"/>
              </a:spcAft>
              <a:defRPr sz="2000"/>
            </a:pPr>
            <a:r>
              <a:t>AIが出す提案や助言を人が理解し、意思決定できるためには、企業内のナレッジ（品質基準書、設計指針、マニュアル、過去事例）を取り込むことが不可欠です。</a:t>
            </a:r>
          </a:p>
          <a:p>
            <a:pPr>
              <a:spcAft>
                <a:spcPts val="800"/>
              </a:spcAft>
              <a:defRPr sz="2000"/>
            </a:pPr>
            <a:r>
              <a:t>ナレッジを統合することで、AIは「仕様書の第○条に基づく提案」「過去同様条件での改善履歴」など、根拠付きで説明できるようになります。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ナレッジ統合型AIエージェントの設計アプローチ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000"/>
            </a:pPr>
            <a:r>
              <a:t>① ナレッジベース構築：品質・技術文書をベクトルDB等に変換し、AIが検索・参照可能にする（RAG方式）。</a:t>
            </a:r>
          </a:p>
          <a:p>
            <a:pPr>
              <a:spcAft>
                <a:spcPts val="800"/>
              </a:spcAft>
              <a:defRPr sz="2000"/>
            </a:pPr>
            <a:r>
              <a:t>② マテビュー連携：マテビューのKPIや特徴量をナレッジのルールと紐づけ、逸脱や適合を即判定。</a:t>
            </a:r>
          </a:p>
          <a:p>
            <a:pPr>
              <a:spcAft>
                <a:spcPts val="800"/>
              </a:spcAft>
              <a:defRPr sz="2000"/>
            </a:pPr>
            <a:r>
              <a:t>③ 推論・説明機能：AIはナレッジの条文・過去対策履歴を参照し、提案根拠を明示（例：仕様書S-123 第5条に準拠）。</a:t>
            </a:r>
          </a:p>
          <a:p>
            <a:pPr>
              <a:spcAft>
                <a:spcPts val="800"/>
              </a:spcAft>
              <a:defRPr sz="2000"/>
            </a:pPr>
            <a:r>
              <a:t>④ 運用ループ：AIの提案結果・効果を再びナレッジベースに反映させ、継続学習。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 b="1">
                <a:solidFill>
                  <a:srgbClr val="003366"/>
                </a:solidFill>
              </a:defRPr>
            </a:pPr>
            <a:r>
              <a:t>運用上の留意点・課題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2000"/>
            </a:pPr>
            <a:r>
              <a:t>・ナレッジ文書の多くはPDFや紙で散在しており、構造化と改訂管理が課題。</a:t>
            </a:r>
          </a:p>
          <a:p>
            <a:pPr>
              <a:spcAft>
                <a:spcPts val="800"/>
              </a:spcAft>
              <a:defRPr sz="2000"/>
            </a:pPr>
            <a:r>
              <a:t>・AIが参照する仕様の版管理（最新かどうか）を厳格に行う必要がある。</a:t>
            </a:r>
          </a:p>
          <a:p>
            <a:pPr>
              <a:spcAft>
                <a:spcPts val="800"/>
              </a:spcAft>
              <a:defRPr sz="2000"/>
            </a:pPr>
            <a:r>
              <a:t>・AI出力の信頼度を明示（例：参照根拠スコア）し、人が理解できる形式で提示する。</a:t>
            </a:r>
          </a:p>
          <a:p>
            <a:pPr>
              <a:spcAft>
                <a:spcPts val="800"/>
              </a:spcAft>
              <a:defRPr sz="2000"/>
            </a:pPr>
            <a:r>
              <a:t>・安全・品質領域では自動適用を避け、人間の承認プロセス（HITL）を必須とする。</a:t>
            </a:r>
          </a:p>
          <a:p>
            <a:pPr>
              <a:spcAft>
                <a:spcPts val="800"/>
              </a:spcAft>
              <a:defRPr sz="2000"/>
            </a:pPr>
            <a:r>
              <a:t>・データとナレッジの両基盤を同期更新し、鮮度・一貫性・説明性を確保する。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213</Words>
  <Application>Microsoft Office PowerPoint</Application>
  <PresentationFormat>ユーザー設定</PresentationFormat>
  <Paragraphs>35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幸隆 浦</cp:lastModifiedBy>
  <cp:revision>2</cp:revision>
  <dcterms:created xsi:type="dcterms:W3CDTF">2013-01-27T09:14:16Z</dcterms:created>
  <dcterms:modified xsi:type="dcterms:W3CDTF">2025-10-19T13:58:27Z</dcterms:modified>
  <cp:category/>
</cp:coreProperties>
</file>